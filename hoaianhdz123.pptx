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8346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dẫn: Kính chào thầy/cô và các bạn. Hôm nay em xin trình bày đề tài “Tìm hiểu và trình bày kiến trúc 3 Layers/3 Tiers”. Bài trình bày sẽ đi từ khái niệm, cách tổ chức các lớp, luồng xử lý, ví dụ thực tế đến ưu điểm, hạn chế và kết luận.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trình bày: Bài thuyết trình có ba mục tiêu chính. Thứ nhất, hiểu khái niệm kiến trúc nhiều lớp và phân biệt Layer với Tier. Thứ hai, hiểu trách nhiệm của từng thành phần. Thứ ba, vận dụng kiến thức để giải thích một chức năng trong ứng dụng quản lý sinh viên. Em sẽ trình bày theo thứ tự khái niệm, cấu trúc, ví dụ, rồi đánh giá ưu và nhược điểm.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trình bày: Trong một ứng dụng nhỏ, viết tất cả trong một nơi có vẻ nhanh. Nhưng khi ứng dụng lớn lên, giao diện, quy tắc nghiệp vụ và truy cập dữ liệu thường thay đổi vì những lý do khác nhau. Nếu chúng bị trộn lẫn, việc sửa chữa trở nên rủi ro. Kiến trúc nhiều lớp giúp tách biệt trách nhiệm, từ đó tăng khả năng bảo trì, kiểm thử và mở rộng.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trình bày: Layer là lớp logic trong thiết kế phần mềm. Tier là tầng triển khai, có thể được phân tách về máy chủ hoặc tiến trình. Ví dụ, ba lớp có thể cùng nằm trong một ứng dụng desktop, khi đó ta có kiến trúc ba lớp nhưng chưa chắc là ba tầng triển khai độc lập. Vì vậy, hai thuật ngữ thường được dùng gần nhau nhưng không hoàn toàn giống nhau.</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trình bày: Sơ đồ thể hiện ba lớp logic và cơ sở dữ liệu. Presentation nhận thao tác và hiển thị kết quả. Business Logic xử lý quy tắc nghiệp vụ. Data Access chịu trách nhiệm giao tiếp với nguồn dữ liệu. Database lưu dữ liệu lâu dài. Trong thiết kế thông thường, giao diện không nên truy cập cơ sở dữ liệu trực tiếp vì sẽ làm các phần phụ thuộc chặt chẽ vào nhau.</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trình bày: Presentation Layer là nơi người dùng tương tác với ứng dụng. Ví dụ có thể là Form trong Windows Forms, trang web hoặc giao diện điện thoại. Lớp này hiển thị dữ liệu, nhận thông tin người dùng và gửi yêu cầu tới lớp nghiệp vụ. Nó có thể kiểm tra định dạng đơn giản, chẳng hạn trường mã sinh viên không được để trống, nhưng không nên tự xử lý các quy tắc quan trọng hoặc viết truy vấn SQL.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trình bày: Business Logic Layer chứa các quy tắc nghiệp vụ. Trong ứng dụng quản lý sinh viên, lớp này có thể kiểm tra mã sinh viên có bị trùng không, tính điểm trung bình hoặc xác định sinh viên đủ điều kiện tốt nghiệp. Đây là phần cốt lõi của ứng dụng và thường là nơi phù hợp để viết các lớp, phương thức và đối tượng theo tư duy lập trình hướng đối tượng.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trình bày: Data Access Layer là lớp trung gian thao tác với dữ liệu. Nó chứa các phương thức như lấy danh sách sinh viên, thêm sinh viên, cập nhật hoặc xóa. Database là nơi lưu trữ thực tế, có thể là SQL Server, MySQL hay PostgreSQL. Khi tách DAL, lớp nghiệp vụ không cần biết chi tiết câu lệnh SQL hoặc cấu trúc kết nối. Điều này giúp kiểm thử và thay đổi công nghệ lưu trữ dễ dàng hơn.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trình bày: Giả sử người dùng thêm sinh viên. Đầu tiên, người dùng nhập thông tin trên giao diện. Presentation kiểm tra các trường cơ bản và chuyển yêu cầu cho Business Logic. Lớp nghiệp vụ kiểm tra các quy tắc, chẳng hạn mã sinh viên có bị trùng hay không. Nếu hợp lệ, lớp nghiệp vụ gọi Data Access để ghi dữ liệu vào Database. Sau khi nhận kết quả, ứng dụng thông báo thành công hoặc lỗi. Luồng này cho thấy mỗi lớp có vai trò riêng.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trình bày: Kiến trúc 3 lớp là cách tổ chức tổng thể, còn OOP là phương pháp thiết kế các đối tượng và lớp. Hai khái niệm bổ trợ cho nhau. Đóng gói giúp che giấu chi tiết cài đặt; trừu tượng giúp lớp này sử dụng chức năng của lớp khác qua giao diện rõ ràng; interface và đa hình có thể giúp thay thế triển khai lưu trữ mà ít ảnh hưởng đến phần còn lại. Trong dự án C#, ta thường tách các thư mục hoặc project như Presentation, Business, DataAccess và Models. Mỗi phần có thể chứa nhiều class.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trình bày: Ưu điểm lớn nhất là dễ bảo trì, kiểm thử, tái sử dụng và làm việc nhóm. Tuy nhiên, kiến trúc nhiều lớp cũng làm tăng số lượng class, file và cấu hình; với chương trình rất nhỏ, việc chia quá nhiều lớp có thể không cần thiết. Một số nguyên tắc quan trọng là mỗi lớp có một trách nhiệm chính, giao diện không truy cập database trực tiếp, lớp nghiệp vụ không phụ thuộc vào giao diện cụ thể và các thao tác dữ liệu được tập trung tại DAL.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Lời kết: Tóm lại, kiến trúc 3 lớp giúp chia ứng dụng thành ba phần chính: Presentation giao tiếp với người dùng, Business Logic xử lý quy tắc và Data Access làm việc với dữ liệu. Cách tổ chức này đặc biệt hữu ích khi ứng dụng cần phát triển và bảo trì lâu dài, nhưng cần áp dụng phù hợp với quy mô dự án. Em xin cảm ơn thầy/cô và các bạn đã lắng nghe. Em sẵn sàng trả lời câu hỏi. Tài liệu tham khảo: Microsoft Learn về kiến trúc ứng dụng .NET; Martin Fowler, Patterns of Enterprise Application Architecture; Robert C. Martin, Clean Architecture.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A4C"/>
        </a:solidFill>
        <a:effectLst/>
      </p:bgPr>
    </p:bg>
    <p:spTree>
      <p:nvGrpSpPr>
        <p:cNvPr id="1" name=""/>
        <p:cNvGrpSpPr/>
        <p:nvPr/>
      </p:nvGrpSpPr>
      <p:grpSpPr>
        <a:xfrm>
          <a:off x="0" y="0"/>
          <a:ext cx="0" cy="0"/>
          <a:chOff x="0" y="0"/>
          <a:chExt cx="0" cy="0"/>
        </a:xfrm>
      </p:grpSpPr>
      <p:sp>
        <p:nvSpPr>
          <p:cNvPr id="2" name="Oval 1"/>
          <p:cNvSpPr/>
          <p:nvPr/>
        </p:nvSpPr>
        <p:spPr>
          <a:xfrm>
            <a:off x="8046720" y="914400"/>
            <a:ext cx="566928" cy="566928"/>
          </a:xfrm>
          <a:prstGeom prst="ellipse">
            <a:avLst/>
          </a:prstGeom>
          <a:solidFill>
            <a:srgbClr val="3669C9"/>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92640" y="1554480"/>
            <a:ext cx="566928" cy="566928"/>
          </a:xfrm>
          <a:prstGeom prst="ellipse">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686800" y="2743200"/>
            <a:ext cx="566928" cy="566928"/>
          </a:xfrm>
          <a:prstGeom prst="ellipse">
            <a:avLst/>
          </a:prstGeom>
          <a:solidFill>
            <a:srgbClr val="7E5BBE"/>
          </a:solidFill>
          <a:ln>
            <a:solidFill>
              <a:srgbClr val="7E5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332720" y="3474720"/>
            <a:ext cx="566928" cy="566928"/>
          </a:xfrm>
          <a:prstGeom prst="ellipse">
            <a:avLst/>
          </a:prstGeom>
          <a:solidFill>
            <a:srgbClr val="F2B134"/>
          </a:solidFill>
          <a:ln>
            <a:solidFill>
              <a:srgbClr val="F2B1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680960" y="4297680"/>
            <a:ext cx="566928" cy="566928"/>
          </a:xfrm>
          <a:prstGeom prst="ellipse">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509760" y="5029200"/>
            <a:ext cx="566928" cy="566928"/>
          </a:xfrm>
          <a:prstGeom prst="ellipse">
            <a:avLst/>
          </a:prstGeom>
          <a:solidFill>
            <a:srgbClr val="3669C9"/>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a:off x="8321040" y="1188720"/>
            <a:ext cx="1554480" cy="640080"/>
          </a:xfrm>
          <a:prstGeom prst="line">
            <a:avLst/>
          </a:prstGeom>
          <a:ln w="16510">
            <a:solidFill>
              <a:srgbClr val="8297B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961120" y="1828800"/>
            <a:ext cx="914400" cy="1188720"/>
          </a:xfrm>
          <a:prstGeom prst="line">
            <a:avLst/>
          </a:prstGeom>
          <a:ln w="16510">
            <a:solidFill>
              <a:srgbClr val="8297B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961120" y="3017520"/>
            <a:ext cx="1554480" cy="731519"/>
          </a:xfrm>
          <a:prstGeom prst="line">
            <a:avLst/>
          </a:prstGeom>
          <a:ln w="16510">
            <a:solidFill>
              <a:srgbClr val="8297B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7955279" y="3017520"/>
            <a:ext cx="1005841" cy="1554480"/>
          </a:xfrm>
          <a:prstGeom prst="line">
            <a:avLst/>
          </a:prstGeom>
          <a:ln w="16510">
            <a:solidFill>
              <a:srgbClr val="8297B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955279" y="4572000"/>
            <a:ext cx="1828801" cy="731520"/>
          </a:xfrm>
          <a:prstGeom prst="line">
            <a:avLst/>
          </a:prstGeom>
          <a:ln w="16510">
            <a:solidFill>
              <a:srgbClr val="8297B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9784080" y="3749039"/>
            <a:ext cx="731520" cy="1554481"/>
          </a:xfrm>
          <a:prstGeom prst="line">
            <a:avLst/>
          </a:prstGeom>
          <a:ln w="16510">
            <a:solidFill>
              <a:srgbClr val="8297B9"/>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9808" y="731520"/>
            <a:ext cx="3063240" cy="347472"/>
          </a:xfrm>
          <a:prstGeom prst="roundRect">
            <a:avLst/>
          </a:prstGeom>
          <a:solidFill>
            <a:srgbClr val="2D4168"/>
          </a:solidFill>
          <a:ln>
            <a:solidFill>
              <a:srgbClr val="2D41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8" y="758952"/>
            <a:ext cx="2971800" cy="256032"/>
          </a:xfrm>
          <a:prstGeom prst="rect">
            <a:avLst/>
          </a:prstGeom>
          <a:noFill/>
        </p:spPr>
        <p:txBody>
          <a:bodyPr wrap="square" lIns="54864" tIns="54864" rIns="54864" bIns="54864" anchor="ctr">
            <a:spAutoFit/>
          </a:bodyPr>
          <a:lstStyle/>
          <a:p>
            <a:pPr algn="ctr">
              <a:spcAft>
                <a:spcPts val="500"/>
              </a:spcAft>
            </a:pPr>
            <a:r>
              <a:rPr sz="1200" b="1" i="0">
                <a:solidFill>
                  <a:srgbClr val="FFFFFF"/>
                </a:solidFill>
                <a:latin typeface="Times New Roman"/>
              </a:rPr>
              <a:t>LẬP TRÌNH HƯỚNG ĐỐI TƯỢNG</a:t>
            </a:r>
          </a:p>
        </p:txBody>
      </p:sp>
      <p:sp>
        <p:nvSpPr>
          <p:cNvPr id="16" name="TextBox 15"/>
          <p:cNvSpPr txBox="1"/>
          <p:nvPr/>
        </p:nvSpPr>
        <p:spPr>
          <a:xfrm>
            <a:off x="731520" y="1508760"/>
            <a:ext cx="6583680" cy="1600200"/>
          </a:xfrm>
          <a:prstGeom prst="rect">
            <a:avLst/>
          </a:prstGeom>
          <a:noFill/>
        </p:spPr>
        <p:txBody>
          <a:bodyPr wrap="square" lIns="54864" tIns="54864" rIns="54864" bIns="54864" anchor="t">
            <a:spAutoFit/>
          </a:bodyPr>
          <a:lstStyle/>
          <a:p>
            <a:pPr algn="l">
              <a:spcAft>
                <a:spcPts val="500"/>
              </a:spcAft>
            </a:pPr>
            <a:r>
              <a:rPr sz="3400" b="1" i="0">
                <a:solidFill>
                  <a:srgbClr val="FFFFFF"/>
                </a:solidFill>
                <a:latin typeface="Times New Roman"/>
              </a:rPr>
              <a:t>TÌM HIỂU KIẾN TRÚC</a:t>
            </a:r>
          </a:p>
          <a:p>
            <a:pPr algn="l">
              <a:spcAft>
                <a:spcPts val="500"/>
              </a:spcAft>
            </a:pPr>
            <a:r>
              <a:rPr sz="3400" b="1" i="0">
                <a:solidFill>
                  <a:srgbClr val="FFFFFF"/>
                </a:solidFill>
                <a:latin typeface="Times New Roman"/>
              </a:rPr>
              <a:t>3 LAYERS / 3 TIERS</a:t>
            </a:r>
          </a:p>
        </p:txBody>
      </p:sp>
      <p:sp>
        <p:nvSpPr>
          <p:cNvPr id="17" name="TextBox 16"/>
          <p:cNvSpPr txBox="1"/>
          <p:nvPr/>
        </p:nvSpPr>
        <p:spPr>
          <a:xfrm>
            <a:off x="777240" y="3337560"/>
            <a:ext cx="5852160" cy="777240"/>
          </a:xfrm>
          <a:prstGeom prst="rect">
            <a:avLst/>
          </a:prstGeom>
          <a:noFill/>
        </p:spPr>
        <p:txBody>
          <a:bodyPr wrap="square" lIns="54864" tIns="54864" rIns="54864" bIns="54864" anchor="t">
            <a:spAutoFit/>
          </a:bodyPr>
          <a:lstStyle/>
          <a:p>
            <a:pPr algn="l">
              <a:spcAft>
                <a:spcPts val="500"/>
              </a:spcAft>
            </a:pPr>
            <a:r>
              <a:rPr sz="1900" b="0" i="0">
                <a:solidFill>
                  <a:srgbClr val="D4E0F4"/>
                </a:solidFill>
                <a:latin typeface="Times New Roman"/>
              </a:rPr>
              <a:t>Tổ chức phần mềm thành các lớp rõ ràng để dễ phát triển,</a:t>
            </a:r>
          </a:p>
          <a:p>
            <a:pPr algn="l">
              <a:spcAft>
                <a:spcPts val="500"/>
              </a:spcAft>
            </a:pPr>
            <a:r>
              <a:rPr sz="1900" b="0" i="0">
                <a:solidFill>
                  <a:srgbClr val="D4E0F4"/>
                </a:solidFill>
                <a:latin typeface="Times New Roman"/>
              </a:rPr>
              <a:t>bảo trì và mở rộng.</a:t>
            </a:r>
          </a:p>
        </p:txBody>
      </p:sp>
      <p:sp>
        <p:nvSpPr>
          <p:cNvPr id="18" name="Rectangle 17"/>
          <p:cNvSpPr/>
          <p:nvPr/>
        </p:nvSpPr>
        <p:spPr>
          <a:xfrm>
            <a:off x="777240" y="4754880"/>
            <a:ext cx="822960" cy="64008"/>
          </a:xfrm>
          <a:prstGeom prst="rect">
            <a:avLst/>
          </a:prstGeom>
          <a:solidFill>
            <a:srgbClr val="F2B134"/>
          </a:solidFill>
          <a:ln>
            <a:solidFill>
              <a:srgbClr val="F2B1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5047488"/>
            <a:ext cx="6126480" cy="839204"/>
          </a:xfrm>
          <a:prstGeom prst="rect">
            <a:avLst/>
          </a:prstGeom>
          <a:noFill/>
        </p:spPr>
        <p:txBody>
          <a:bodyPr wrap="square" lIns="54864" tIns="54864" rIns="54864" bIns="54864" anchor="t">
            <a:spAutoFit/>
          </a:bodyPr>
          <a:lstStyle/>
          <a:p>
            <a:pPr algn="l">
              <a:spcAft>
                <a:spcPts val="500"/>
              </a:spcAft>
            </a:pPr>
            <a:r>
              <a:rPr sz="1300" b="0" i="0" dirty="0">
                <a:solidFill>
                  <a:srgbClr val="D2DCED"/>
                </a:solidFill>
                <a:latin typeface="Times New Roman"/>
              </a:rPr>
              <a:t>Sinh </a:t>
            </a:r>
            <a:r>
              <a:rPr sz="1300" b="0" i="0" dirty="0" err="1">
                <a:solidFill>
                  <a:srgbClr val="D2DCED"/>
                </a:solidFill>
                <a:latin typeface="Times New Roman"/>
              </a:rPr>
              <a:t>viên</a:t>
            </a:r>
            <a:r>
              <a:rPr sz="1300" b="0" i="0" dirty="0">
                <a:solidFill>
                  <a:srgbClr val="D2DCED"/>
                </a:solidFill>
                <a:latin typeface="Times New Roman"/>
              </a:rPr>
              <a:t>: </a:t>
            </a:r>
            <a:r>
              <a:rPr lang="en-US" sz="1300" b="0" i="0" dirty="0" err="1">
                <a:solidFill>
                  <a:srgbClr val="D2DCED"/>
                </a:solidFill>
                <a:latin typeface="Times New Roman"/>
              </a:rPr>
              <a:t>Nguyễn</a:t>
            </a:r>
            <a:r>
              <a:rPr lang="en-US" sz="1300" b="0" i="0" dirty="0">
                <a:solidFill>
                  <a:srgbClr val="D2DCED"/>
                </a:solidFill>
                <a:latin typeface="Times New Roman"/>
              </a:rPr>
              <a:t> </a:t>
            </a:r>
            <a:r>
              <a:rPr lang="en-US" sz="1300" b="0" i="0" dirty="0" err="1">
                <a:solidFill>
                  <a:srgbClr val="D2DCED"/>
                </a:solidFill>
                <a:latin typeface="Times New Roman"/>
              </a:rPr>
              <a:t>Hoài</a:t>
            </a:r>
            <a:r>
              <a:rPr lang="en-US" sz="1300" b="0" i="0" dirty="0">
                <a:solidFill>
                  <a:srgbClr val="D2DCED"/>
                </a:solidFill>
                <a:latin typeface="Times New Roman"/>
              </a:rPr>
              <a:t> Anh</a:t>
            </a:r>
            <a:r>
              <a:rPr sz="1300" b="0" i="0" dirty="0">
                <a:solidFill>
                  <a:srgbClr val="D2DCED"/>
                </a:solidFill>
                <a:latin typeface="Times New Roman"/>
              </a:rPr>
              <a:t> </a:t>
            </a:r>
            <a:endParaRPr lang="en-US" sz="1300" b="0" i="0" dirty="0">
              <a:solidFill>
                <a:srgbClr val="D2DCED"/>
              </a:solidFill>
              <a:latin typeface="Times New Roman"/>
            </a:endParaRPr>
          </a:p>
          <a:p>
            <a:pPr algn="l">
              <a:spcAft>
                <a:spcPts val="500"/>
              </a:spcAft>
            </a:pPr>
            <a:r>
              <a:rPr lang="en-US" sz="1300" b="0" i="0" dirty="0">
                <a:solidFill>
                  <a:srgbClr val="D2DCED"/>
                </a:solidFill>
                <a:latin typeface="Times New Roman"/>
              </a:rPr>
              <a:t> 	</a:t>
            </a:r>
            <a:r>
              <a:rPr lang="en-US" sz="1300" dirty="0">
                <a:solidFill>
                  <a:srgbClr val="D2DCED"/>
                </a:solidFill>
                <a:latin typeface="Times New Roman"/>
              </a:rPr>
              <a:t>      </a:t>
            </a:r>
            <a:r>
              <a:rPr lang="en-US" sz="1300" dirty="0" err="1">
                <a:solidFill>
                  <a:srgbClr val="D2DCED"/>
                </a:solidFill>
                <a:latin typeface="Times New Roman"/>
              </a:rPr>
              <a:t>Nguyễn</a:t>
            </a:r>
            <a:r>
              <a:rPr lang="en-US" sz="1300" dirty="0">
                <a:solidFill>
                  <a:srgbClr val="D2DCED"/>
                </a:solidFill>
                <a:latin typeface="Times New Roman"/>
              </a:rPr>
              <a:t> Văn Minh</a:t>
            </a:r>
          </a:p>
          <a:p>
            <a:pPr algn="l">
              <a:spcAft>
                <a:spcPts val="500"/>
              </a:spcAft>
            </a:pPr>
            <a:r>
              <a:rPr lang="en-US" sz="1300" b="0" i="0" dirty="0">
                <a:solidFill>
                  <a:srgbClr val="D2DCED"/>
                </a:solidFill>
                <a:latin typeface="Times New Roman"/>
              </a:rPr>
              <a:t>	      </a:t>
            </a:r>
            <a:r>
              <a:rPr lang="en-US" sz="1300" b="0" i="0" dirty="0" err="1">
                <a:solidFill>
                  <a:srgbClr val="D2DCED"/>
                </a:solidFill>
                <a:latin typeface="Times New Roman"/>
              </a:rPr>
              <a:t>Trần</a:t>
            </a:r>
            <a:r>
              <a:rPr lang="en-US" sz="1300" b="0" i="0" dirty="0">
                <a:solidFill>
                  <a:srgbClr val="D2DCED"/>
                </a:solidFill>
                <a:latin typeface="Times New Roman"/>
              </a:rPr>
              <a:t> Chí </a:t>
            </a:r>
            <a:r>
              <a:rPr lang="en-US" sz="1300" b="0" i="0" dirty="0" err="1">
                <a:solidFill>
                  <a:srgbClr val="D2DCED"/>
                </a:solidFill>
                <a:latin typeface="Times New Roman"/>
              </a:rPr>
              <a:t>Kiên</a:t>
            </a:r>
            <a:r>
              <a:rPr sz="1300" b="0" i="0" dirty="0">
                <a:solidFill>
                  <a:srgbClr val="D2DCED"/>
                </a:solidFill>
                <a:latin typeface="Times New Roman"/>
              </a:rPr>
              <a:t>    </a:t>
            </a:r>
            <a:r>
              <a:rPr lang="en-US" sz="1300" b="0" i="0" dirty="0">
                <a:solidFill>
                  <a:srgbClr val="D2DCED"/>
                </a:solidFill>
                <a:latin typeface="Times New Roman"/>
              </a:rPr>
              <a:t>			</a:t>
            </a:r>
            <a:r>
              <a:rPr sz="1300" b="0" i="0" dirty="0" err="1">
                <a:solidFill>
                  <a:srgbClr val="D2DCED"/>
                </a:solidFill>
                <a:latin typeface="Times New Roman"/>
              </a:rPr>
              <a:t>Lớp</a:t>
            </a:r>
            <a:r>
              <a:rPr sz="1300" b="0" i="0" dirty="0">
                <a:solidFill>
                  <a:srgbClr val="D2DCED"/>
                </a:solidFill>
                <a:latin typeface="Times New Roman"/>
              </a:rPr>
              <a:t>: </a:t>
            </a:r>
            <a:r>
              <a:rPr lang="en-US" sz="1300" b="0" i="0" dirty="0">
                <a:solidFill>
                  <a:srgbClr val="D2DCED"/>
                </a:solidFill>
                <a:latin typeface="Times New Roman"/>
              </a:rPr>
              <a:t>124251</a:t>
            </a:r>
            <a:endParaRPr sz="1300" b="0" i="0" dirty="0">
              <a:solidFill>
                <a:srgbClr val="D2DCED"/>
              </a:solidFill>
              <a:latin typeface="Times New Roman"/>
            </a:endParaRPr>
          </a:p>
        </p:txBody>
      </p:sp>
      <p:sp>
        <p:nvSpPr>
          <p:cNvPr id="20" name="TextBox 19"/>
          <p:cNvSpPr txBox="1"/>
          <p:nvPr/>
        </p:nvSpPr>
        <p:spPr>
          <a:xfrm>
            <a:off x="777240" y="6035040"/>
            <a:ext cx="2743200" cy="274320"/>
          </a:xfrm>
          <a:prstGeom prst="rect">
            <a:avLst/>
          </a:prstGeom>
          <a:noFill/>
        </p:spPr>
        <p:txBody>
          <a:bodyPr wrap="square" lIns="54864" tIns="54864" rIns="54864" bIns="54864" anchor="t">
            <a:spAutoFit/>
          </a:bodyPr>
          <a:lstStyle/>
          <a:p>
            <a:pPr algn="l">
              <a:spcAft>
                <a:spcPts val="500"/>
              </a:spcAft>
            </a:pPr>
            <a:r>
              <a:rPr sz="1100" b="1" i="0">
                <a:solidFill>
                  <a:srgbClr val="9FB7DB"/>
                </a:solidFill>
                <a:latin typeface="Times New Roman"/>
              </a:rPr>
              <a:t>BÀI THUYẾT TRÌNH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66928"/>
          </a:xfrm>
          <a:prstGeom prst="rect">
            <a:avLst/>
          </a:prstGeom>
          <a:noFill/>
        </p:spPr>
        <p:txBody>
          <a:bodyPr wrap="square" lIns="54864" tIns="54864" rIns="54864" bIns="54864" anchor="t">
            <a:spAutoFit/>
          </a:bodyPr>
          <a:lstStyle/>
          <a:p>
            <a:pPr algn="l">
              <a:spcAft>
                <a:spcPts val="500"/>
              </a:spcAft>
            </a:pPr>
            <a:r>
              <a:rPr sz="2700" b="1" i="0">
                <a:solidFill>
                  <a:srgbClr val="182A4C"/>
                </a:solidFill>
                <a:latin typeface="Times New Roman"/>
              </a:rPr>
              <a:t>Mục tiêu và nội dung trình bày</a:t>
            </a:r>
          </a:p>
        </p:txBody>
      </p:sp>
      <p:sp>
        <p:nvSpPr>
          <p:cNvPr id="3" name="Rectangle 2"/>
          <p:cNvSpPr/>
          <p:nvPr/>
        </p:nvSpPr>
        <p:spPr>
          <a:xfrm>
            <a:off x="612648" y="969264"/>
            <a:ext cx="822960" cy="50292"/>
          </a:xfrm>
          <a:prstGeom prst="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44200" y="6473952"/>
            <a:ext cx="914400" cy="182880"/>
          </a:xfrm>
          <a:prstGeom prst="rect">
            <a:avLst/>
          </a:prstGeom>
          <a:noFill/>
        </p:spPr>
        <p:txBody>
          <a:bodyPr wrap="square" lIns="54864" tIns="54864" rIns="54864" bIns="54864" anchor="t">
            <a:spAutoFit/>
          </a:bodyPr>
          <a:lstStyle/>
          <a:p>
            <a:pPr algn="r">
              <a:spcAft>
                <a:spcPts val="500"/>
              </a:spcAft>
            </a:pPr>
            <a:r>
              <a:rPr sz="900" b="0" i="0">
                <a:solidFill>
                  <a:srgbClr val="667387"/>
                </a:solidFill>
                <a:latin typeface="Times New Roman"/>
              </a:rPr>
              <a:t>02  /  13</a:t>
            </a:r>
          </a:p>
        </p:txBody>
      </p:sp>
      <p:sp>
        <p:nvSpPr>
          <p:cNvPr id="6" name="Rounded Rectangle 5"/>
          <p:cNvSpPr/>
          <p:nvPr/>
        </p:nvSpPr>
        <p:spPr>
          <a:xfrm>
            <a:off x="640080" y="1691640"/>
            <a:ext cx="3474720" cy="1417320"/>
          </a:xfrm>
          <a:prstGeom prst="roundRect">
            <a:avLst/>
          </a:prstGeom>
          <a:solidFill>
            <a:srgbClr val="E5EEFD"/>
          </a:solidFill>
          <a:ln>
            <a:solidFill>
              <a:srgbClr val="E5E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691640"/>
            <a:ext cx="82296" cy="1417320"/>
          </a:xfrm>
          <a:prstGeom prst="rect">
            <a:avLst/>
          </a:prstGeom>
          <a:solidFill>
            <a:srgbClr val="3669C9"/>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837944"/>
            <a:ext cx="3108960" cy="329184"/>
          </a:xfrm>
          <a:prstGeom prst="rect">
            <a:avLst/>
          </a:prstGeom>
          <a:noFill/>
        </p:spPr>
        <p:txBody>
          <a:bodyPr wrap="square" lIns="54864" tIns="54864" rIns="54864" bIns="54864" anchor="t">
            <a:spAutoFit/>
          </a:bodyPr>
          <a:lstStyle/>
          <a:p>
            <a:pPr algn="l">
              <a:spcAft>
                <a:spcPts val="500"/>
              </a:spcAft>
            </a:pPr>
            <a:r>
              <a:rPr sz="1700" b="1" i="0">
                <a:solidFill>
                  <a:srgbClr val="182A4C"/>
                </a:solidFill>
                <a:latin typeface="Times New Roman"/>
              </a:rPr>
              <a:t>01  Hiểu khái niệm</a:t>
            </a:r>
          </a:p>
        </p:txBody>
      </p:sp>
      <p:sp>
        <p:nvSpPr>
          <p:cNvPr id="9" name="TextBox 8"/>
          <p:cNvSpPr txBox="1"/>
          <p:nvPr/>
        </p:nvSpPr>
        <p:spPr>
          <a:xfrm>
            <a:off x="841247" y="2249424"/>
            <a:ext cx="3108960" cy="726353"/>
          </a:xfrm>
          <a:prstGeom prst="rect">
            <a:avLst/>
          </a:prstGeom>
          <a:noFill/>
        </p:spPr>
        <p:txBody>
          <a:bodyPr wrap="square" lIns="54864" tIns="54864" rIns="54864" bIns="54864" anchor="t">
            <a:spAutoFit/>
          </a:bodyPr>
          <a:lstStyle/>
          <a:p>
            <a:pPr algn="l">
              <a:spcAft>
                <a:spcPts val="500"/>
              </a:spcAft>
            </a:pPr>
            <a:r>
              <a:rPr sz="2000" b="0" i="0" dirty="0" err="1">
                <a:solidFill>
                  <a:srgbClr val="2B3648"/>
                </a:solidFill>
                <a:latin typeface="Times New Roman"/>
              </a:rPr>
              <a:t>Phân</a:t>
            </a:r>
            <a:r>
              <a:rPr sz="2000" b="0" i="0" dirty="0">
                <a:solidFill>
                  <a:srgbClr val="2B3648"/>
                </a:solidFill>
                <a:latin typeface="Times New Roman"/>
              </a:rPr>
              <a:t> </a:t>
            </a:r>
            <a:r>
              <a:rPr sz="2000" b="0" i="0" dirty="0" err="1">
                <a:solidFill>
                  <a:srgbClr val="2B3648"/>
                </a:solidFill>
                <a:latin typeface="Times New Roman"/>
              </a:rPr>
              <a:t>biệt</a:t>
            </a:r>
            <a:r>
              <a:rPr sz="2000" b="0" i="0" dirty="0">
                <a:solidFill>
                  <a:srgbClr val="2B3648"/>
                </a:solidFill>
                <a:latin typeface="Times New Roman"/>
              </a:rPr>
              <a:t> Layer </a:t>
            </a:r>
            <a:r>
              <a:rPr sz="2000" b="0" i="0" dirty="0" err="1">
                <a:solidFill>
                  <a:srgbClr val="2B3648"/>
                </a:solidFill>
                <a:latin typeface="Times New Roman"/>
              </a:rPr>
              <a:t>và</a:t>
            </a:r>
            <a:r>
              <a:rPr sz="2000" b="0" i="0" dirty="0">
                <a:solidFill>
                  <a:srgbClr val="2B3648"/>
                </a:solidFill>
                <a:latin typeface="Times New Roman"/>
              </a:rPr>
              <a:t> Tier; </a:t>
            </a:r>
            <a:r>
              <a:rPr sz="2000" b="0" i="0" dirty="0" err="1">
                <a:solidFill>
                  <a:srgbClr val="2B3648"/>
                </a:solidFill>
                <a:latin typeface="Times New Roman"/>
              </a:rPr>
              <a:t>biết</a:t>
            </a:r>
            <a:r>
              <a:rPr sz="2000" b="0" i="0" dirty="0">
                <a:solidFill>
                  <a:srgbClr val="2B3648"/>
                </a:solidFill>
                <a:latin typeface="Times New Roman"/>
              </a:rPr>
              <a:t> </a:t>
            </a:r>
            <a:r>
              <a:rPr sz="2000" b="0" i="0" dirty="0" err="1">
                <a:solidFill>
                  <a:srgbClr val="2B3648"/>
                </a:solidFill>
                <a:latin typeface="Times New Roman"/>
              </a:rPr>
              <a:t>vì</a:t>
            </a:r>
            <a:r>
              <a:rPr sz="2000" b="0" i="0" dirty="0">
                <a:solidFill>
                  <a:srgbClr val="2B3648"/>
                </a:solidFill>
                <a:latin typeface="Times New Roman"/>
              </a:rPr>
              <a:t> </a:t>
            </a:r>
            <a:r>
              <a:rPr sz="2000" b="0" i="0" dirty="0" err="1">
                <a:solidFill>
                  <a:srgbClr val="2B3648"/>
                </a:solidFill>
                <a:latin typeface="Times New Roman"/>
              </a:rPr>
              <a:t>sao</a:t>
            </a:r>
            <a:r>
              <a:rPr sz="2000" b="0" i="0" dirty="0">
                <a:solidFill>
                  <a:srgbClr val="2B3648"/>
                </a:solidFill>
                <a:latin typeface="Times New Roman"/>
              </a:rPr>
              <a:t> </a:t>
            </a:r>
            <a:r>
              <a:rPr sz="2000" b="0" i="0" dirty="0" err="1">
                <a:solidFill>
                  <a:srgbClr val="2B3648"/>
                </a:solidFill>
                <a:latin typeface="Times New Roman"/>
              </a:rPr>
              <a:t>cần</a:t>
            </a:r>
            <a:r>
              <a:rPr sz="2000" b="0" i="0" dirty="0">
                <a:solidFill>
                  <a:srgbClr val="2B3648"/>
                </a:solidFill>
                <a:latin typeface="Times New Roman"/>
              </a:rPr>
              <a:t> chia </a:t>
            </a:r>
            <a:r>
              <a:rPr sz="2000" b="0" i="0" dirty="0" err="1">
                <a:solidFill>
                  <a:srgbClr val="2B3648"/>
                </a:solidFill>
                <a:latin typeface="Times New Roman"/>
              </a:rPr>
              <a:t>tầng</a:t>
            </a:r>
            <a:r>
              <a:rPr sz="2000" b="0" i="0" dirty="0">
                <a:solidFill>
                  <a:srgbClr val="2B3648"/>
                </a:solidFill>
                <a:latin typeface="Times New Roman"/>
              </a:rPr>
              <a:t>.</a:t>
            </a:r>
          </a:p>
        </p:txBody>
      </p:sp>
      <p:sp>
        <p:nvSpPr>
          <p:cNvPr id="10" name="Rounded Rectangle 9"/>
          <p:cNvSpPr/>
          <p:nvPr/>
        </p:nvSpPr>
        <p:spPr>
          <a:xfrm>
            <a:off x="4343400" y="1691640"/>
            <a:ext cx="3474720" cy="1417320"/>
          </a:xfrm>
          <a:prstGeom prst="roundRect">
            <a:avLst/>
          </a:prstGeom>
          <a:solidFill>
            <a:srgbClr val="E0F5F2"/>
          </a:solidFill>
          <a:ln>
            <a:solidFill>
              <a:srgbClr val="E0F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691640"/>
            <a:ext cx="82296" cy="1417320"/>
          </a:xfrm>
          <a:prstGeom prst="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1837944"/>
            <a:ext cx="3108960" cy="329184"/>
          </a:xfrm>
          <a:prstGeom prst="rect">
            <a:avLst/>
          </a:prstGeom>
          <a:noFill/>
        </p:spPr>
        <p:txBody>
          <a:bodyPr wrap="square" lIns="54864" tIns="54864" rIns="54864" bIns="54864" anchor="t">
            <a:spAutoFit/>
          </a:bodyPr>
          <a:lstStyle/>
          <a:p>
            <a:pPr algn="l">
              <a:spcAft>
                <a:spcPts val="500"/>
              </a:spcAft>
            </a:pPr>
            <a:r>
              <a:rPr sz="1700" b="1" i="0">
                <a:solidFill>
                  <a:srgbClr val="182A4C"/>
                </a:solidFill>
                <a:latin typeface="Times New Roman"/>
              </a:rPr>
              <a:t>02  Nắm cấu trúc</a:t>
            </a:r>
          </a:p>
        </p:txBody>
      </p:sp>
      <p:sp>
        <p:nvSpPr>
          <p:cNvPr id="13" name="TextBox 12"/>
          <p:cNvSpPr txBox="1"/>
          <p:nvPr/>
        </p:nvSpPr>
        <p:spPr>
          <a:xfrm>
            <a:off x="4544568" y="2249424"/>
            <a:ext cx="3108960" cy="941796"/>
          </a:xfrm>
          <a:prstGeom prst="rect">
            <a:avLst/>
          </a:prstGeom>
          <a:noFill/>
        </p:spPr>
        <p:txBody>
          <a:bodyPr wrap="square" lIns="54864" tIns="54864" rIns="54864" bIns="54864" anchor="t">
            <a:spAutoFit/>
          </a:bodyPr>
          <a:lstStyle/>
          <a:p>
            <a:pPr algn="l">
              <a:spcAft>
                <a:spcPts val="500"/>
              </a:spcAft>
            </a:pPr>
            <a:r>
              <a:rPr b="0" i="0" dirty="0" err="1">
                <a:solidFill>
                  <a:srgbClr val="2B3648"/>
                </a:solidFill>
                <a:latin typeface="Times New Roman"/>
              </a:rPr>
              <a:t>Nhận</a:t>
            </a:r>
            <a:r>
              <a:rPr b="0" i="0" dirty="0">
                <a:solidFill>
                  <a:srgbClr val="2B3648"/>
                </a:solidFill>
                <a:latin typeface="Times New Roman"/>
              </a:rPr>
              <a:t> </a:t>
            </a:r>
            <a:r>
              <a:rPr b="0" i="0" dirty="0" err="1">
                <a:solidFill>
                  <a:srgbClr val="2B3648"/>
                </a:solidFill>
                <a:latin typeface="Times New Roman"/>
              </a:rPr>
              <a:t>diện</a:t>
            </a:r>
            <a:r>
              <a:rPr b="0" i="0" dirty="0">
                <a:solidFill>
                  <a:srgbClr val="2B3648"/>
                </a:solidFill>
                <a:latin typeface="Times New Roman"/>
              </a:rPr>
              <a:t> Presentation, Business Logic, Data Access </a:t>
            </a:r>
            <a:r>
              <a:rPr b="0" i="0" dirty="0" err="1">
                <a:solidFill>
                  <a:srgbClr val="2B3648"/>
                </a:solidFill>
                <a:latin typeface="Times New Roman"/>
              </a:rPr>
              <a:t>và</a:t>
            </a:r>
            <a:r>
              <a:rPr b="0" i="0" dirty="0">
                <a:solidFill>
                  <a:srgbClr val="2B3648"/>
                </a:solidFill>
                <a:latin typeface="Times New Roman"/>
              </a:rPr>
              <a:t> Database.</a:t>
            </a:r>
          </a:p>
        </p:txBody>
      </p:sp>
      <p:sp>
        <p:nvSpPr>
          <p:cNvPr id="14" name="Rounded Rectangle 13"/>
          <p:cNvSpPr/>
          <p:nvPr/>
        </p:nvSpPr>
        <p:spPr>
          <a:xfrm>
            <a:off x="8046720" y="1691640"/>
            <a:ext cx="3474720" cy="1417320"/>
          </a:xfrm>
          <a:prstGeom prst="roundRect">
            <a:avLst/>
          </a:prstGeom>
          <a:solidFill>
            <a:srgbClr val="F0E9FC"/>
          </a:solidFill>
          <a:ln>
            <a:solidFill>
              <a:srgbClr val="F0E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1691640"/>
            <a:ext cx="82296" cy="1417320"/>
          </a:xfrm>
          <a:prstGeom prst="rect">
            <a:avLst/>
          </a:prstGeom>
          <a:solidFill>
            <a:srgbClr val="7E5BBE"/>
          </a:solidFill>
          <a:ln>
            <a:solidFill>
              <a:srgbClr val="7E5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47888" y="1837944"/>
            <a:ext cx="3108960" cy="329184"/>
          </a:xfrm>
          <a:prstGeom prst="rect">
            <a:avLst/>
          </a:prstGeom>
          <a:noFill/>
        </p:spPr>
        <p:txBody>
          <a:bodyPr wrap="square" lIns="54864" tIns="54864" rIns="54864" bIns="54864" anchor="t">
            <a:spAutoFit/>
          </a:bodyPr>
          <a:lstStyle/>
          <a:p>
            <a:pPr algn="l">
              <a:spcAft>
                <a:spcPts val="500"/>
              </a:spcAft>
            </a:pPr>
            <a:r>
              <a:rPr sz="1700" b="1" i="0">
                <a:solidFill>
                  <a:srgbClr val="182A4C"/>
                </a:solidFill>
                <a:latin typeface="Times New Roman"/>
              </a:rPr>
              <a:t>03  Vận dụng</a:t>
            </a:r>
          </a:p>
        </p:txBody>
      </p:sp>
      <p:sp>
        <p:nvSpPr>
          <p:cNvPr id="17" name="TextBox 16"/>
          <p:cNvSpPr txBox="1"/>
          <p:nvPr/>
        </p:nvSpPr>
        <p:spPr>
          <a:xfrm>
            <a:off x="8247888" y="2249424"/>
            <a:ext cx="3108960" cy="664797"/>
          </a:xfrm>
          <a:prstGeom prst="rect">
            <a:avLst/>
          </a:prstGeom>
          <a:noFill/>
        </p:spPr>
        <p:txBody>
          <a:bodyPr wrap="square" lIns="54864" tIns="54864" rIns="54864" bIns="54864" anchor="t">
            <a:spAutoFit/>
          </a:bodyPr>
          <a:lstStyle/>
          <a:p>
            <a:pPr algn="l">
              <a:spcAft>
                <a:spcPts val="500"/>
              </a:spcAft>
            </a:pPr>
            <a:r>
              <a:rPr b="0" i="0" dirty="0">
                <a:solidFill>
                  <a:srgbClr val="2B3648"/>
                </a:solidFill>
                <a:latin typeface="Times New Roman"/>
              </a:rPr>
              <a:t>Theo </a:t>
            </a:r>
            <a:r>
              <a:rPr b="0" i="0" dirty="0" err="1">
                <a:solidFill>
                  <a:srgbClr val="2B3648"/>
                </a:solidFill>
                <a:latin typeface="Times New Roman"/>
              </a:rPr>
              <a:t>dõi</a:t>
            </a:r>
            <a:r>
              <a:rPr b="0" i="0" dirty="0">
                <a:solidFill>
                  <a:srgbClr val="2B3648"/>
                </a:solidFill>
                <a:latin typeface="Times New Roman"/>
              </a:rPr>
              <a:t> </a:t>
            </a:r>
            <a:r>
              <a:rPr b="0" i="0" dirty="0" err="1">
                <a:solidFill>
                  <a:srgbClr val="2B3648"/>
                </a:solidFill>
                <a:latin typeface="Times New Roman"/>
              </a:rPr>
              <a:t>luồng</a:t>
            </a:r>
            <a:r>
              <a:rPr b="0" i="0" dirty="0">
                <a:solidFill>
                  <a:srgbClr val="2B3648"/>
                </a:solidFill>
                <a:latin typeface="Times New Roman"/>
              </a:rPr>
              <a:t> </a:t>
            </a:r>
            <a:r>
              <a:rPr b="0" i="0" dirty="0" err="1">
                <a:solidFill>
                  <a:srgbClr val="2B3648"/>
                </a:solidFill>
                <a:latin typeface="Times New Roman"/>
              </a:rPr>
              <a:t>xử</a:t>
            </a:r>
            <a:r>
              <a:rPr b="0" i="0" dirty="0">
                <a:solidFill>
                  <a:srgbClr val="2B3648"/>
                </a:solidFill>
                <a:latin typeface="Times New Roman"/>
              </a:rPr>
              <a:t> </a:t>
            </a:r>
            <a:r>
              <a:rPr b="0" i="0" dirty="0" err="1">
                <a:solidFill>
                  <a:srgbClr val="2B3648"/>
                </a:solidFill>
                <a:latin typeface="Times New Roman"/>
              </a:rPr>
              <a:t>lý</a:t>
            </a:r>
            <a:r>
              <a:rPr b="0" i="0" dirty="0">
                <a:solidFill>
                  <a:srgbClr val="2B3648"/>
                </a:solidFill>
                <a:latin typeface="Times New Roman"/>
              </a:rPr>
              <a:t> qua </a:t>
            </a:r>
            <a:r>
              <a:rPr b="0" i="0" dirty="0" err="1">
                <a:solidFill>
                  <a:srgbClr val="2B3648"/>
                </a:solidFill>
                <a:latin typeface="Times New Roman"/>
              </a:rPr>
              <a:t>ví</a:t>
            </a:r>
            <a:r>
              <a:rPr b="0" i="0" dirty="0">
                <a:solidFill>
                  <a:srgbClr val="2B3648"/>
                </a:solidFill>
                <a:latin typeface="Times New Roman"/>
              </a:rPr>
              <a:t> </a:t>
            </a:r>
            <a:r>
              <a:rPr b="0" i="0" dirty="0" err="1">
                <a:solidFill>
                  <a:srgbClr val="2B3648"/>
                </a:solidFill>
                <a:latin typeface="Times New Roman"/>
              </a:rPr>
              <a:t>dụ</a:t>
            </a:r>
            <a:r>
              <a:rPr b="0" i="0" dirty="0">
                <a:solidFill>
                  <a:srgbClr val="2B3648"/>
                </a:solidFill>
                <a:latin typeface="Times New Roman"/>
              </a:rPr>
              <a:t> </a:t>
            </a:r>
            <a:r>
              <a:rPr b="0" i="0" dirty="0" err="1">
                <a:solidFill>
                  <a:srgbClr val="2B3648"/>
                </a:solidFill>
                <a:latin typeface="Times New Roman"/>
              </a:rPr>
              <a:t>quản</a:t>
            </a:r>
            <a:r>
              <a:rPr b="0" i="0" dirty="0">
                <a:solidFill>
                  <a:srgbClr val="2B3648"/>
                </a:solidFill>
                <a:latin typeface="Times New Roman"/>
              </a:rPr>
              <a:t> </a:t>
            </a:r>
            <a:r>
              <a:rPr b="0" i="0" dirty="0" err="1">
                <a:solidFill>
                  <a:srgbClr val="2B3648"/>
                </a:solidFill>
                <a:latin typeface="Times New Roman"/>
              </a:rPr>
              <a:t>lý</a:t>
            </a:r>
            <a:r>
              <a:rPr b="0" i="0" dirty="0">
                <a:solidFill>
                  <a:srgbClr val="2B3648"/>
                </a:solidFill>
                <a:latin typeface="Times New Roman"/>
              </a:rPr>
              <a:t> </a:t>
            </a:r>
            <a:r>
              <a:rPr b="0" i="0" dirty="0" err="1">
                <a:solidFill>
                  <a:srgbClr val="2B3648"/>
                </a:solidFill>
                <a:latin typeface="Times New Roman"/>
              </a:rPr>
              <a:t>sinh</a:t>
            </a:r>
            <a:r>
              <a:rPr b="0" i="0" dirty="0">
                <a:solidFill>
                  <a:srgbClr val="2B3648"/>
                </a:solidFill>
                <a:latin typeface="Times New Roman"/>
              </a:rPr>
              <a:t> </a:t>
            </a:r>
            <a:r>
              <a:rPr b="0" i="0" dirty="0" err="1">
                <a:solidFill>
                  <a:srgbClr val="2B3648"/>
                </a:solidFill>
                <a:latin typeface="Times New Roman"/>
              </a:rPr>
              <a:t>viên</a:t>
            </a:r>
            <a:r>
              <a:rPr b="0" i="0" dirty="0">
                <a:solidFill>
                  <a:srgbClr val="2B3648"/>
                </a:solidFill>
                <a:latin typeface="Times New Roman"/>
              </a:rPr>
              <a:t> </a:t>
            </a:r>
            <a:r>
              <a:rPr b="0" i="0" dirty="0" err="1">
                <a:solidFill>
                  <a:srgbClr val="2B3648"/>
                </a:solidFill>
                <a:latin typeface="Times New Roman"/>
              </a:rPr>
              <a:t>bằng</a:t>
            </a:r>
            <a:r>
              <a:rPr b="0" i="0" dirty="0">
                <a:solidFill>
                  <a:srgbClr val="2B3648"/>
                </a:solidFill>
                <a:latin typeface="Times New Roman"/>
              </a:rPr>
              <a:t> C#.</a:t>
            </a:r>
          </a:p>
        </p:txBody>
      </p:sp>
      <p:sp>
        <p:nvSpPr>
          <p:cNvPr id="18" name="TextBox 17"/>
          <p:cNvSpPr txBox="1"/>
          <p:nvPr/>
        </p:nvSpPr>
        <p:spPr>
          <a:xfrm>
            <a:off x="731520" y="3703320"/>
            <a:ext cx="1280160" cy="320040"/>
          </a:xfrm>
          <a:prstGeom prst="rect">
            <a:avLst/>
          </a:prstGeom>
          <a:noFill/>
        </p:spPr>
        <p:txBody>
          <a:bodyPr wrap="square" lIns="54864" tIns="54864" rIns="54864" bIns="54864" anchor="t">
            <a:spAutoFit/>
          </a:bodyPr>
          <a:lstStyle/>
          <a:p>
            <a:pPr algn="l">
              <a:spcAft>
                <a:spcPts val="500"/>
              </a:spcAft>
            </a:pPr>
            <a:r>
              <a:rPr sz="1800" b="1" i="0">
                <a:solidFill>
                  <a:srgbClr val="182A4C"/>
                </a:solidFill>
                <a:latin typeface="Times New Roman"/>
              </a:rPr>
              <a:t>Lộ trình</a:t>
            </a:r>
          </a:p>
        </p:txBody>
      </p:sp>
      <p:sp>
        <p:nvSpPr>
          <p:cNvPr id="19" name="Rounded Rectangle 18"/>
          <p:cNvSpPr/>
          <p:nvPr/>
        </p:nvSpPr>
        <p:spPr>
          <a:xfrm>
            <a:off x="731520" y="4251960"/>
            <a:ext cx="2240280" cy="658368"/>
          </a:xfrm>
          <a:prstGeom prst="roundRect">
            <a:avLst/>
          </a:prstGeom>
          <a:solidFill>
            <a:srgbClr val="FFFFFF"/>
          </a:solidFill>
          <a:ln>
            <a:solidFill>
              <a:srgbClr val="DE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96112" y="4407408"/>
            <a:ext cx="310896" cy="310896"/>
          </a:xfrm>
          <a:prstGeom prst="ellipse">
            <a:avLst/>
          </a:prstGeom>
          <a:solidFill>
            <a:srgbClr val="3669C9"/>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25880" y="4370832"/>
            <a:ext cx="1417320" cy="320040"/>
          </a:xfrm>
          <a:prstGeom prst="rect">
            <a:avLst/>
          </a:prstGeom>
          <a:noFill/>
        </p:spPr>
        <p:txBody>
          <a:bodyPr wrap="square" lIns="54864" tIns="54864" rIns="54864" bIns="54864" anchor="ctr">
            <a:spAutoFit/>
          </a:bodyPr>
          <a:lstStyle/>
          <a:p>
            <a:pPr algn="l">
              <a:spcAft>
                <a:spcPts val="500"/>
              </a:spcAft>
            </a:pPr>
            <a:r>
              <a:rPr sz="1500" b="1" i="0">
                <a:solidFill>
                  <a:srgbClr val="182A4C"/>
                </a:solidFill>
                <a:latin typeface="Times New Roman"/>
              </a:rPr>
              <a:t>Khái niệm</a:t>
            </a:r>
          </a:p>
        </p:txBody>
      </p:sp>
      <p:cxnSp>
        <p:nvCxnSpPr>
          <p:cNvPr id="22" name="Connector 21"/>
          <p:cNvCxnSpPr/>
          <p:nvPr/>
        </p:nvCxnSpPr>
        <p:spPr>
          <a:xfrm>
            <a:off x="3017520" y="4572000"/>
            <a:ext cx="411480" cy="0"/>
          </a:xfrm>
          <a:prstGeom prst="line">
            <a:avLst/>
          </a:prstGeom>
          <a:ln w="17780">
            <a:solidFill>
              <a:srgbClr val="667387"/>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566160" y="4251960"/>
            <a:ext cx="2240280" cy="658368"/>
          </a:xfrm>
          <a:prstGeom prst="roundRect">
            <a:avLst/>
          </a:prstGeom>
          <a:solidFill>
            <a:srgbClr val="FFFFFF"/>
          </a:solidFill>
          <a:ln>
            <a:solidFill>
              <a:srgbClr val="DE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730752" y="4407408"/>
            <a:ext cx="310896" cy="310896"/>
          </a:xfrm>
          <a:prstGeom prst="ellipse">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60520" y="4370832"/>
            <a:ext cx="1417320" cy="320040"/>
          </a:xfrm>
          <a:prstGeom prst="rect">
            <a:avLst/>
          </a:prstGeom>
          <a:noFill/>
        </p:spPr>
        <p:txBody>
          <a:bodyPr wrap="square" lIns="54864" tIns="54864" rIns="54864" bIns="54864" anchor="ctr">
            <a:spAutoFit/>
          </a:bodyPr>
          <a:lstStyle/>
          <a:p>
            <a:pPr algn="l">
              <a:spcAft>
                <a:spcPts val="500"/>
              </a:spcAft>
            </a:pPr>
            <a:r>
              <a:rPr sz="1500" b="1" i="0">
                <a:solidFill>
                  <a:srgbClr val="182A4C"/>
                </a:solidFill>
                <a:latin typeface="Times New Roman"/>
              </a:rPr>
              <a:t>Cấu trúc</a:t>
            </a:r>
          </a:p>
        </p:txBody>
      </p:sp>
      <p:cxnSp>
        <p:nvCxnSpPr>
          <p:cNvPr id="26" name="Connector 25"/>
          <p:cNvCxnSpPr/>
          <p:nvPr/>
        </p:nvCxnSpPr>
        <p:spPr>
          <a:xfrm>
            <a:off x="5852160" y="4572000"/>
            <a:ext cx="411480" cy="0"/>
          </a:xfrm>
          <a:prstGeom prst="line">
            <a:avLst/>
          </a:prstGeom>
          <a:ln w="17780">
            <a:solidFill>
              <a:srgbClr val="667387"/>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400800" y="4251960"/>
            <a:ext cx="2240280" cy="658368"/>
          </a:xfrm>
          <a:prstGeom prst="roundRect">
            <a:avLst/>
          </a:prstGeom>
          <a:solidFill>
            <a:srgbClr val="FFFFFF"/>
          </a:solidFill>
          <a:ln>
            <a:solidFill>
              <a:srgbClr val="DE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565392" y="4407408"/>
            <a:ext cx="310896" cy="310896"/>
          </a:xfrm>
          <a:prstGeom prst="ellipse">
            <a:avLst/>
          </a:prstGeom>
          <a:solidFill>
            <a:srgbClr val="7E5BBE"/>
          </a:solidFill>
          <a:ln>
            <a:solidFill>
              <a:srgbClr val="7E5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995160" y="4370832"/>
            <a:ext cx="1417320" cy="320040"/>
          </a:xfrm>
          <a:prstGeom prst="rect">
            <a:avLst/>
          </a:prstGeom>
          <a:noFill/>
        </p:spPr>
        <p:txBody>
          <a:bodyPr wrap="square" lIns="54864" tIns="54864" rIns="54864" bIns="54864" anchor="ctr">
            <a:spAutoFit/>
          </a:bodyPr>
          <a:lstStyle/>
          <a:p>
            <a:pPr algn="l">
              <a:spcAft>
                <a:spcPts val="500"/>
              </a:spcAft>
            </a:pPr>
            <a:r>
              <a:rPr sz="1500" b="1" i="0">
                <a:solidFill>
                  <a:srgbClr val="182A4C"/>
                </a:solidFill>
                <a:latin typeface="Times New Roman"/>
              </a:rPr>
              <a:t>Ví dụ</a:t>
            </a:r>
          </a:p>
        </p:txBody>
      </p:sp>
      <p:cxnSp>
        <p:nvCxnSpPr>
          <p:cNvPr id="30" name="Connector 29"/>
          <p:cNvCxnSpPr/>
          <p:nvPr/>
        </p:nvCxnSpPr>
        <p:spPr>
          <a:xfrm>
            <a:off x="8686800" y="4572000"/>
            <a:ext cx="411480" cy="0"/>
          </a:xfrm>
          <a:prstGeom prst="line">
            <a:avLst/>
          </a:prstGeom>
          <a:ln w="17780">
            <a:solidFill>
              <a:srgbClr val="667387"/>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235440" y="4251960"/>
            <a:ext cx="2240280" cy="658368"/>
          </a:xfrm>
          <a:prstGeom prst="roundRect">
            <a:avLst/>
          </a:prstGeom>
          <a:solidFill>
            <a:srgbClr val="FFFFFF"/>
          </a:solidFill>
          <a:ln>
            <a:solidFill>
              <a:srgbClr val="DE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9400032" y="4407408"/>
            <a:ext cx="310896" cy="310896"/>
          </a:xfrm>
          <a:prstGeom prst="ellipse">
            <a:avLst/>
          </a:prstGeom>
          <a:solidFill>
            <a:srgbClr val="F2B134"/>
          </a:solidFill>
          <a:ln>
            <a:solidFill>
              <a:srgbClr val="F2B1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829800" y="4370832"/>
            <a:ext cx="1417320" cy="320040"/>
          </a:xfrm>
          <a:prstGeom prst="rect">
            <a:avLst/>
          </a:prstGeom>
          <a:noFill/>
        </p:spPr>
        <p:txBody>
          <a:bodyPr wrap="square" lIns="54864" tIns="54864" rIns="54864" bIns="54864" anchor="ctr">
            <a:spAutoFit/>
          </a:bodyPr>
          <a:lstStyle/>
          <a:p>
            <a:pPr algn="l">
              <a:spcAft>
                <a:spcPts val="500"/>
              </a:spcAft>
            </a:pPr>
            <a:r>
              <a:rPr sz="1500" b="1" i="0">
                <a:solidFill>
                  <a:srgbClr val="182A4C"/>
                </a:solidFill>
                <a:latin typeface="Times New Roman"/>
              </a:rPr>
              <a:t>Đánh giá</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66928"/>
          </a:xfrm>
          <a:prstGeom prst="rect">
            <a:avLst/>
          </a:prstGeom>
          <a:noFill/>
        </p:spPr>
        <p:txBody>
          <a:bodyPr wrap="square" lIns="54864" tIns="54864" rIns="54864" bIns="54864" anchor="t">
            <a:spAutoFit/>
          </a:bodyPr>
          <a:lstStyle/>
          <a:p>
            <a:pPr algn="l">
              <a:spcAft>
                <a:spcPts val="500"/>
              </a:spcAft>
            </a:pPr>
            <a:r>
              <a:rPr sz="2700" b="1" i="0">
                <a:solidFill>
                  <a:srgbClr val="182A4C"/>
                </a:solidFill>
                <a:latin typeface="Times New Roman"/>
              </a:rPr>
              <a:t>Vì sao phần mềm cần kiến trúc?</a:t>
            </a:r>
          </a:p>
        </p:txBody>
      </p:sp>
      <p:sp>
        <p:nvSpPr>
          <p:cNvPr id="3" name="Rectangle 2"/>
          <p:cNvSpPr/>
          <p:nvPr/>
        </p:nvSpPr>
        <p:spPr>
          <a:xfrm>
            <a:off x="612648" y="969264"/>
            <a:ext cx="822960" cy="50292"/>
          </a:xfrm>
          <a:prstGeom prst="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44200" y="6473952"/>
            <a:ext cx="914400" cy="182880"/>
          </a:xfrm>
          <a:prstGeom prst="rect">
            <a:avLst/>
          </a:prstGeom>
          <a:noFill/>
        </p:spPr>
        <p:txBody>
          <a:bodyPr wrap="square" lIns="54864" tIns="54864" rIns="54864" bIns="54864" anchor="t">
            <a:spAutoFit/>
          </a:bodyPr>
          <a:lstStyle/>
          <a:p>
            <a:pPr algn="r">
              <a:spcAft>
                <a:spcPts val="500"/>
              </a:spcAft>
            </a:pPr>
            <a:r>
              <a:rPr sz="900" b="0" i="0">
                <a:solidFill>
                  <a:srgbClr val="667387"/>
                </a:solidFill>
                <a:latin typeface="Times New Roman"/>
              </a:rPr>
              <a:t>03  /  13</a:t>
            </a:r>
          </a:p>
        </p:txBody>
      </p:sp>
      <p:sp>
        <p:nvSpPr>
          <p:cNvPr id="6" name="Rounded Rectangle 5"/>
          <p:cNvSpPr/>
          <p:nvPr/>
        </p:nvSpPr>
        <p:spPr>
          <a:xfrm>
            <a:off x="685800" y="1737360"/>
            <a:ext cx="5074920" cy="33375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737360"/>
            <a:ext cx="82296" cy="3337560"/>
          </a:xfrm>
          <a:prstGeom prst="rect">
            <a:avLst/>
          </a:prstGeom>
          <a:solidFill>
            <a:srgbClr val="D45353"/>
          </a:solidFill>
          <a:ln>
            <a:solidFill>
              <a:srgbClr val="D453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883664"/>
            <a:ext cx="4709159" cy="329184"/>
          </a:xfrm>
          <a:prstGeom prst="rect">
            <a:avLst/>
          </a:prstGeom>
          <a:noFill/>
        </p:spPr>
        <p:txBody>
          <a:bodyPr wrap="square" lIns="54864" tIns="54864" rIns="54864" bIns="54864" anchor="t">
            <a:spAutoFit/>
          </a:bodyPr>
          <a:lstStyle/>
          <a:p>
            <a:pPr algn="l">
              <a:spcAft>
                <a:spcPts val="500"/>
              </a:spcAft>
            </a:pPr>
            <a:r>
              <a:rPr sz="1800" b="1" i="0" dirty="0">
                <a:solidFill>
                  <a:srgbClr val="182A4C"/>
                </a:solidFill>
                <a:latin typeface="Times New Roman"/>
              </a:rPr>
              <a:t>Khi </a:t>
            </a:r>
            <a:r>
              <a:rPr sz="1800" b="1" i="0" dirty="0" err="1">
                <a:solidFill>
                  <a:srgbClr val="182A4C"/>
                </a:solidFill>
                <a:latin typeface="Times New Roman"/>
              </a:rPr>
              <a:t>không</a:t>
            </a:r>
            <a:r>
              <a:rPr sz="1800" b="1" i="0" dirty="0">
                <a:solidFill>
                  <a:srgbClr val="182A4C"/>
                </a:solidFill>
                <a:latin typeface="Times New Roman"/>
              </a:rPr>
              <a:t> </a:t>
            </a:r>
            <a:r>
              <a:rPr sz="1800" b="1" i="0" dirty="0" err="1">
                <a:solidFill>
                  <a:srgbClr val="182A4C"/>
                </a:solidFill>
                <a:latin typeface="Times New Roman"/>
              </a:rPr>
              <a:t>phân</a:t>
            </a:r>
            <a:r>
              <a:rPr sz="1800" b="1" i="0" dirty="0">
                <a:solidFill>
                  <a:srgbClr val="182A4C"/>
                </a:solidFill>
                <a:latin typeface="Times New Roman"/>
              </a:rPr>
              <a:t> chia</a:t>
            </a:r>
          </a:p>
        </p:txBody>
      </p:sp>
      <p:sp>
        <p:nvSpPr>
          <p:cNvPr id="9" name="TextBox 8"/>
          <p:cNvSpPr txBox="1"/>
          <p:nvPr/>
        </p:nvSpPr>
        <p:spPr>
          <a:xfrm>
            <a:off x="886968" y="2295144"/>
            <a:ext cx="4709159" cy="2519151"/>
          </a:xfrm>
          <a:prstGeom prst="rect">
            <a:avLst/>
          </a:prstGeom>
          <a:noFill/>
        </p:spPr>
        <p:txBody>
          <a:bodyPr wrap="square" lIns="54864" tIns="54864" rIns="54864" bIns="54864" anchor="t">
            <a:spAutoFit/>
          </a:bodyPr>
          <a:lstStyle/>
          <a:p>
            <a:pPr algn="l">
              <a:spcAft>
                <a:spcPts val="500"/>
              </a:spcAft>
            </a:pPr>
            <a:r>
              <a:rPr sz="2400" b="0" i="0" dirty="0">
                <a:solidFill>
                  <a:srgbClr val="2B3648"/>
                </a:solidFill>
                <a:latin typeface="Times New Roman"/>
              </a:rPr>
              <a:t>• Giao </a:t>
            </a:r>
            <a:r>
              <a:rPr sz="2400" b="0" i="0" dirty="0" err="1">
                <a:solidFill>
                  <a:srgbClr val="2B3648"/>
                </a:solidFill>
                <a:latin typeface="Times New Roman"/>
              </a:rPr>
              <a:t>diện</a:t>
            </a:r>
            <a:r>
              <a:rPr sz="2400" b="0" i="0" dirty="0">
                <a:solidFill>
                  <a:srgbClr val="2B3648"/>
                </a:solidFill>
                <a:latin typeface="Times New Roman"/>
              </a:rPr>
              <a:t>, </a:t>
            </a:r>
            <a:r>
              <a:rPr sz="2400" b="0" i="0" dirty="0" err="1">
                <a:solidFill>
                  <a:srgbClr val="2B3648"/>
                </a:solidFill>
                <a:latin typeface="Times New Roman"/>
              </a:rPr>
              <a:t>xử</a:t>
            </a:r>
            <a:r>
              <a:rPr sz="2400" b="0" i="0" dirty="0">
                <a:solidFill>
                  <a:srgbClr val="2B3648"/>
                </a:solidFill>
                <a:latin typeface="Times New Roman"/>
              </a:rPr>
              <a:t> </a:t>
            </a:r>
            <a:r>
              <a:rPr sz="2400" b="0" i="0" dirty="0" err="1">
                <a:solidFill>
                  <a:srgbClr val="2B3648"/>
                </a:solidFill>
                <a:latin typeface="Times New Roman"/>
              </a:rPr>
              <a:t>lý</a:t>
            </a:r>
            <a:r>
              <a:rPr sz="2400" b="0" i="0" dirty="0">
                <a:solidFill>
                  <a:srgbClr val="2B3648"/>
                </a:solidFill>
                <a:latin typeface="Times New Roman"/>
              </a:rPr>
              <a:t> </a:t>
            </a:r>
            <a:r>
              <a:rPr sz="2400" b="0" i="0" dirty="0" err="1">
                <a:solidFill>
                  <a:srgbClr val="2B3648"/>
                </a:solidFill>
                <a:latin typeface="Times New Roman"/>
              </a:rPr>
              <a:t>nghiệp</a:t>
            </a:r>
            <a:r>
              <a:rPr sz="2400" b="0" i="0" dirty="0">
                <a:solidFill>
                  <a:srgbClr val="2B3648"/>
                </a:solidFill>
                <a:latin typeface="Times New Roman"/>
              </a:rPr>
              <a:t> </a:t>
            </a:r>
            <a:r>
              <a:rPr sz="2400" b="0" i="0" dirty="0" err="1">
                <a:solidFill>
                  <a:srgbClr val="2B3648"/>
                </a:solidFill>
                <a:latin typeface="Times New Roman"/>
              </a:rPr>
              <a:t>vụ</a:t>
            </a:r>
            <a:r>
              <a:rPr sz="2400" b="0" i="0" dirty="0">
                <a:solidFill>
                  <a:srgbClr val="2B3648"/>
                </a:solidFill>
                <a:latin typeface="Times New Roman"/>
              </a:rPr>
              <a:t> </a:t>
            </a:r>
            <a:r>
              <a:rPr sz="2400" b="0" i="0" dirty="0" err="1">
                <a:solidFill>
                  <a:srgbClr val="2B3648"/>
                </a:solidFill>
                <a:latin typeface="Times New Roman"/>
              </a:rPr>
              <a:t>và</a:t>
            </a:r>
            <a:r>
              <a:rPr sz="2400" b="0" i="0" dirty="0">
                <a:solidFill>
                  <a:srgbClr val="2B3648"/>
                </a:solidFill>
                <a:latin typeface="Times New Roman"/>
              </a:rPr>
              <a:t> </a:t>
            </a:r>
            <a:r>
              <a:rPr sz="2400" b="0" i="0" dirty="0" err="1">
                <a:solidFill>
                  <a:srgbClr val="2B3648"/>
                </a:solidFill>
                <a:latin typeface="Times New Roman"/>
              </a:rPr>
              <a:t>truy</a:t>
            </a:r>
            <a:r>
              <a:rPr sz="2400" b="0" i="0" dirty="0">
                <a:solidFill>
                  <a:srgbClr val="2B3648"/>
                </a:solidFill>
                <a:latin typeface="Times New Roman"/>
              </a:rPr>
              <a:t> </a:t>
            </a:r>
            <a:r>
              <a:rPr sz="2400" b="0" i="0" dirty="0" err="1">
                <a:solidFill>
                  <a:srgbClr val="2B3648"/>
                </a:solidFill>
                <a:latin typeface="Times New Roman"/>
              </a:rPr>
              <a:t>cập</a:t>
            </a:r>
            <a:r>
              <a:rPr sz="2400" b="0" i="0" dirty="0">
                <a:solidFill>
                  <a:srgbClr val="2B3648"/>
                </a:solidFill>
                <a:latin typeface="Times New Roman"/>
              </a:rPr>
              <a:t> </a:t>
            </a:r>
            <a:r>
              <a:rPr sz="2400" b="0" i="0" dirty="0" err="1">
                <a:solidFill>
                  <a:srgbClr val="2B3648"/>
                </a:solidFill>
                <a:latin typeface="Times New Roman"/>
              </a:rPr>
              <a:t>dữ</a:t>
            </a:r>
            <a:r>
              <a:rPr sz="2400" b="0" i="0" dirty="0">
                <a:solidFill>
                  <a:srgbClr val="2B3648"/>
                </a:solidFill>
                <a:latin typeface="Times New Roman"/>
              </a:rPr>
              <a:t> </a:t>
            </a:r>
            <a:r>
              <a:rPr sz="2400" b="0" i="0" dirty="0" err="1">
                <a:solidFill>
                  <a:srgbClr val="2B3648"/>
                </a:solidFill>
                <a:latin typeface="Times New Roman"/>
              </a:rPr>
              <a:t>liệu</a:t>
            </a:r>
            <a:r>
              <a:rPr sz="2400" b="0" i="0" dirty="0">
                <a:solidFill>
                  <a:srgbClr val="2B3648"/>
                </a:solidFill>
                <a:latin typeface="Times New Roman"/>
              </a:rPr>
              <a:t> </a:t>
            </a:r>
            <a:r>
              <a:rPr sz="2400" b="0" i="0" dirty="0" err="1">
                <a:solidFill>
                  <a:srgbClr val="2B3648"/>
                </a:solidFill>
                <a:latin typeface="Times New Roman"/>
              </a:rPr>
              <a:t>trộn</a:t>
            </a:r>
            <a:r>
              <a:rPr sz="2400" b="0" i="0" dirty="0">
                <a:solidFill>
                  <a:srgbClr val="2B3648"/>
                </a:solidFill>
                <a:latin typeface="Times New Roman"/>
              </a:rPr>
              <a:t> </a:t>
            </a:r>
            <a:r>
              <a:rPr sz="2400" b="0" i="0" dirty="0" err="1">
                <a:solidFill>
                  <a:srgbClr val="2B3648"/>
                </a:solidFill>
                <a:latin typeface="Times New Roman"/>
              </a:rPr>
              <a:t>lẫn</a:t>
            </a:r>
            <a:endParaRPr sz="2400" b="0" i="0" dirty="0">
              <a:solidFill>
                <a:srgbClr val="2B3648"/>
              </a:solidFill>
              <a:latin typeface="Times New Roman"/>
            </a:endParaRPr>
          </a:p>
          <a:p>
            <a:pPr algn="l">
              <a:spcAft>
                <a:spcPts val="500"/>
              </a:spcAft>
            </a:pPr>
            <a:r>
              <a:rPr sz="2400" b="0" i="0" dirty="0">
                <a:solidFill>
                  <a:srgbClr val="2B3648"/>
                </a:solidFill>
                <a:latin typeface="Times New Roman"/>
              </a:rPr>
              <a:t>• </a:t>
            </a:r>
            <a:r>
              <a:rPr sz="2400" b="0" i="0" dirty="0" err="1">
                <a:solidFill>
                  <a:srgbClr val="2B3648"/>
                </a:solidFill>
                <a:latin typeface="Times New Roman"/>
              </a:rPr>
              <a:t>Khó</a:t>
            </a:r>
            <a:r>
              <a:rPr sz="2400" b="0" i="0" dirty="0">
                <a:solidFill>
                  <a:srgbClr val="2B3648"/>
                </a:solidFill>
                <a:latin typeface="Times New Roman"/>
              </a:rPr>
              <a:t> </a:t>
            </a:r>
            <a:r>
              <a:rPr sz="2400" b="0" i="0" dirty="0" err="1">
                <a:solidFill>
                  <a:srgbClr val="2B3648"/>
                </a:solidFill>
                <a:latin typeface="Times New Roman"/>
              </a:rPr>
              <a:t>tìm</a:t>
            </a:r>
            <a:r>
              <a:rPr sz="2400" b="0" i="0" dirty="0">
                <a:solidFill>
                  <a:srgbClr val="2B3648"/>
                </a:solidFill>
                <a:latin typeface="Times New Roman"/>
              </a:rPr>
              <a:t> </a:t>
            </a:r>
            <a:r>
              <a:rPr sz="2400" b="0" i="0" dirty="0" err="1">
                <a:solidFill>
                  <a:srgbClr val="2B3648"/>
                </a:solidFill>
                <a:latin typeface="Times New Roman"/>
              </a:rPr>
              <a:t>lỗi</a:t>
            </a:r>
            <a:r>
              <a:rPr sz="2400" b="0" i="0" dirty="0">
                <a:solidFill>
                  <a:srgbClr val="2B3648"/>
                </a:solidFill>
                <a:latin typeface="Times New Roman"/>
              </a:rPr>
              <a:t>, </a:t>
            </a:r>
            <a:r>
              <a:rPr sz="2400" b="0" i="0" dirty="0" err="1">
                <a:solidFill>
                  <a:srgbClr val="2B3648"/>
                </a:solidFill>
                <a:latin typeface="Times New Roman"/>
              </a:rPr>
              <a:t>khó</a:t>
            </a:r>
            <a:r>
              <a:rPr sz="2400" b="0" i="0" dirty="0">
                <a:solidFill>
                  <a:srgbClr val="2B3648"/>
                </a:solidFill>
                <a:latin typeface="Times New Roman"/>
              </a:rPr>
              <a:t> </a:t>
            </a:r>
            <a:r>
              <a:rPr sz="2400" b="0" i="0" dirty="0" err="1">
                <a:solidFill>
                  <a:srgbClr val="2B3648"/>
                </a:solidFill>
                <a:latin typeface="Times New Roman"/>
              </a:rPr>
              <a:t>kiểm</a:t>
            </a:r>
            <a:r>
              <a:rPr sz="2400" b="0" i="0" dirty="0">
                <a:solidFill>
                  <a:srgbClr val="2B3648"/>
                </a:solidFill>
                <a:latin typeface="Times New Roman"/>
              </a:rPr>
              <a:t> </a:t>
            </a:r>
            <a:r>
              <a:rPr sz="2400" b="0" i="0" dirty="0" err="1">
                <a:solidFill>
                  <a:srgbClr val="2B3648"/>
                </a:solidFill>
                <a:latin typeface="Times New Roman"/>
              </a:rPr>
              <a:t>thử</a:t>
            </a:r>
            <a:endParaRPr sz="2400" b="0" i="0" dirty="0">
              <a:solidFill>
                <a:srgbClr val="2B3648"/>
              </a:solidFill>
              <a:latin typeface="Times New Roman"/>
            </a:endParaRPr>
          </a:p>
          <a:p>
            <a:pPr algn="l">
              <a:spcAft>
                <a:spcPts val="500"/>
              </a:spcAft>
            </a:pPr>
            <a:r>
              <a:rPr sz="2400" b="0" i="0" dirty="0">
                <a:solidFill>
                  <a:srgbClr val="2B3648"/>
                </a:solidFill>
                <a:latin typeface="Times New Roman"/>
              </a:rPr>
              <a:t>• </a:t>
            </a:r>
            <a:r>
              <a:rPr sz="2400" b="0" i="0" dirty="0" err="1">
                <a:solidFill>
                  <a:srgbClr val="2B3648"/>
                </a:solidFill>
                <a:latin typeface="Times New Roman"/>
              </a:rPr>
              <a:t>Sửa</a:t>
            </a:r>
            <a:r>
              <a:rPr sz="2400" b="0" i="0" dirty="0">
                <a:solidFill>
                  <a:srgbClr val="2B3648"/>
                </a:solidFill>
                <a:latin typeface="Times New Roman"/>
              </a:rPr>
              <a:t> </a:t>
            </a:r>
            <a:r>
              <a:rPr sz="2400" b="0" i="0" dirty="0" err="1">
                <a:solidFill>
                  <a:srgbClr val="2B3648"/>
                </a:solidFill>
                <a:latin typeface="Times New Roman"/>
              </a:rPr>
              <a:t>một</a:t>
            </a:r>
            <a:r>
              <a:rPr sz="2400" b="0" i="0" dirty="0">
                <a:solidFill>
                  <a:srgbClr val="2B3648"/>
                </a:solidFill>
                <a:latin typeface="Times New Roman"/>
              </a:rPr>
              <a:t> </a:t>
            </a:r>
            <a:r>
              <a:rPr sz="2400" b="0" i="0" dirty="0" err="1">
                <a:solidFill>
                  <a:srgbClr val="2B3648"/>
                </a:solidFill>
                <a:latin typeface="Times New Roman"/>
              </a:rPr>
              <a:t>chức</a:t>
            </a:r>
            <a:r>
              <a:rPr sz="2400" b="0" i="0" dirty="0">
                <a:solidFill>
                  <a:srgbClr val="2B3648"/>
                </a:solidFill>
                <a:latin typeface="Times New Roman"/>
              </a:rPr>
              <a:t> </a:t>
            </a:r>
            <a:r>
              <a:rPr sz="2400" b="0" i="0" dirty="0" err="1">
                <a:solidFill>
                  <a:srgbClr val="2B3648"/>
                </a:solidFill>
                <a:latin typeface="Times New Roman"/>
              </a:rPr>
              <a:t>năng</a:t>
            </a:r>
            <a:r>
              <a:rPr sz="2400" b="0" i="0" dirty="0">
                <a:solidFill>
                  <a:srgbClr val="2B3648"/>
                </a:solidFill>
                <a:latin typeface="Times New Roman"/>
              </a:rPr>
              <a:t> </a:t>
            </a:r>
            <a:r>
              <a:rPr sz="2400" b="0" i="0" dirty="0" err="1">
                <a:solidFill>
                  <a:srgbClr val="2B3648"/>
                </a:solidFill>
                <a:latin typeface="Times New Roman"/>
              </a:rPr>
              <a:t>dễ</a:t>
            </a:r>
            <a:r>
              <a:rPr sz="2400" b="0" i="0" dirty="0">
                <a:solidFill>
                  <a:srgbClr val="2B3648"/>
                </a:solidFill>
                <a:latin typeface="Times New Roman"/>
              </a:rPr>
              <a:t> </a:t>
            </a:r>
            <a:r>
              <a:rPr sz="2400" b="0" i="0" dirty="0" err="1">
                <a:solidFill>
                  <a:srgbClr val="2B3648"/>
                </a:solidFill>
                <a:latin typeface="Times New Roman"/>
              </a:rPr>
              <a:t>làm</a:t>
            </a:r>
            <a:r>
              <a:rPr sz="2400" b="0" i="0" dirty="0">
                <a:solidFill>
                  <a:srgbClr val="2B3648"/>
                </a:solidFill>
                <a:latin typeface="Times New Roman"/>
              </a:rPr>
              <a:t> </a:t>
            </a:r>
            <a:r>
              <a:rPr sz="2400" b="0" i="0" dirty="0" err="1">
                <a:solidFill>
                  <a:srgbClr val="2B3648"/>
                </a:solidFill>
                <a:latin typeface="Times New Roman"/>
              </a:rPr>
              <a:t>hỏng</a:t>
            </a:r>
            <a:r>
              <a:rPr sz="2400" b="0" i="0" dirty="0">
                <a:solidFill>
                  <a:srgbClr val="2B3648"/>
                </a:solidFill>
                <a:latin typeface="Times New Roman"/>
              </a:rPr>
              <a:t> </a:t>
            </a:r>
            <a:r>
              <a:rPr sz="2400" b="0" i="0" dirty="0" err="1">
                <a:solidFill>
                  <a:srgbClr val="2B3648"/>
                </a:solidFill>
                <a:latin typeface="Times New Roman"/>
              </a:rPr>
              <a:t>chức</a:t>
            </a:r>
            <a:r>
              <a:rPr sz="2400" b="0" i="0" dirty="0">
                <a:solidFill>
                  <a:srgbClr val="2B3648"/>
                </a:solidFill>
                <a:latin typeface="Times New Roman"/>
              </a:rPr>
              <a:t> </a:t>
            </a:r>
            <a:r>
              <a:rPr sz="2400" b="0" i="0" dirty="0" err="1">
                <a:solidFill>
                  <a:srgbClr val="2B3648"/>
                </a:solidFill>
                <a:latin typeface="Times New Roman"/>
              </a:rPr>
              <a:t>năng</a:t>
            </a:r>
            <a:r>
              <a:rPr sz="2400" b="0" i="0" dirty="0">
                <a:solidFill>
                  <a:srgbClr val="2B3648"/>
                </a:solidFill>
                <a:latin typeface="Times New Roman"/>
              </a:rPr>
              <a:t> </a:t>
            </a:r>
            <a:r>
              <a:rPr sz="2400" b="0" i="0" dirty="0" err="1">
                <a:solidFill>
                  <a:srgbClr val="2B3648"/>
                </a:solidFill>
                <a:latin typeface="Times New Roman"/>
              </a:rPr>
              <a:t>khác</a:t>
            </a:r>
            <a:endParaRPr sz="2400" b="0" i="0" dirty="0">
              <a:solidFill>
                <a:srgbClr val="2B3648"/>
              </a:solidFill>
              <a:latin typeface="Times New Roman"/>
            </a:endParaRPr>
          </a:p>
          <a:p>
            <a:pPr algn="l">
              <a:spcAft>
                <a:spcPts val="500"/>
              </a:spcAft>
            </a:pPr>
            <a:r>
              <a:rPr sz="2400" b="0" i="0" dirty="0">
                <a:solidFill>
                  <a:srgbClr val="2B3648"/>
                </a:solidFill>
                <a:latin typeface="Times New Roman"/>
              </a:rPr>
              <a:t>• </a:t>
            </a:r>
            <a:r>
              <a:rPr sz="2400" b="0" i="0" dirty="0" err="1">
                <a:solidFill>
                  <a:srgbClr val="2B3648"/>
                </a:solidFill>
                <a:latin typeface="Times New Roman"/>
              </a:rPr>
              <a:t>Khó</a:t>
            </a:r>
            <a:r>
              <a:rPr sz="2400" b="0" i="0" dirty="0">
                <a:solidFill>
                  <a:srgbClr val="2B3648"/>
                </a:solidFill>
                <a:latin typeface="Times New Roman"/>
              </a:rPr>
              <a:t> </a:t>
            </a:r>
            <a:r>
              <a:rPr sz="2400" b="0" i="0" dirty="0" err="1">
                <a:solidFill>
                  <a:srgbClr val="2B3648"/>
                </a:solidFill>
                <a:latin typeface="Times New Roman"/>
              </a:rPr>
              <a:t>tái</a:t>
            </a:r>
            <a:r>
              <a:rPr sz="2400" b="0" i="0" dirty="0">
                <a:solidFill>
                  <a:srgbClr val="2B3648"/>
                </a:solidFill>
                <a:latin typeface="Times New Roman"/>
              </a:rPr>
              <a:t> </a:t>
            </a:r>
            <a:r>
              <a:rPr sz="2400" b="0" i="0" dirty="0" err="1">
                <a:solidFill>
                  <a:srgbClr val="2B3648"/>
                </a:solidFill>
                <a:latin typeface="Times New Roman"/>
              </a:rPr>
              <a:t>sử</a:t>
            </a:r>
            <a:r>
              <a:rPr sz="2400" b="0" i="0" dirty="0">
                <a:solidFill>
                  <a:srgbClr val="2B3648"/>
                </a:solidFill>
                <a:latin typeface="Times New Roman"/>
              </a:rPr>
              <a:t> </a:t>
            </a:r>
            <a:r>
              <a:rPr sz="2400" b="0" i="0" dirty="0" err="1">
                <a:solidFill>
                  <a:srgbClr val="2B3648"/>
                </a:solidFill>
                <a:latin typeface="Times New Roman"/>
              </a:rPr>
              <a:t>dụng</a:t>
            </a:r>
            <a:r>
              <a:rPr sz="2400" b="0" i="0" dirty="0">
                <a:solidFill>
                  <a:srgbClr val="2B3648"/>
                </a:solidFill>
                <a:latin typeface="Times New Roman"/>
              </a:rPr>
              <a:t> </a:t>
            </a:r>
            <a:r>
              <a:rPr sz="2400" b="0" i="0" dirty="0" err="1">
                <a:solidFill>
                  <a:srgbClr val="2B3648"/>
                </a:solidFill>
                <a:latin typeface="Times New Roman"/>
              </a:rPr>
              <a:t>và</a:t>
            </a:r>
            <a:r>
              <a:rPr sz="2400" b="0" i="0" dirty="0">
                <a:solidFill>
                  <a:srgbClr val="2B3648"/>
                </a:solidFill>
                <a:latin typeface="Times New Roman"/>
              </a:rPr>
              <a:t> </a:t>
            </a:r>
            <a:r>
              <a:rPr sz="2400" b="0" i="0" dirty="0" err="1">
                <a:solidFill>
                  <a:srgbClr val="2B3648"/>
                </a:solidFill>
                <a:latin typeface="Times New Roman"/>
              </a:rPr>
              <a:t>mở</a:t>
            </a:r>
            <a:r>
              <a:rPr sz="2400" b="0" i="0" dirty="0">
                <a:solidFill>
                  <a:srgbClr val="2B3648"/>
                </a:solidFill>
                <a:latin typeface="Times New Roman"/>
              </a:rPr>
              <a:t> </a:t>
            </a:r>
            <a:r>
              <a:rPr sz="2400" b="0" i="0" dirty="0" err="1">
                <a:solidFill>
                  <a:srgbClr val="2B3648"/>
                </a:solidFill>
                <a:latin typeface="Times New Roman"/>
              </a:rPr>
              <a:t>rộng</a:t>
            </a:r>
            <a:endParaRPr sz="2400" b="0" i="0" dirty="0">
              <a:solidFill>
                <a:srgbClr val="2B3648"/>
              </a:solidFill>
              <a:latin typeface="Times New Roman"/>
            </a:endParaRPr>
          </a:p>
        </p:txBody>
      </p:sp>
      <p:sp>
        <p:nvSpPr>
          <p:cNvPr id="10" name="Rounded Rectangle 9"/>
          <p:cNvSpPr/>
          <p:nvPr/>
        </p:nvSpPr>
        <p:spPr>
          <a:xfrm>
            <a:off x="6400800" y="1737360"/>
            <a:ext cx="5074920" cy="33375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0" y="1737360"/>
            <a:ext cx="82296" cy="3337560"/>
          </a:xfrm>
          <a:prstGeom prst="rect">
            <a:avLst/>
          </a:prstGeom>
          <a:solidFill>
            <a:srgbClr val="359162"/>
          </a:solidFill>
          <a:ln>
            <a:solidFill>
              <a:srgbClr val="359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01968" y="1883664"/>
            <a:ext cx="4709159" cy="329184"/>
          </a:xfrm>
          <a:prstGeom prst="rect">
            <a:avLst/>
          </a:prstGeom>
          <a:noFill/>
        </p:spPr>
        <p:txBody>
          <a:bodyPr wrap="square" lIns="54864" tIns="54864" rIns="54864" bIns="54864" anchor="t">
            <a:spAutoFit/>
          </a:bodyPr>
          <a:lstStyle/>
          <a:p>
            <a:pPr algn="l">
              <a:spcAft>
                <a:spcPts val="500"/>
              </a:spcAft>
            </a:pPr>
            <a:r>
              <a:rPr sz="1800" b="1" i="0">
                <a:solidFill>
                  <a:srgbClr val="182A4C"/>
                </a:solidFill>
                <a:latin typeface="Times New Roman"/>
              </a:rPr>
              <a:t>Khi có kiến trúc rõ ràng</a:t>
            </a:r>
          </a:p>
        </p:txBody>
      </p:sp>
      <p:sp>
        <p:nvSpPr>
          <p:cNvPr id="13" name="TextBox 12"/>
          <p:cNvSpPr txBox="1"/>
          <p:nvPr/>
        </p:nvSpPr>
        <p:spPr>
          <a:xfrm>
            <a:off x="6601968" y="2295144"/>
            <a:ext cx="4709159" cy="2519151"/>
          </a:xfrm>
          <a:prstGeom prst="rect">
            <a:avLst/>
          </a:prstGeom>
          <a:noFill/>
        </p:spPr>
        <p:txBody>
          <a:bodyPr wrap="square" lIns="54864" tIns="54864" rIns="54864" bIns="54864" anchor="t">
            <a:spAutoFit/>
          </a:bodyPr>
          <a:lstStyle/>
          <a:p>
            <a:pPr algn="l">
              <a:spcAft>
                <a:spcPts val="500"/>
              </a:spcAft>
            </a:pPr>
            <a:r>
              <a:rPr sz="2400" b="0" i="0" dirty="0">
                <a:solidFill>
                  <a:srgbClr val="2B3648"/>
                </a:solidFill>
                <a:latin typeface="Times New Roman"/>
              </a:rPr>
              <a:t>• </a:t>
            </a:r>
            <a:r>
              <a:rPr sz="2400" b="0" i="0" dirty="0" err="1">
                <a:solidFill>
                  <a:srgbClr val="2B3648"/>
                </a:solidFill>
                <a:latin typeface="Times New Roman"/>
              </a:rPr>
              <a:t>Mỗi</a:t>
            </a:r>
            <a:r>
              <a:rPr sz="2400" b="0" i="0" dirty="0">
                <a:solidFill>
                  <a:srgbClr val="2B3648"/>
                </a:solidFill>
                <a:latin typeface="Times New Roman"/>
              </a:rPr>
              <a:t> </a:t>
            </a:r>
            <a:r>
              <a:rPr sz="2400" b="0" i="0" dirty="0" err="1">
                <a:solidFill>
                  <a:srgbClr val="2B3648"/>
                </a:solidFill>
                <a:latin typeface="Times New Roman"/>
              </a:rPr>
              <a:t>phần</a:t>
            </a:r>
            <a:r>
              <a:rPr sz="2400" b="0" i="0" dirty="0">
                <a:solidFill>
                  <a:srgbClr val="2B3648"/>
                </a:solidFill>
                <a:latin typeface="Times New Roman"/>
              </a:rPr>
              <a:t> </a:t>
            </a:r>
            <a:r>
              <a:rPr sz="2400" b="0" i="0" dirty="0" err="1">
                <a:solidFill>
                  <a:srgbClr val="2B3648"/>
                </a:solidFill>
                <a:latin typeface="Times New Roman"/>
              </a:rPr>
              <a:t>có</a:t>
            </a:r>
            <a:r>
              <a:rPr sz="2400" b="0" i="0" dirty="0">
                <a:solidFill>
                  <a:srgbClr val="2B3648"/>
                </a:solidFill>
                <a:latin typeface="Times New Roman"/>
              </a:rPr>
              <a:t> </a:t>
            </a:r>
            <a:r>
              <a:rPr sz="2400" b="0" i="0" dirty="0" err="1">
                <a:solidFill>
                  <a:srgbClr val="2B3648"/>
                </a:solidFill>
                <a:latin typeface="Times New Roman"/>
              </a:rPr>
              <a:t>trách</a:t>
            </a:r>
            <a:r>
              <a:rPr sz="2400" b="0" i="0" dirty="0">
                <a:solidFill>
                  <a:srgbClr val="2B3648"/>
                </a:solidFill>
                <a:latin typeface="Times New Roman"/>
              </a:rPr>
              <a:t> </a:t>
            </a:r>
            <a:r>
              <a:rPr sz="2400" b="0" i="0" dirty="0" err="1">
                <a:solidFill>
                  <a:srgbClr val="2B3648"/>
                </a:solidFill>
                <a:latin typeface="Times New Roman"/>
              </a:rPr>
              <a:t>nhiệm</a:t>
            </a:r>
            <a:r>
              <a:rPr sz="2400" b="0" i="0" dirty="0">
                <a:solidFill>
                  <a:srgbClr val="2B3648"/>
                </a:solidFill>
                <a:latin typeface="Times New Roman"/>
              </a:rPr>
              <a:t> </a:t>
            </a:r>
            <a:r>
              <a:rPr sz="2400" b="0" i="0" dirty="0" err="1">
                <a:solidFill>
                  <a:srgbClr val="2B3648"/>
                </a:solidFill>
                <a:latin typeface="Times New Roman"/>
              </a:rPr>
              <a:t>riêng</a:t>
            </a:r>
            <a:endParaRPr sz="2400" b="0" i="0" dirty="0">
              <a:solidFill>
                <a:srgbClr val="2B3648"/>
              </a:solidFill>
              <a:latin typeface="Times New Roman"/>
            </a:endParaRPr>
          </a:p>
          <a:p>
            <a:pPr algn="l">
              <a:spcAft>
                <a:spcPts val="500"/>
              </a:spcAft>
            </a:pPr>
            <a:r>
              <a:rPr sz="2400" b="0" i="0" dirty="0">
                <a:solidFill>
                  <a:srgbClr val="2B3648"/>
                </a:solidFill>
                <a:latin typeface="Times New Roman"/>
              </a:rPr>
              <a:t>• </a:t>
            </a:r>
            <a:r>
              <a:rPr sz="2400" b="0" i="0" dirty="0" err="1">
                <a:solidFill>
                  <a:srgbClr val="2B3648"/>
                </a:solidFill>
                <a:latin typeface="Times New Roman"/>
              </a:rPr>
              <a:t>Thay</a:t>
            </a:r>
            <a:r>
              <a:rPr sz="2400" b="0" i="0" dirty="0">
                <a:solidFill>
                  <a:srgbClr val="2B3648"/>
                </a:solidFill>
                <a:latin typeface="Times New Roman"/>
              </a:rPr>
              <a:t> </a:t>
            </a:r>
            <a:r>
              <a:rPr sz="2400" b="0" i="0" dirty="0" err="1">
                <a:solidFill>
                  <a:srgbClr val="2B3648"/>
                </a:solidFill>
                <a:latin typeface="Times New Roman"/>
              </a:rPr>
              <a:t>đổi</a:t>
            </a:r>
            <a:r>
              <a:rPr sz="2400" b="0" i="0" dirty="0">
                <a:solidFill>
                  <a:srgbClr val="2B3648"/>
                </a:solidFill>
                <a:latin typeface="Times New Roman"/>
              </a:rPr>
              <a:t> </a:t>
            </a:r>
            <a:r>
              <a:rPr sz="2400" b="0" i="0" dirty="0" err="1">
                <a:solidFill>
                  <a:srgbClr val="2B3648"/>
                </a:solidFill>
                <a:latin typeface="Times New Roman"/>
              </a:rPr>
              <a:t>có</a:t>
            </a:r>
            <a:r>
              <a:rPr sz="2400" b="0" i="0" dirty="0">
                <a:solidFill>
                  <a:srgbClr val="2B3648"/>
                </a:solidFill>
                <a:latin typeface="Times New Roman"/>
              </a:rPr>
              <a:t> </a:t>
            </a:r>
            <a:r>
              <a:rPr sz="2400" b="0" i="0" dirty="0" err="1">
                <a:solidFill>
                  <a:srgbClr val="2B3648"/>
                </a:solidFill>
                <a:latin typeface="Times New Roman"/>
              </a:rPr>
              <a:t>phạm</a:t>
            </a:r>
            <a:r>
              <a:rPr sz="2400" b="0" i="0" dirty="0">
                <a:solidFill>
                  <a:srgbClr val="2B3648"/>
                </a:solidFill>
                <a:latin typeface="Times New Roman"/>
              </a:rPr>
              <a:t> vi </a:t>
            </a:r>
            <a:r>
              <a:rPr sz="2400" b="0" i="0" dirty="0" err="1">
                <a:solidFill>
                  <a:srgbClr val="2B3648"/>
                </a:solidFill>
                <a:latin typeface="Times New Roman"/>
              </a:rPr>
              <a:t>ảnh</a:t>
            </a:r>
            <a:r>
              <a:rPr sz="2400" b="0" i="0" dirty="0">
                <a:solidFill>
                  <a:srgbClr val="2B3648"/>
                </a:solidFill>
                <a:latin typeface="Times New Roman"/>
              </a:rPr>
              <a:t> </a:t>
            </a:r>
            <a:r>
              <a:rPr sz="2400" b="0" i="0" dirty="0" err="1">
                <a:solidFill>
                  <a:srgbClr val="2B3648"/>
                </a:solidFill>
                <a:latin typeface="Times New Roman"/>
              </a:rPr>
              <a:t>hưởng</a:t>
            </a:r>
            <a:r>
              <a:rPr sz="2400" b="0" i="0" dirty="0">
                <a:solidFill>
                  <a:srgbClr val="2B3648"/>
                </a:solidFill>
                <a:latin typeface="Times New Roman"/>
              </a:rPr>
              <a:t> </a:t>
            </a:r>
            <a:r>
              <a:rPr sz="2400" b="0" i="0" dirty="0" err="1">
                <a:solidFill>
                  <a:srgbClr val="2B3648"/>
                </a:solidFill>
                <a:latin typeface="Times New Roman"/>
              </a:rPr>
              <a:t>nhỏ</a:t>
            </a:r>
            <a:r>
              <a:rPr sz="2400" b="0" i="0" dirty="0">
                <a:solidFill>
                  <a:srgbClr val="2B3648"/>
                </a:solidFill>
                <a:latin typeface="Times New Roman"/>
              </a:rPr>
              <a:t> </a:t>
            </a:r>
            <a:r>
              <a:rPr sz="2400" b="0" i="0" dirty="0" err="1">
                <a:solidFill>
                  <a:srgbClr val="2B3648"/>
                </a:solidFill>
                <a:latin typeface="Times New Roman"/>
              </a:rPr>
              <a:t>hơn</a:t>
            </a:r>
            <a:endParaRPr sz="2400" b="0" i="0" dirty="0">
              <a:solidFill>
                <a:srgbClr val="2B3648"/>
              </a:solidFill>
              <a:latin typeface="Times New Roman"/>
            </a:endParaRPr>
          </a:p>
          <a:p>
            <a:pPr algn="l">
              <a:spcAft>
                <a:spcPts val="500"/>
              </a:spcAft>
            </a:pPr>
            <a:r>
              <a:rPr sz="2400" b="0" i="0" dirty="0">
                <a:solidFill>
                  <a:srgbClr val="2B3648"/>
                </a:solidFill>
                <a:latin typeface="Times New Roman"/>
              </a:rPr>
              <a:t>• </a:t>
            </a:r>
            <a:r>
              <a:rPr sz="2400" b="0" i="0" dirty="0" err="1">
                <a:solidFill>
                  <a:srgbClr val="2B3648"/>
                </a:solidFill>
                <a:latin typeface="Times New Roman"/>
              </a:rPr>
              <a:t>Dễ</a:t>
            </a:r>
            <a:r>
              <a:rPr sz="2400" b="0" i="0" dirty="0">
                <a:solidFill>
                  <a:srgbClr val="2B3648"/>
                </a:solidFill>
                <a:latin typeface="Times New Roman"/>
              </a:rPr>
              <a:t> </a:t>
            </a:r>
            <a:r>
              <a:rPr sz="2400" b="0" i="0" dirty="0" err="1">
                <a:solidFill>
                  <a:srgbClr val="2B3648"/>
                </a:solidFill>
                <a:latin typeface="Times New Roman"/>
              </a:rPr>
              <a:t>kiểm</a:t>
            </a:r>
            <a:r>
              <a:rPr sz="2400" b="0" i="0" dirty="0">
                <a:solidFill>
                  <a:srgbClr val="2B3648"/>
                </a:solidFill>
                <a:latin typeface="Times New Roman"/>
              </a:rPr>
              <a:t> </a:t>
            </a:r>
            <a:r>
              <a:rPr sz="2400" b="0" i="0" dirty="0" err="1">
                <a:solidFill>
                  <a:srgbClr val="2B3648"/>
                </a:solidFill>
                <a:latin typeface="Times New Roman"/>
              </a:rPr>
              <a:t>thử</a:t>
            </a:r>
            <a:r>
              <a:rPr sz="2400" b="0" i="0" dirty="0">
                <a:solidFill>
                  <a:srgbClr val="2B3648"/>
                </a:solidFill>
                <a:latin typeface="Times New Roman"/>
              </a:rPr>
              <a:t> </a:t>
            </a:r>
            <a:r>
              <a:rPr sz="2400" b="0" i="0" dirty="0" err="1">
                <a:solidFill>
                  <a:srgbClr val="2B3648"/>
                </a:solidFill>
                <a:latin typeface="Times New Roman"/>
              </a:rPr>
              <a:t>từng</a:t>
            </a:r>
            <a:r>
              <a:rPr sz="2400" b="0" i="0" dirty="0">
                <a:solidFill>
                  <a:srgbClr val="2B3648"/>
                </a:solidFill>
                <a:latin typeface="Times New Roman"/>
              </a:rPr>
              <a:t> </a:t>
            </a:r>
            <a:r>
              <a:rPr sz="2400" b="0" i="0" dirty="0" err="1">
                <a:solidFill>
                  <a:srgbClr val="2B3648"/>
                </a:solidFill>
                <a:latin typeface="Times New Roman"/>
              </a:rPr>
              <a:t>thành</a:t>
            </a:r>
            <a:r>
              <a:rPr sz="2400" b="0" i="0" dirty="0">
                <a:solidFill>
                  <a:srgbClr val="2B3648"/>
                </a:solidFill>
                <a:latin typeface="Times New Roman"/>
              </a:rPr>
              <a:t> </a:t>
            </a:r>
            <a:r>
              <a:rPr sz="2400" b="0" i="0" dirty="0" err="1">
                <a:solidFill>
                  <a:srgbClr val="2B3648"/>
                </a:solidFill>
                <a:latin typeface="Times New Roman"/>
              </a:rPr>
              <a:t>phần</a:t>
            </a:r>
            <a:endParaRPr sz="2400" b="0" i="0" dirty="0">
              <a:solidFill>
                <a:srgbClr val="2B3648"/>
              </a:solidFill>
              <a:latin typeface="Times New Roman"/>
            </a:endParaRPr>
          </a:p>
          <a:p>
            <a:pPr algn="l">
              <a:spcAft>
                <a:spcPts val="500"/>
              </a:spcAft>
            </a:pPr>
            <a:r>
              <a:rPr sz="2400" b="0" i="0" dirty="0">
                <a:solidFill>
                  <a:srgbClr val="2B3648"/>
                </a:solidFill>
                <a:latin typeface="Times New Roman"/>
              </a:rPr>
              <a:t>• </a:t>
            </a:r>
            <a:r>
              <a:rPr sz="2400" b="0" i="0" dirty="0" err="1">
                <a:solidFill>
                  <a:srgbClr val="2B3648"/>
                </a:solidFill>
                <a:latin typeface="Times New Roman"/>
              </a:rPr>
              <a:t>Nhiều</a:t>
            </a:r>
            <a:r>
              <a:rPr sz="2400" b="0" i="0" dirty="0">
                <a:solidFill>
                  <a:srgbClr val="2B3648"/>
                </a:solidFill>
                <a:latin typeface="Times New Roman"/>
              </a:rPr>
              <a:t> </a:t>
            </a:r>
            <a:r>
              <a:rPr sz="2400" b="0" i="0" dirty="0" err="1">
                <a:solidFill>
                  <a:srgbClr val="2B3648"/>
                </a:solidFill>
                <a:latin typeface="Times New Roman"/>
              </a:rPr>
              <a:t>người</a:t>
            </a:r>
            <a:r>
              <a:rPr sz="2400" b="0" i="0" dirty="0">
                <a:solidFill>
                  <a:srgbClr val="2B3648"/>
                </a:solidFill>
                <a:latin typeface="Times New Roman"/>
              </a:rPr>
              <a:t> </a:t>
            </a:r>
            <a:r>
              <a:rPr sz="2400" b="0" i="0" dirty="0" err="1">
                <a:solidFill>
                  <a:srgbClr val="2B3648"/>
                </a:solidFill>
                <a:latin typeface="Times New Roman"/>
              </a:rPr>
              <a:t>có</a:t>
            </a:r>
            <a:r>
              <a:rPr sz="2400" b="0" i="0" dirty="0">
                <a:solidFill>
                  <a:srgbClr val="2B3648"/>
                </a:solidFill>
                <a:latin typeface="Times New Roman"/>
              </a:rPr>
              <a:t> </a:t>
            </a:r>
            <a:r>
              <a:rPr sz="2400" b="0" i="0" dirty="0" err="1">
                <a:solidFill>
                  <a:srgbClr val="2B3648"/>
                </a:solidFill>
                <a:latin typeface="Times New Roman"/>
              </a:rPr>
              <a:t>thể</a:t>
            </a:r>
            <a:r>
              <a:rPr sz="2400" b="0" i="0" dirty="0">
                <a:solidFill>
                  <a:srgbClr val="2B3648"/>
                </a:solidFill>
                <a:latin typeface="Times New Roman"/>
              </a:rPr>
              <a:t> </a:t>
            </a:r>
            <a:r>
              <a:rPr sz="2400" b="0" i="0" dirty="0" err="1">
                <a:solidFill>
                  <a:srgbClr val="2B3648"/>
                </a:solidFill>
                <a:latin typeface="Times New Roman"/>
              </a:rPr>
              <a:t>phát</a:t>
            </a:r>
            <a:r>
              <a:rPr sz="2400" b="0" i="0" dirty="0">
                <a:solidFill>
                  <a:srgbClr val="2B3648"/>
                </a:solidFill>
                <a:latin typeface="Times New Roman"/>
              </a:rPr>
              <a:t> </a:t>
            </a:r>
            <a:r>
              <a:rPr sz="2400" b="0" i="0" dirty="0" err="1">
                <a:solidFill>
                  <a:srgbClr val="2B3648"/>
                </a:solidFill>
                <a:latin typeface="Times New Roman"/>
              </a:rPr>
              <a:t>triển</a:t>
            </a:r>
            <a:r>
              <a:rPr sz="2400" b="0" i="0" dirty="0">
                <a:solidFill>
                  <a:srgbClr val="2B3648"/>
                </a:solidFill>
                <a:latin typeface="Times New Roman"/>
              </a:rPr>
              <a:t> song </a:t>
            </a:r>
            <a:r>
              <a:rPr sz="2400" b="0" i="0" dirty="0" err="1">
                <a:solidFill>
                  <a:srgbClr val="2B3648"/>
                </a:solidFill>
                <a:latin typeface="Times New Roman"/>
              </a:rPr>
              <a:t>song</a:t>
            </a:r>
            <a:endParaRPr sz="2400" b="0" i="0" dirty="0">
              <a:solidFill>
                <a:srgbClr val="2B3648"/>
              </a:solidFill>
              <a:latin typeface="Times New Roman"/>
            </a:endParaRPr>
          </a:p>
        </p:txBody>
      </p:sp>
      <p:cxnSp>
        <p:nvCxnSpPr>
          <p:cNvPr id="14" name="Connector 13"/>
          <p:cNvCxnSpPr/>
          <p:nvPr/>
        </p:nvCxnSpPr>
        <p:spPr>
          <a:xfrm>
            <a:off x="5806440" y="3337560"/>
            <a:ext cx="502920" cy="0"/>
          </a:xfrm>
          <a:prstGeom prst="line">
            <a:avLst/>
          </a:prstGeom>
          <a:ln w="38100">
            <a:solidFill>
              <a:srgbClr val="F2B13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29000" y="5486400"/>
            <a:ext cx="5120640" cy="347472"/>
          </a:xfrm>
          <a:prstGeom prst="roundRect">
            <a:avLst/>
          </a:prstGeom>
          <a:solidFill>
            <a:srgbClr val="FFF5DB"/>
          </a:solidFill>
          <a:ln>
            <a:solidFill>
              <a:srgbClr val="FFF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0" y="5513832"/>
            <a:ext cx="5029200" cy="256032"/>
          </a:xfrm>
          <a:prstGeom prst="rect">
            <a:avLst/>
          </a:prstGeom>
          <a:noFill/>
        </p:spPr>
        <p:txBody>
          <a:bodyPr wrap="square" lIns="54864" tIns="54864" rIns="54864" bIns="54864" anchor="ctr">
            <a:spAutoFit/>
          </a:bodyPr>
          <a:lstStyle/>
          <a:p>
            <a:pPr algn="ctr">
              <a:spcAft>
                <a:spcPts val="500"/>
              </a:spcAft>
            </a:pPr>
            <a:r>
              <a:rPr sz="1300" b="1" i="0">
                <a:solidFill>
                  <a:srgbClr val="182A4C"/>
                </a:solidFill>
                <a:latin typeface="Times New Roman"/>
              </a:rPr>
              <a:t>MỤC TIÊU: TÁCH BIỆT TRÁCH NHIỆM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66928"/>
          </a:xfrm>
          <a:prstGeom prst="rect">
            <a:avLst/>
          </a:prstGeom>
          <a:noFill/>
        </p:spPr>
        <p:txBody>
          <a:bodyPr wrap="square" lIns="54864" tIns="54864" rIns="54864" bIns="54864" anchor="t">
            <a:spAutoFit/>
          </a:bodyPr>
          <a:lstStyle/>
          <a:p>
            <a:pPr algn="l">
              <a:spcAft>
                <a:spcPts val="500"/>
              </a:spcAft>
            </a:pPr>
            <a:r>
              <a:rPr sz="2700" b="1" i="0">
                <a:solidFill>
                  <a:srgbClr val="182A4C"/>
                </a:solidFill>
                <a:latin typeface="Times New Roman"/>
              </a:rPr>
              <a:t>Kiến trúc 3 Layers / 3 Tiers là gì?</a:t>
            </a:r>
          </a:p>
        </p:txBody>
      </p:sp>
      <p:sp>
        <p:nvSpPr>
          <p:cNvPr id="3" name="Rectangle 2"/>
          <p:cNvSpPr/>
          <p:nvPr/>
        </p:nvSpPr>
        <p:spPr>
          <a:xfrm>
            <a:off x="612648" y="969264"/>
            <a:ext cx="822960" cy="50292"/>
          </a:xfrm>
          <a:prstGeom prst="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44200" y="6473952"/>
            <a:ext cx="914400" cy="182880"/>
          </a:xfrm>
          <a:prstGeom prst="rect">
            <a:avLst/>
          </a:prstGeom>
          <a:noFill/>
        </p:spPr>
        <p:txBody>
          <a:bodyPr wrap="square" lIns="54864" tIns="54864" rIns="54864" bIns="54864" anchor="t">
            <a:spAutoFit/>
          </a:bodyPr>
          <a:lstStyle/>
          <a:p>
            <a:pPr algn="r">
              <a:spcAft>
                <a:spcPts val="500"/>
              </a:spcAft>
            </a:pPr>
            <a:r>
              <a:rPr sz="900" b="0" i="0">
                <a:solidFill>
                  <a:srgbClr val="667387"/>
                </a:solidFill>
                <a:latin typeface="Times New Roman"/>
              </a:rPr>
              <a:t>04  /  13</a:t>
            </a:r>
          </a:p>
        </p:txBody>
      </p:sp>
      <p:sp>
        <p:nvSpPr>
          <p:cNvPr id="6" name="TextBox 5"/>
          <p:cNvSpPr txBox="1"/>
          <p:nvPr/>
        </p:nvSpPr>
        <p:spPr>
          <a:xfrm>
            <a:off x="822960" y="1645920"/>
            <a:ext cx="4846320" cy="457200"/>
          </a:xfrm>
          <a:prstGeom prst="rect">
            <a:avLst/>
          </a:prstGeom>
          <a:noFill/>
        </p:spPr>
        <p:txBody>
          <a:bodyPr wrap="square" lIns="54864" tIns="54864" rIns="54864" bIns="54864" anchor="t">
            <a:spAutoFit/>
          </a:bodyPr>
          <a:lstStyle/>
          <a:p>
            <a:pPr algn="l">
              <a:spcAft>
                <a:spcPts val="500"/>
              </a:spcAft>
            </a:pPr>
            <a:r>
              <a:rPr sz="2200" b="1" i="0">
                <a:solidFill>
                  <a:srgbClr val="3669C9"/>
                </a:solidFill>
                <a:latin typeface="Times New Roman"/>
              </a:rPr>
              <a:t>3-Layer Architecture</a:t>
            </a:r>
          </a:p>
        </p:txBody>
      </p:sp>
      <p:sp>
        <p:nvSpPr>
          <p:cNvPr id="7" name="TextBox 6"/>
          <p:cNvSpPr txBox="1"/>
          <p:nvPr/>
        </p:nvSpPr>
        <p:spPr>
          <a:xfrm>
            <a:off x="822960" y="2240280"/>
            <a:ext cx="4800600" cy="1588127"/>
          </a:xfrm>
          <a:prstGeom prst="rect">
            <a:avLst/>
          </a:prstGeom>
          <a:noFill/>
        </p:spPr>
        <p:txBody>
          <a:bodyPr wrap="square" lIns="54864" tIns="54864" rIns="54864" bIns="54864" anchor="t">
            <a:spAutoFit/>
          </a:bodyPr>
          <a:lstStyle/>
          <a:p>
            <a:pPr algn="l">
              <a:spcAft>
                <a:spcPts val="500"/>
              </a:spcAft>
            </a:pPr>
            <a:r>
              <a:rPr sz="2400" b="0" i="0" dirty="0">
                <a:solidFill>
                  <a:srgbClr val="2B3648"/>
                </a:solidFill>
                <a:latin typeface="Times New Roman"/>
              </a:rPr>
              <a:t>Chia </a:t>
            </a:r>
            <a:r>
              <a:rPr sz="2400" b="0" i="0" dirty="0" err="1">
                <a:solidFill>
                  <a:srgbClr val="2B3648"/>
                </a:solidFill>
                <a:latin typeface="Times New Roman"/>
              </a:rPr>
              <a:t>mã</a:t>
            </a:r>
            <a:r>
              <a:rPr sz="2400" b="0" i="0" dirty="0">
                <a:solidFill>
                  <a:srgbClr val="2B3648"/>
                </a:solidFill>
                <a:latin typeface="Times New Roman"/>
              </a:rPr>
              <a:t> </a:t>
            </a:r>
            <a:r>
              <a:rPr sz="2400" b="0" i="0" dirty="0" err="1">
                <a:solidFill>
                  <a:srgbClr val="2B3648"/>
                </a:solidFill>
                <a:latin typeface="Times New Roman"/>
              </a:rPr>
              <a:t>nguồn</a:t>
            </a:r>
            <a:r>
              <a:rPr sz="2400" b="0" i="0" dirty="0">
                <a:solidFill>
                  <a:srgbClr val="2B3648"/>
                </a:solidFill>
                <a:latin typeface="Times New Roman"/>
              </a:rPr>
              <a:t> </a:t>
            </a:r>
            <a:r>
              <a:rPr sz="2400" b="0" i="0" dirty="0" err="1">
                <a:solidFill>
                  <a:srgbClr val="2B3648"/>
                </a:solidFill>
                <a:latin typeface="Times New Roman"/>
              </a:rPr>
              <a:t>thành</a:t>
            </a:r>
            <a:r>
              <a:rPr sz="2400" b="0" i="0" dirty="0">
                <a:solidFill>
                  <a:srgbClr val="2B3648"/>
                </a:solidFill>
                <a:latin typeface="Times New Roman"/>
              </a:rPr>
              <a:t> </a:t>
            </a:r>
            <a:r>
              <a:rPr sz="2400" b="0" i="0" dirty="0" err="1">
                <a:solidFill>
                  <a:srgbClr val="2B3648"/>
                </a:solidFill>
                <a:latin typeface="Times New Roman"/>
              </a:rPr>
              <a:t>các</a:t>
            </a:r>
            <a:r>
              <a:rPr sz="2400" b="0" i="0" dirty="0">
                <a:solidFill>
                  <a:srgbClr val="2B3648"/>
                </a:solidFill>
                <a:latin typeface="Times New Roman"/>
              </a:rPr>
              <a:t> </a:t>
            </a:r>
            <a:r>
              <a:rPr sz="2400" b="0" i="0" dirty="0" err="1">
                <a:solidFill>
                  <a:srgbClr val="2B3648"/>
                </a:solidFill>
                <a:latin typeface="Times New Roman"/>
              </a:rPr>
              <a:t>lớp</a:t>
            </a:r>
            <a:r>
              <a:rPr sz="2400" b="0" i="0" dirty="0">
                <a:solidFill>
                  <a:srgbClr val="2B3648"/>
                </a:solidFill>
                <a:latin typeface="Times New Roman"/>
              </a:rPr>
              <a:t> logic: </a:t>
            </a:r>
            <a:r>
              <a:rPr sz="2400" b="0" i="0" dirty="0" err="1">
                <a:solidFill>
                  <a:srgbClr val="2B3648"/>
                </a:solidFill>
                <a:latin typeface="Times New Roman"/>
              </a:rPr>
              <a:t>giao</a:t>
            </a:r>
            <a:r>
              <a:rPr sz="2400" b="0" i="0" dirty="0">
                <a:solidFill>
                  <a:srgbClr val="2B3648"/>
                </a:solidFill>
                <a:latin typeface="Times New Roman"/>
              </a:rPr>
              <a:t> </a:t>
            </a:r>
            <a:r>
              <a:rPr sz="2400" b="0" i="0" dirty="0" err="1">
                <a:solidFill>
                  <a:srgbClr val="2B3648"/>
                </a:solidFill>
                <a:latin typeface="Times New Roman"/>
              </a:rPr>
              <a:t>diện</a:t>
            </a:r>
            <a:r>
              <a:rPr sz="2400" b="0" i="0" dirty="0">
                <a:solidFill>
                  <a:srgbClr val="2B3648"/>
                </a:solidFill>
                <a:latin typeface="Times New Roman"/>
              </a:rPr>
              <a:t>, </a:t>
            </a:r>
            <a:r>
              <a:rPr sz="2400" b="0" i="0" dirty="0" err="1">
                <a:solidFill>
                  <a:srgbClr val="2B3648"/>
                </a:solidFill>
                <a:latin typeface="Times New Roman"/>
              </a:rPr>
              <a:t>nghiệp</a:t>
            </a:r>
            <a:r>
              <a:rPr sz="2400" b="0" i="0" dirty="0">
                <a:solidFill>
                  <a:srgbClr val="2B3648"/>
                </a:solidFill>
                <a:latin typeface="Times New Roman"/>
              </a:rPr>
              <a:t> </a:t>
            </a:r>
            <a:r>
              <a:rPr sz="2400" b="0" i="0" dirty="0" err="1">
                <a:solidFill>
                  <a:srgbClr val="2B3648"/>
                </a:solidFill>
                <a:latin typeface="Times New Roman"/>
              </a:rPr>
              <a:t>vụ</a:t>
            </a:r>
            <a:r>
              <a:rPr sz="2400" b="0" i="0" dirty="0">
                <a:solidFill>
                  <a:srgbClr val="2B3648"/>
                </a:solidFill>
                <a:latin typeface="Times New Roman"/>
              </a:rPr>
              <a:t> </a:t>
            </a:r>
            <a:r>
              <a:rPr sz="2400" b="0" i="0" dirty="0" err="1">
                <a:solidFill>
                  <a:srgbClr val="2B3648"/>
                </a:solidFill>
                <a:latin typeface="Times New Roman"/>
              </a:rPr>
              <a:t>và</a:t>
            </a:r>
            <a:r>
              <a:rPr sz="2400" b="0" i="0" dirty="0">
                <a:solidFill>
                  <a:srgbClr val="2B3648"/>
                </a:solidFill>
                <a:latin typeface="Times New Roman"/>
              </a:rPr>
              <a:t> </a:t>
            </a:r>
            <a:r>
              <a:rPr sz="2400" b="0" i="0" dirty="0" err="1">
                <a:solidFill>
                  <a:srgbClr val="2B3648"/>
                </a:solidFill>
                <a:latin typeface="Times New Roman"/>
              </a:rPr>
              <a:t>truy</a:t>
            </a:r>
            <a:r>
              <a:rPr sz="2400" b="0" i="0" dirty="0">
                <a:solidFill>
                  <a:srgbClr val="2B3648"/>
                </a:solidFill>
                <a:latin typeface="Times New Roman"/>
              </a:rPr>
              <a:t> </a:t>
            </a:r>
            <a:r>
              <a:rPr sz="2400" b="0" i="0" dirty="0" err="1">
                <a:solidFill>
                  <a:srgbClr val="2B3648"/>
                </a:solidFill>
                <a:latin typeface="Times New Roman"/>
              </a:rPr>
              <a:t>cập</a:t>
            </a:r>
            <a:r>
              <a:rPr sz="2400" b="0" i="0" dirty="0">
                <a:solidFill>
                  <a:srgbClr val="2B3648"/>
                </a:solidFill>
                <a:latin typeface="Times New Roman"/>
              </a:rPr>
              <a:t> </a:t>
            </a:r>
            <a:r>
              <a:rPr sz="2400" b="0" i="0" dirty="0" err="1">
                <a:solidFill>
                  <a:srgbClr val="2B3648"/>
                </a:solidFill>
                <a:latin typeface="Times New Roman"/>
              </a:rPr>
              <a:t>dữ</a:t>
            </a:r>
            <a:r>
              <a:rPr sz="2400" b="0" i="0" dirty="0">
                <a:solidFill>
                  <a:srgbClr val="2B3648"/>
                </a:solidFill>
                <a:latin typeface="Times New Roman"/>
              </a:rPr>
              <a:t> </a:t>
            </a:r>
            <a:r>
              <a:rPr sz="2400" b="0" i="0" dirty="0" err="1">
                <a:solidFill>
                  <a:srgbClr val="2B3648"/>
                </a:solidFill>
                <a:latin typeface="Times New Roman"/>
              </a:rPr>
              <a:t>liệu</a:t>
            </a:r>
            <a:r>
              <a:rPr sz="2400" b="0" i="0" dirty="0">
                <a:solidFill>
                  <a:srgbClr val="2B3648"/>
                </a:solidFill>
                <a:latin typeface="Times New Roman"/>
              </a:rPr>
              <a:t>. </a:t>
            </a:r>
            <a:r>
              <a:rPr sz="2400" b="0" i="0" dirty="0" err="1">
                <a:solidFill>
                  <a:srgbClr val="2B3648"/>
                </a:solidFill>
                <a:latin typeface="Times New Roman"/>
              </a:rPr>
              <a:t>Các</a:t>
            </a:r>
            <a:r>
              <a:rPr sz="2400" b="0" i="0" dirty="0">
                <a:solidFill>
                  <a:srgbClr val="2B3648"/>
                </a:solidFill>
                <a:latin typeface="Times New Roman"/>
              </a:rPr>
              <a:t> </a:t>
            </a:r>
            <a:r>
              <a:rPr sz="2400" b="0" i="0" dirty="0" err="1">
                <a:solidFill>
                  <a:srgbClr val="2B3648"/>
                </a:solidFill>
                <a:latin typeface="Times New Roman"/>
              </a:rPr>
              <a:t>lớp</a:t>
            </a:r>
            <a:r>
              <a:rPr sz="2400" b="0" i="0" dirty="0">
                <a:solidFill>
                  <a:srgbClr val="2B3648"/>
                </a:solidFill>
                <a:latin typeface="Times New Roman"/>
              </a:rPr>
              <a:t> </a:t>
            </a:r>
            <a:r>
              <a:rPr sz="2400" b="0" i="0" dirty="0" err="1">
                <a:solidFill>
                  <a:srgbClr val="2B3648"/>
                </a:solidFill>
                <a:latin typeface="Times New Roman"/>
              </a:rPr>
              <a:t>thường</a:t>
            </a:r>
            <a:r>
              <a:rPr sz="2400" b="0" i="0" dirty="0">
                <a:solidFill>
                  <a:srgbClr val="2B3648"/>
                </a:solidFill>
                <a:latin typeface="Times New Roman"/>
              </a:rPr>
              <a:t> </a:t>
            </a:r>
            <a:r>
              <a:rPr sz="2400" b="0" i="0" dirty="0" err="1">
                <a:solidFill>
                  <a:srgbClr val="2B3648"/>
                </a:solidFill>
                <a:latin typeface="Times New Roman"/>
              </a:rPr>
              <a:t>chạy</a:t>
            </a:r>
            <a:r>
              <a:rPr sz="2400" b="0" i="0" dirty="0">
                <a:solidFill>
                  <a:srgbClr val="2B3648"/>
                </a:solidFill>
                <a:latin typeface="Times New Roman"/>
              </a:rPr>
              <a:t> </a:t>
            </a:r>
            <a:r>
              <a:rPr sz="2400" b="0" i="0" dirty="0" err="1">
                <a:solidFill>
                  <a:srgbClr val="2B3648"/>
                </a:solidFill>
                <a:latin typeface="Times New Roman"/>
              </a:rPr>
              <a:t>trong</a:t>
            </a:r>
            <a:r>
              <a:rPr sz="2400" b="0" i="0" dirty="0">
                <a:solidFill>
                  <a:srgbClr val="2B3648"/>
                </a:solidFill>
                <a:latin typeface="Times New Roman"/>
              </a:rPr>
              <a:t> </a:t>
            </a:r>
            <a:r>
              <a:rPr sz="2400" b="0" i="0" dirty="0" err="1">
                <a:solidFill>
                  <a:srgbClr val="2B3648"/>
                </a:solidFill>
                <a:latin typeface="Times New Roman"/>
              </a:rPr>
              <a:t>cùng</a:t>
            </a:r>
            <a:r>
              <a:rPr sz="2400" b="0" i="0" dirty="0">
                <a:solidFill>
                  <a:srgbClr val="2B3648"/>
                </a:solidFill>
                <a:latin typeface="Times New Roman"/>
              </a:rPr>
              <a:t> </a:t>
            </a:r>
            <a:r>
              <a:rPr sz="2400" b="0" i="0" dirty="0" err="1">
                <a:solidFill>
                  <a:srgbClr val="2B3648"/>
                </a:solidFill>
                <a:latin typeface="Times New Roman"/>
              </a:rPr>
              <a:t>một</a:t>
            </a:r>
            <a:r>
              <a:rPr sz="2400" b="0" i="0" dirty="0">
                <a:solidFill>
                  <a:srgbClr val="2B3648"/>
                </a:solidFill>
                <a:latin typeface="Times New Roman"/>
              </a:rPr>
              <a:t> </a:t>
            </a:r>
            <a:r>
              <a:rPr sz="2400" b="0" i="0" dirty="0" err="1">
                <a:solidFill>
                  <a:srgbClr val="2B3648"/>
                </a:solidFill>
                <a:latin typeface="Times New Roman"/>
              </a:rPr>
              <a:t>tiến</a:t>
            </a:r>
            <a:r>
              <a:rPr sz="2400" b="0" i="0" dirty="0">
                <a:solidFill>
                  <a:srgbClr val="2B3648"/>
                </a:solidFill>
                <a:latin typeface="Times New Roman"/>
              </a:rPr>
              <a:t> </a:t>
            </a:r>
            <a:r>
              <a:rPr sz="2400" b="0" i="0" dirty="0" err="1">
                <a:solidFill>
                  <a:srgbClr val="2B3648"/>
                </a:solidFill>
                <a:latin typeface="Times New Roman"/>
              </a:rPr>
              <a:t>trình</a:t>
            </a:r>
            <a:r>
              <a:rPr sz="2400" b="0" i="0" dirty="0">
                <a:solidFill>
                  <a:srgbClr val="2B3648"/>
                </a:solidFill>
                <a:latin typeface="Times New Roman"/>
              </a:rPr>
              <a:t>.</a:t>
            </a:r>
          </a:p>
        </p:txBody>
      </p:sp>
      <p:sp>
        <p:nvSpPr>
          <p:cNvPr id="8" name="TextBox 7"/>
          <p:cNvSpPr txBox="1"/>
          <p:nvPr/>
        </p:nvSpPr>
        <p:spPr>
          <a:xfrm>
            <a:off x="6309360" y="1645920"/>
            <a:ext cx="4846320" cy="457200"/>
          </a:xfrm>
          <a:prstGeom prst="rect">
            <a:avLst/>
          </a:prstGeom>
          <a:noFill/>
        </p:spPr>
        <p:txBody>
          <a:bodyPr wrap="square" lIns="54864" tIns="54864" rIns="54864" bIns="54864" anchor="t">
            <a:spAutoFit/>
          </a:bodyPr>
          <a:lstStyle/>
          <a:p>
            <a:pPr algn="l">
              <a:spcAft>
                <a:spcPts val="500"/>
              </a:spcAft>
            </a:pPr>
            <a:r>
              <a:rPr sz="2200" b="1" i="0">
                <a:solidFill>
                  <a:srgbClr val="229691"/>
                </a:solidFill>
                <a:latin typeface="Times New Roman"/>
              </a:rPr>
              <a:t>3-Tier Architecture</a:t>
            </a:r>
          </a:p>
        </p:txBody>
      </p:sp>
      <p:sp>
        <p:nvSpPr>
          <p:cNvPr id="9" name="TextBox 8"/>
          <p:cNvSpPr txBox="1"/>
          <p:nvPr/>
        </p:nvSpPr>
        <p:spPr>
          <a:xfrm>
            <a:off x="6309360" y="2240280"/>
            <a:ext cx="4846320" cy="1957459"/>
          </a:xfrm>
          <a:prstGeom prst="rect">
            <a:avLst/>
          </a:prstGeom>
          <a:noFill/>
        </p:spPr>
        <p:txBody>
          <a:bodyPr wrap="square" lIns="54864" tIns="54864" rIns="54864" bIns="54864" anchor="t">
            <a:spAutoFit/>
          </a:bodyPr>
          <a:lstStyle/>
          <a:p>
            <a:pPr algn="l">
              <a:spcAft>
                <a:spcPts val="500"/>
              </a:spcAft>
            </a:pPr>
            <a:r>
              <a:rPr sz="2400" b="0" i="0" dirty="0">
                <a:solidFill>
                  <a:srgbClr val="2B3648"/>
                </a:solidFill>
                <a:latin typeface="Times New Roman"/>
              </a:rPr>
              <a:t>Chia </a:t>
            </a:r>
            <a:r>
              <a:rPr sz="2400" b="0" i="0" dirty="0" err="1">
                <a:solidFill>
                  <a:srgbClr val="2B3648"/>
                </a:solidFill>
                <a:latin typeface="Times New Roman"/>
              </a:rPr>
              <a:t>hệ</a:t>
            </a:r>
            <a:r>
              <a:rPr sz="2400" b="0" i="0" dirty="0">
                <a:solidFill>
                  <a:srgbClr val="2B3648"/>
                </a:solidFill>
                <a:latin typeface="Times New Roman"/>
              </a:rPr>
              <a:t> </a:t>
            </a:r>
            <a:r>
              <a:rPr sz="2400" b="0" i="0" dirty="0" err="1">
                <a:solidFill>
                  <a:srgbClr val="2B3648"/>
                </a:solidFill>
                <a:latin typeface="Times New Roman"/>
              </a:rPr>
              <a:t>thống</a:t>
            </a:r>
            <a:r>
              <a:rPr sz="2400" b="0" i="0" dirty="0">
                <a:solidFill>
                  <a:srgbClr val="2B3648"/>
                </a:solidFill>
                <a:latin typeface="Times New Roman"/>
              </a:rPr>
              <a:t> </a:t>
            </a:r>
            <a:r>
              <a:rPr sz="2400" b="0" i="0" dirty="0" err="1">
                <a:solidFill>
                  <a:srgbClr val="2B3648"/>
                </a:solidFill>
                <a:latin typeface="Times New Roman"/>
              </a:rPr>
              <a:t>thành</a:t>
            </a:r>
            <a:r>
              <a:rPr sz="2400" b="0" i="0" dirty="0">
                <a:solidFill>
                  <a:srgbClr val="2B3648"/>
                </a:solidFill>
                <a:latin typeface="Times New Roman"/>
              </a:rPr>
              <a:t> </a:t>
            </a:r>
            <a:r>
              <a:rPr sz="2400" b="0" i="0" dirty="0" err="1">
                <a:solidFill>
                  <a:srgbClr val="2B3648"/>
                </a:solidFill>
                <a:latin typeface="Times New Roman"/>
              </a:rPr>
              <a:t>các</a:t>
            </a:r>
            <a:r>
              <a:rPr sz="2400" b="0" i="0" dirty="0">
                <a:solidFill>
                  <a:srgbClr val="2B3648"/>
                </a:solidFill>
                <a:latin typeface="Times New Roman"/>
              </a:rPr>
              <a:t> </a:t>
            </a:r>
            <a:r>
              <a:rPr sz="2400" b="0" i="0" dirty="0" err="1">
                <a:solidFill>
                  <a:srgbClr val="2B3648"/>
                </a:solidFill>
                <a:latin typeface="Times New Roman"/>
              </a:rPr>
              <a:t>tầng</a:t>
            </a:r>
            <a:r>
              <a:rPr sz="2400" b="0" i="0" dirty="0">
                <a:solidFill>
                  <a:srgbClr val="2B3648"/>
                </a:solidFill>
                <a:latin typeface="Times New Roman"/>
              </a:rPr>
              <a:t> </a:t>
            </a:r>
            <a:r>
              <a:rPr sz="2400" b="0" i="0" dirty="0" err="1">
                <a:solidFill>
                  <a:srgbClr val="2B3648"/>
                </a:solidFill>
                <a:latin typeface="Times New Roman"/>
              </a:rPr>
              <a:t>triển</a:t>
            </a:r>
            <a:r>
              <a:rPr sz="2400" b="0" i="0" dirty="0">
                <a:solidFill>
                  <a:srgbClr val="2B3648"/>
                </a:solidFill>
                <a:latin typeface="Times New Roman"/>
              </a:rPr>
              <a:t> </a:t>
            </a:r>
            <a:r>
              <a:rPr sz="2400" b="0" i="0" dirty="0" err="1">
                <a:solidFill>
                  <a:srgbClr val="2B3648"/>
                </a:solidFill>
                <a:latin typeface="Times New Roman"/>
              </a:rPr>
              <a:t>khai</a:t>
            </a:r>
            <a:r>
              <a:rPr sz="2400" b="0" i="0" dirty="0">
                <a:solidFill>
                  <a:srgbClr val="2B3648"/>
                </a:solidFill>
                <a:latin typeface="Times New Roman"/>
              </a:rPr>
              <a:t> </a:t>
            </a:r>
            <a:r>
              <a:rPr sz="2400" b="0" i="0" dirty="0" err="1">
                <a:solidFill>
                  <a:srgbClr val="2B3648"/>
                </a:solidFill>
                <a:latin typeface="Times New Roman"/>
              </a:rPr>
              <a:t>có</a:t>
            </a:r>
            <a:r>
              <a:rPr sz="2400" b="0" i="0" dirty="0">
                <a:solidFill>
                  <a:srgbClr val="2B3648"/>
                </a:solidFill>
                <a:latin typeface="Times New Roman"/>
              </a:rPr>
              <a:t> </a:t>
            </a:r>
            <a:r>
              <a:rPr sz="2400" b="0" i="0" dirty="0" err="1">
                <a:solidFill>
                  <a:srgbClr val="2B3648"/>
                </a:solidFill>
                <a:latin typeface="Times New Roman"/>
              </a:rPr>
              <a:t>thể</a:t>
            </a:r>
            <a:r>
              <a:rPr sz="2400" b="0" i="0" dirty="0">
                <a:solidFill>
                  <a:srgbClr val="2B3648"/>
                </a:solidFill>
                <a:latin typeface="Times New Roman"/>
              </a:rPr>
              <a:t> </a:t>
            </a:r>
            <a:r>
              <a:rPr sz="2400" b="0" i="0" dirty="0" err="1">
                <a:solidFill>
                  <a:srgbClr val="2B3648"/>
                </a:solidFill>
                <a:latin typeface="Times New Roman"/>
              </a:rPr>
              <a:t>nằm</a:t>
            </a:r>
            <a:r>
              <a:rPr sz="2400" b="0" i="0" dirty="0">
                <a:solidFill>
                  <a:srgbClr val="2B3648"/>
                </a:solidFill>
                <a:latin typeface="Times New Roman"/>
              </a:rPr>
              <a:t> </a:t>
            </a:r>
            <a:r>
              <a:rPr sz="2400" b="0" i="0" dirty="0" err="1">
                <a:solidFill>
                  <a:srgbClr val="2B3648"/>
                </a:solidFill>
                <a:latin typeface="Times New Roman"/>
              </a:rPr>
              <a:t>trên</a:t>
            </a:r>
            <a:r>
              <a:rPr sz="2400" b="0" i="0" dirty="0">
                <a:solidFill>
                  <a:srgbClr val="2B3648"/>
                </a:solidFill>
                <a:latin typeface="Times New Roman"/>
              </a:rPr>
              <a:t> </a:t>
            </a:r>
            <a:r>
              <a:rPr sz="2400" b="0" i="0" dirty="0" err="1">
                <a:solidFill>
                  <a:srgbClr val="2B3648"/>
                </a:solidFill>
                <a:latin typeface="Times New Roman"/>
              </a:rPr>
              <a:t>các</a:t>
            </a:r>
            <a:r>
              <a:rPr sz="2400" b="0" i="0" dirty="0">
                <a:solidFill>
                  <a:srgbClr val="2B3648"/>
                </a:solidFill>
                <a:latin typeface="Times New Roman"/>
              </a:rPr>
              <a:t> </a:t>
            </a:r>
            <a:r>
              <a:rPr sz="2400" b="0" i="0" dirty="0" err="1">
                <a:solidFill>
                  <a:srgbClr val="2B3648"/>
                </a:solidFill>
                <a:latin typeface="Times New Roman"/>
              </a:rPr>
              <a:t>máy</a:t>
            </a:r>
            <a:r>
              <a:rPr sz="2400" b="0" i="0" dirty="0">
                <a:solidFill>
                  <a:srgbClr val="2B3648"/>
                </a:solidFill>
                <a:latin typeface="Times New Roman"/>
              </a:rPr>
              <a:t> </a:t>
            </a:r>
            <a:r>
              <a:rPr sz="2400" b="0" i="0" dirty="0" err="1">
                <a:solidFill>
                  <a:srgbClr val="2B3648"/>
                </a:solidFill>
                <a:latin typeface="Times New Roman"/>
              </a:rPr>
              <a:t>hoặc</a:t>
            </a:r>
            <a:r>
              <a:rPr sz="2400" b="0" i="0" dirty="0">
                <a:solidFill>
                  <a:srgbClr val="2B3648"/>
                </a:solidFill>
                <a:latin typeface="Times New Roman"/>
              </a:rPr>
              <a:t> </a:t>
            </a:r>
            <a:r>
              <a:rPr sz="2400" b="0" i="0" dirty="0" err="1">
                <a:solidFill>
                  <a:srgbClr val="2B3648"/>
                </a:solidFill>
                <a:latin typeface="Times New Roman"/>
              </a:rPr>
              <a:t>tiến</a:t>
            </a:r>
            <a:r>
              <a:rPr sz="2400" b="0" i="0" dirty="0">
                <a:solidFill>
                  <a:srgbClr val="2B3648"/>
                </a:solidFill>
                <a:latin typeface="Times New Roman"/>
              </a:rPr>
              <a:t> </a:t>
            </a:r>
            <a:r>
              <a:rPr sz="2400" b="0" i="0" dirty="0" err="1">
                <a:solidFill>
                  <a:srgbClr val="2B3648"/>
                </a:solidFill>
                <a:latin typeface="Times New Roman"/>
              </a:rPr>
              <a:t>trình</a:t>
            </a:r>
            <a:r>
              <a:rPr sz="2400" b="0" i="0" dirty="0">
                <a:solidFill>
                  <a:srgbClr val="2B3648"/>
                </a:solidFill>
                <a:latin typeface="Times New Roman"/>
              </a:rPr>
              <a:t> </a:t>
            </a:r>
            <a:r>
              <a:rPr sz="2400" b="0" i="0" dirty="0" err="1">
                <a:solidFill>
                  <a:srgbClr val="2B3648"/>
                </a:solidFill>
                <a:latin typeface="Times New Roman"/>
              </a:rPr>
              <a:t>khác</a:t>
            </a:r>
            <a:r>
              <a:rPr sz="2400" b="0" i="0" dirty="0">
                <a:solidFill>
                  <a:srgbClr val="2B3648"/>
                </a:solidFill>
                <a:latin typeface="Times New Roman"/>
              </a:rPr>
              <a:t> </a:t>
            </a:r>
            <a:r>
              <a:rPr sz="2400" b="0" i="0" dirty="0" err="1">
                <a:solidFill>
                  <a:srgbClr val="2B3648"/>
                </a:solidFill>
                <a:latin typeface="Times New Roman"/>
              </a:rPr>
              <a:t>nhau</a:t>
            </a:r>
            <a:r>
              <a:rPr sz="2400" b="0" i="0" dirty="0">
                <a:solidFill>
                  <a:srgbClr val="2B3648"/>
                </a:solidFill>
                <a:latin typeface="Times New Roman"/>
              </a:rPr>
              <a:t>, </a:t>
            </a:r>
            <a:r>
              <a:rPr sz="2400" b="0" i="0" dirty="0" err="1">
                <a:solidFill>
                  <a:srgbClr val="2B3648"/>
                </a:solidFill>
                <a:latin typeface="Times New Roman"/>
              </a:rPr>
              <a:t>ví</a:t>
            </a:r>
            <a:r>
              <a:rPr sz="2400" b="0" i="0" dirty="0">
                <a:solidFill>
                  <a:srgbClr val="2B3648"/>
                </a:solidFill>
                <a:latin typeface="Times New Roman"/>
              </a:rPr>
              <a:t> </a:t>
            </a:r>
            <a:r>
              <a:rPr sz="2400" b="0" i="0" dirty="0" err="1">
                <a:solidFill>
                  <a:srgbClr val="2B3648"/>
                </a:solidFill>
                <a:latin typeface="Times New Roman"/>
              </a:rPr>
              <a:t>dụ</a:t>
            </a:r>
            <a:r>
              <a:rPr sz="2400" b="0" i="0" dirty="0">
                <a:solidFill>
                  <a:srgbClr val="2B3648"/>
                </a:solidFill>
                <a:latin typeface="Times New Roman"/>
              </a:rPr>
              <a:t> </a:t>
            </a:r>
            <a:r>
              <a:rPr sz="2400" b="0" i="0" dirty="0" err="1">
                <a:solidFill>
                  <a:srgbClr val="2B3648"/>
                </a:solidFill>
                <a:latin typeface="Times New Roman"/>
              </a:rPr>
              <a:t>máy</a:t>
            </a:r>
            <a:r>
              <a:rPr sz="2400" b="0" i="0" dirty="0">
                <a:solidFill>
                  <a:srgbClr val="2B3648"/>
                </a:solidFill>
                <a:latin typeface="Times New Roman"/>
              </a:rPr>
              <a:t> </a:t>
            </a:r>
            <a:r>
              <a:rPr sz="2400" b="0" i="0" dirty="0" err="1">
                <a:solidFill>
                  <a:srgbClr val="2B3648"/>
                </a:solidFill>
                <a:latin typeface="Times New Roman"/>
              </a:rPr>
              <a:t>khách</a:t>
            </a:r>
            <a:r>
              <a:rPr sz="2400" b="0" i="0" dirty="0">
                <a:solidFill>
                  <a:srgbClr val="2B3648"/>
                </a:solidFill>
                <a:latin typeface="Times New Roman"/>
              </a:rPr>
              <a:t>, </a:t>
            </a:r>
            <a:r>
              <a:rPr sz="2400" b="0" i="0" dirty="0" err="1">
                <a:solidFill>
                  <a:srgbClr val="2B3648"/>
                </a:solidFill>
                <a:latin typeface="Times New Roman"/>
              </a:rPr>
              <a:t>máy</a:t>
            </a:r>
            <a:r>
              <a:rPr sz="2400" b="0" i="0" dirty="0">
                <a:solidFill>
                  <a:srgbClr val="2B3648"/>
                </a:solidFill>
                <a:latin typeface="Times New Roman"/>
              </a:rPr>
              <a:t> </a:t>
            </a:r>
            <a:r>
              <a:rPr sz="2400" b="0" i="0" dirty="0" err="1">
                <a:solidFill>
                  <a:srgbClr val="2B3648"/>
                </a:solidFill>
                <a:latin typeface="Times New Roman"/>
              </a:rPr>
              <a:t>chủ</a:t>
            </a:r>
            <a:r>
              <a:rPr sz="2400" b="0" i="0" dirty="0">
                <a:solidFill>
                  <a:srgbClr val="2B3648"/>
                </a:solidFill>
                <a:latin typeface="Times New Roman"/>
              </a:rPr>
              <a:t> </a:t>
            </a:r>
            <a:r>
              <a:rPr sz="2400" b="0" i="0" dirty="0" err="1">
                <a:solidFill>
                  <a:srgbClr val="2B3648"/>
                </a:solidFill>
                <a:latin typeface="Times New Roman"/>
              </a:rPr>
              <a:t>ứng</a:t>
            </a:r>
            <a:r>
              <a:rPr sz="2400" b="0" i="0" dirty="0">
                <a:solidFill>
                  <a:srgbClr val="2B3648"/>
                </a:solidFill>
                <a:latin typeface="Times New Roman"/>
              </a:rPr>
              <a:t> </a:t>
            </a:r>
            <a:r>
              <a:rPr sz="2400" b="0" i="0" dirty="0" err="1">
                <a:solidFill>
                  <a:srgbClr val="2B3648"/>
                </a:solidFill>
                <a:latin typeface="Times New Roman"/>
              </a:rPr>
              <a:t>dụng</a:t>
            </a:r>
            <a:r>
              <a:rPr sz="2400" b="0" i="0" dirty="0">
                <a:solidFill>
                  <a:srgbClr val="2B3648"/>
                </a:solidFill>
                <a:latin typeface="Times New Roman"/>
              </a:rPr>
              <a:t> </a:t>
            </a:r>
            <a:r>
              <a:rPr sz="2400" b="0" i="0" dirty="0" err="1">
                <a:solidFill>
                  <a:srgbClr val="2B3648"/>
                </a:solidFill>
                <a:latin typeface="Times New Roman"/>
              </a:rPr>
              <a:t>và</a:t>
            </a:r>
            <a:r>
              <a:rPr sz="2400" b="0" i="0" dirty="0">
                <a:solidFill>
                  <a:srgbClr val="2B3648"/>
                </a:solidFill>
                <a:latin typeface="Times New Roman"/>
              </a:rPr>
              <a:t> </a:t>
            </a:r>
            <a:r>
              <a:rPr sz="2400" b="0" i="0" dirty="0" err="1">
                <a:solidFill>
                  <a:srgbClr val="2B3648"/>
                </a:solidFill>
                <a:latin typeface="Times New Roman"/>
              </a:rPr>
              <a:t>máy</a:t>
            </a:r>
            <a:r>
              <a:rPr sz="2400" b="0" i="0" dirty="0">
                <a:solidFill>
                  <a:srgbClr val="2B3648"/>
                </a:solidFill>
                <a:latin typeface="Times New Roman"/>
              </a:rPr>
              <a:t> </a:t>
            </a:r>
            <a:r>
              <a:rPr sz="2400" b="0" i="0" dirty="0" err="1">
                <a:solidFill>
                  <a:srgbClr val="2B3648"/>
                </a:solidFill>
                <a:latin typeface="Times New Roman"/>
              </a:rPr>
              <a:t>chủ</a:t>
            </a:r>
            <a:r>
              <a:rPr sz="2400" b="0" i="0" dirty="0">
                <a:solidFill>
                  <a:srgbClr val="2B3648"/>
                </a:solidFill>
                <a:latin typeface="Times New Roman"/>
              </a:rPr>
              <a:t> </a:t>
            </a:r>
            <a:r>
              <a:rPr sz="2400" b="0" i="0" dirty="0" err="1">
                <a:solidFill>
                  <a:srgbClr val="2B3648"/>
                </a:solidFill>
                <a:latin typeface="Times New Roman"/>
              </a:rPr>
              <a:t>cơ</a:t>
            </a:r>
            <a:r>
              <a:rPr sz="2400" b="0" i="0" dirty="0">
                <a:solidFill>
                  <a:srgbClr val="2B3648"/>
                </a:solidFill>
                <a:latin typeface="Times New Roman"/>
              </a:rPr>
              <a:t> </a:t>
            </a:r>
            <a:r>
              <a:rPr sz="2400" b="0" i="0" dirty="0" err="1">
                <a:solidFill>
                  <a:srgbClr val="2B3648"/>
                </a:solidFill>
                <a:latin typeface="Times New Roman"/>
              </a:rPr>
              <a:t>sở</a:t>
            </a:r>
            <a:r>
              <a:rPr sz="2400" b="0" i="0" dirty="0">
                <a:solidFill>
                  <a:srgbClr val="2B3648"/>
                </a:solidFill>
                <a:latin typeface="Times New Roman"/>
              </a:rPr>
              <a:t> </a:t>
            </a:r>
            <a:r>
              <a:rPr sz="2400" b="0" i="0" dirty="0" err="1">
                <a:solidFill>
                  <a:srgbClr val="2B3648"/>
                </a:solidFill>
                <a:latin typeface="Times New Roman"/>
              </a:rPr>
              <a:t>dữ</a:t>
            </a:r>
            <a:r>
              <a:rPr sz="2400" b="0" i="0" dirty="0">
                <a:solidFill>
                  <a:srgbClr val="2B3648"/>
                </a:solidFill>
                <a:latin typeface="Times New Roman"/>
              </a:rPr>
              <a:t> </a:t>
            </a:r>
            <a:r>
              <a:rPr sz="2400" b="0" i="0" dirty="0" err="1">
                <a:solidFill>
                  <a:srgbClr val="2B3648"/>
                </a:solidFill>
                <a:latin typeface="Times New Roman"/>
              </a:rPr>
              <a:t>liệu</a:t>
            </a:r>
            <a:r>
              <a:rPr sz="2400" b="0" i="0" dirty="0">
                <a:solidFill>
                  <a:srgbClr val="2B3648"/>
                </a:solidFill>
                <a:latin typeface="Times New Roman"/>
              </a:rPr>
              <a:t>.</a:t>
            </a:r>
          </a:p>
        </p:txBody>
      </p:sp>
      <p:sp>
        <p:nvSpPr>
          <p:cNvPr id="10" name="Rounded Rectangle 9"/>
          <p:cNvSpPr/>
          <p:nvPr/>
        </p:nvSpPr>
        <p:spPr>
          <a:xfrm>
            <a:off x="822960" y="4206240"/>
            <a:ext cx="4800600" cy="1097280"/>
          </a:xfrm>
          <a:prstGeom prst="roundRect">
            <a:avLst/>
          </a:prstGeom>
          <a:solidFill>
            <a:srgbClr val="E5EEFD"/>
          </a:solidFill>
          <a:ln>
            <a:solidFill>
              <a:srgbClr val="E5E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2960" y="4206240"/>
            <a:ext cx="82296" cy="1097280"/>
          </a:xfrm>
          <a:prstGeom prst="rect">
            <a:avLst/>
          </a:prstGeom>
          <a:solidFill>
            <a:srgbClr val="3669C9"/>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4128" y="4352544"/>
            <a:ext cx="4434840" cy="329184"/>
          </a:xfrm>
          <a:prstGeom prst="rect">
            <a:avLst/>
          </a:prstGeom>
          <a:noFill/>
        </p:spPr>
        <p:txBody>
          <a:bodyPr wrap="square" lIns="54864" tIns="54864" rIns="54864" bIns="54864" anchor="t">
            <a:spAutoFit/>
          </a:bodyPr>
          <a:lstStyle/>
          <a:p>
            <a:pPr algn="l">
              <a:spcAft>
                <a:spcPts val="500"/>
              </a:spcAft>
            </a:pPr>
            <a:r>
              <a:rPr sz="1500" b="1" i="0">
                <a:solidFill>
                  <a:srgbClr val="182A4C"/>
                </a:solidFill>
                <a:latin typeface="Times New Roman"/>
              </a:rPr>
              <a:t>Điểm chung</a:t>
            </a:r>
          </a:p>
        </p:txBody>
      </p:sp>
      <p:sp>
        <p:nvSpPr>
          <p:cNvPr id="13" name="TextBox 12"/>
          <p:cNvSpPr txBox="1"/>
          <p:nvPr/>
        </p:nvSpPr>
        <p:spPr>
          <a:xfrm>
            <a:off x="1024128" y="4764024"/>
            <a:ext cx="4434840" cy="387798"/>
          </a:xfrm>
          <a:prstGeom prst="rect">
            <a:avLst/>
          </a:prstGeom>
          <a:noFill/>
        </p:spPr>
        <p:txBody>
          <a:bodyPr wrap="square" lIns="54864" tIns="54864" rIns="54864" bIns="54864" anchor="t">
            <a:spAutoFit/>
          </a:bodyPr>
          <a:lstStyle/>
          <a:p>
            <a:pPr algn="l">
              <a:spcAft>
                <a:spcPts val="500"/>
              </a:spcAft>
            </a:pPr>
            <a:r>
              <a:rPr b="0" i="0" dirty="0" err="1">
                <a:solidFill>
                  <a:srgbClr val="2B3648"/>
                </a:solidFill>
                <a:latin typeface="Times New Roman"/>
              </a:rPr>
              <a:t>Tách</a:t>
            </a:r>
            <a:r>
              <a:rPr b="0" i="0" dirty="0">
                <a:solidFill>
                  <a:srgbClr val="2B3648"/>
                </a:solidFill>
                <a:latin typeface="Times New Roman"/>
              </a:rPr>
              <a:t> </a:t>
            </a:r>
            <a:r>
              <a:rPr b="0" i="0" dirty="0" err="1">
                <a:solidFill>
                  <a:srgbClr val="2B3648"/>
                </a:solidFill>
                <a:latin typeface="Times New Roman"/>
              </a:rPr>
              <a:t>trách</a:t>
            </a:r>
            <a:r>
              <a:rPr b="0" i="0" dirty="0">
                <a:solidFill>
                  <a:srgbClr val="2B3648"/>
                </a:solidFill>
                <a:latin typeface="Times New Roman"/>
              </a:rPr>
              <a:t> </a:t>
            </a:r>
            <a:r>
              <a:rPr b="0" i="0" dirty="0" err="1">
                <a:solidFill>
                  <a:srgbClr val="2B3648"/>
                </a:solidFill>
                <a:latin typeface="Times New Roman"/>
              </a:rPr>
              <a:t>nhiệm</a:t>
            </a:r>
            <a:r>
              <a:rPr b="0" i="0" dirty="0">
                <a:solidFill>
                  <a:srgbClr val="2B3648"/>
                </a:solidFill>
                <a:latin typeface="Times New Roman"/>
              </a:rPr>
              <a:t> </a:t>
            </a:r>
            <a:r>
              <a:rPr b="0" i="0" dirty="0" err="1">
                <a:solidFill>
                  <a:srgbClr val="2B3648"/>
                </a:solidFill>
                <a:latin typeface="Times New Roman"/>
              </a:rPr>
              <a:t>và</a:t>
            </a:r>
            <a:r>
              <a:rPr b="0" i="0" dirty="0">
                <a:solidFill>
                  <a:srgbClr val="2B3648"/>
                </a:solidFill>
                <a:latin typeface="Times New Roman"/>
              </a:rPr>
              <a:t> </a:t>
            </a:r>
            <a:r>
              <a:rPr b="0" i="0" dirty="0" err="1">
                <a:solidFill>
                  <a:srgbClr val="2B3648"/>
                </a:solidFill>
                <a:latin typeface="Times New Roman"/>
              </a:rPr>
              <a:t>kiểm</a:t>
            </a:r>
            <a:r>
              <a:rPr b="0" i="0" dirty="0">
                <a:solidFill>
                  <a:srgbClr val="2B3648"/>
                </a:solidFill>
                <a:latin typeface="Times New Roman"/>
              </a:rPr>
              <a:t> </a:t>
            </a:r>
            <a:r>
              <a:rPr b="0" i="0" dirty="0" err="1">
                <a:solidFill>
                  <a:srgbClr val="2B3648"/>
                </a:solidFill>
                <a:latin typeface="Times New Roman"/>
              </a:rPr>
              <a:t>soát</a:t>
            </a:r>
            <a:r>
              <a:rPr b="0" i="0" dirty="0">
                <a:solidFill>
                  <a:srgbClr val="2B3648"/>
                </a:solidFill>
                <a:latin typeface="Times New Roman"/>
              </a:rPr>
              <a:t> </a:t>
            </a:r>
            <a:r>
              <a:rPr b="0" i="0" dirty="0" err="1">
                <a:solidFill>
                  <a:srgbClr val="2B3648"/>
                </a:solidFill>
                <a:latin typeface="Times New Roman"/>
              </a:rPr>
              <a:t>luồng</a:t>
            </a:r>
            <a:r>
              <a:rPr b="0" i="0" dirty="0">
                <a:solidFill>
                  <a:srgbClr val="2B3648"/>
                </a:solidFill>
                <a:latin typeface="Times New Roman"/>
              </a:rPr>
              <a:t> </a:t>
            </a:r>
            <a:r>
              <a:rPr b="0" i="0" dirty="0" err="1">
                <a:solidFill>
                  <a:srgbClr val="2B3648"/>
                </a:solidFill>
                <a:latin typeface="Times New Roman"/>
              </a:rPr>
              <a:t>trao</a:t>
            </a:r>
            <a:r>
              <a:rPr b="0" i="0" dirty="0">
                <a:solidFill>
                  <a:srgbClr val="2B3648"/>
                </a:solidFill>
                <a:latin typeface="Times New Roman"/>
              </a:rPr>
              <a:t> </a:t>
            </a:r>
            <a:r>
              <a:rPr b="0" i="0" dirty="0" err="1">
                <a:solidFill>
                  <a:srgbClr val="2B3648"/>
                </a:solidFill>
                <a:latin typeface="Times New Roman"/>
              </a:rPr>
              <a:t>đổi</a:t>
            </a:r>
            <a:r>
              <a:rPr b="0" i="0" dirty="0">
                <a:solidFill>
                  <a:srgbClr val="2B3648"/>
                </a:solidFill>
                <a:latin typeface="Times New Roman"/>
              </a:rPr>
              <a:t>.</a:t>
            </a:r>
          </a:p>
        </p:txBody>
      </p:sp>
      <p:sp>
        <p:nvSpPr>
          <p:cNvPr id="14" name="Rounded Rectangle 13"/>
          <p:cNvSpPr/>
          <p:nvPr/>
        </p:nvSpPr>
        <p:spPr>
          <a:xfrm>
            <a:off x="6309360" y="4206240"/>
            <a:ext cx="4800600" cy="1097280"/>
          </a:xfrm>
          <a:prstGeom prst="roundRect">
            <a:avLst/>
          </a:prstGeom>
          <a:solidFill>
            <a:srgbClr val="E0F5F2"/>
          </a:solidFill>
          <a:ln>
            <a:solidFill>
              <a:srgbClr val="E0F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09360" y="4206240"/>
            <a:ext cx="82296" cy="1097280"/>
          </a:xfrm>
          <a:prstGeom prst="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10528" y="4352544"/>
            <a:ext cx="4434840" cy="329184"/>
          </a:xfrm>
          <a:prstGeom prst="rect">
            <a:avLst/>
          </a:prstGeom>
          <a:noFill/>
        </p:spPr>
        <p:txBody>
          <a:bodyPr wrap="square" lIns="54864" tIns="54864" rIns="54864" bIns="54864" anchor="t">
            <a:spAutoFit/>
          </a:bodyPr>
          <a:lstStyle/>
          <a:p>
            <a:pPr algn="l">
              <a:spcAft>
                <a:spcPts val="500"/>
              </a:spcAft>
            </a:pPr>
            <a:r>
              <a:rPr sz="1500" b="1" i="0">
                <a:solidFill>
                  <a:srgbClr val="182A4C"/>
                </a:solidFill>
                <a:latin typeface="Times New Roman"/>
              </a:rPr>
              <a:t>Điểm khác biệt</a:t>
            </a:r>
          </a:p>
        </p:txBody>
      </p:sp>
      <p:sp>
        <p:nvSpPr>
          <p:cNvPr id="17" name="TextBox 16"/>
          <p:cNvSpPr txBox="1"/>
          <p:nvPr/>
        </p:nvSpPr>
        <p:spPr>
          <a:xfrm>
            <a:off x="6510528" y="4764024"/>
            <a:ext cx="4434840" cy="603242"/>
          </a:xfrm>
          <a:prstGeom prst="rect">
            <a:avLst/>
          </a:prstGeom>
          <a:noFill/>
        </p:spPr>
        <p:txBody>
          <a:bodyPr wrap="square" lIns="54864" tIns="54864" rIns="54864" bIns="54864" anchor="t">
            <a:spAutoFit/>
          </a:bodyPr>
          <a:lstStyle/>
          <a:p>
            <a:pPr algn="l">
              <a:spcAft>
                <a:spcPts val="500"/>
              </a:spcAft>
            </a:pPr>
            <a:r>
              <a:rPr sz="1600" b="0" i="0" dirty="0">
                <a:solidFill>
                  <a:srgbClr val="2B3648"/>
                </a:solidFill>
                <a:latin typeface="Times New Roman"/>
              </a:rPr>
              <a:t>Layer </a:t>
            </a:r>
            <a:r>
              <a:rPr sz="1600" b="0" i="0" dirty="0" err="1">
                <a:solidFill>
                  <a:srgbClr val="2B3648"/>
                </a:solidFill>
                <a:latin typeface="Times New Roman"/>
              </a:rPr>
              <a:t>nói</a:t>
            </a:r>
            <a:r>
              <a:rPr sz="1600" b="0" i="0" dirty="0">
                <a:solidFill>
                  <a:srgbClr val="2B3648"/>
                </a:solidFill>
                <a:latin typeface="Times New Roman"/>
              </a:rPr>
              <a:t> </a:t>
            </a:r>
            <a:r>
              <a:rPr sz="1600" b="0" i="0" dirty="0" err="1">
                <a:solidFill>
                  <a:srgbClr val="2B3648"/>
                </a:solidFill>
                <a:latin typeface="Times New Roman"/>
              </a:rPr>
              <a:t>về</a:t>
            </a:r>
            <a:r>
              <a:rPr sz="1600" b="0" i="0" dirty="0">
                <a:solidFill>
                  <a:srgbClr val="2B3648"/>
                </a:solidFill>
                <a:latin typeface="Times New Roman"/>
              </a:rPr>
              <a:t> </a:t>
            </a:r>
            <a:r>
              <a:rPr sz="1600" b="0" i="0" dirty="0" err="1">
                <a:solidFill>
                  <a:srgbClr val="2B3648"/>
                </a:solidFill>
                <a:latin typeface="Times New Roman"/>
              </a:rPr>
              <a:t>tổ</a:t>
            </a:r>
            <a:r>
              <a:rPr sz="1600" b="0" i="0" dirty="0">
                <a:solidFill>
                  <a:srgbClr val="2B3648"/>
                </a:solidFill>
                <a:latin typeface="Times New Roman"/>
              </a:rPr>
              <a:t> </a:t>
            </a:r>
            <a:r>
              <a:rPr sz="1600" b="0" i="0" dirty="0" err="1">
                <a:solidFill>
                  <a:srgbClr val="2B3648"/>
                </a:solidFill>
                <a:latin typeface="Times New Roman"/>
              </a:rPr>
              <a:t>chức</a:t>
            </a:r>
            <a:r>
              <a:rPr sz="1600" b="0" i="0" dirty="0">
                <a:solidFill>
                  <a:srgbClr val="2B3648"/>
                </a:solidFill>
                <a:latin typeface="Times New Roman"/>
              </a:rPr>
              <a:t> logic; Tier </a:t>
            </a:r>
            <a:r>
              <a:rPr sz="1600" b="0" i="0" dirty="0" err="1">
                <a:solidFill>
                  <a:srgbClr val="2B3648"/>
                </a:solidFill>
                <a:latin typeface="Times New Roman"/>
              </a:rPr>
              <a:t>nhấn</a:t>
            </a:r>
            <a:r>
              <a:rPr sz="1600" b="0" i="0" dirty="0">
                <a:solidFill>
                  <a:srgbClr val="2B3648"/>
                </a:solidFill>
                <a:latin typeface="Times New Roman"/>
              </a:rPr>
              <a:t> </a:t>
            </a:r>
            <a:r>
              <a:rPr sz="1600" b="0" i="0" dirty="0" err="1">
                <a:solidFill>
                  <a:srgbClr val="2B3648"/>
                </a:solidFill>
                <a:latin typeface="Times New Roman"/>
              </a:rPr>
              <a:t>mạnh</a:t>
            </a:r>
            <a:r>
              <a:rPr sz="1600" b="0" i="0" dirty="0">
                <a:solidFill>
                  <a:srgbClr val="2B3648"/>
                </a:solidFill>
                <a:latin typeface="Times New Roman"/>
              </a:rPr>
              <a:t> </a:t>
            </a:r>
            <a:r>
              <a:rPr sz="1600" b="0" i="0" dirty="0" err="1">
                <a:solidFill>
                  <a:srgbClr val="2B3648"/>
                </a:solidFill>
                <a:latin typeface="Times New Roman"/>
              </a:rPr>
              <a:t>ranh</a:t>
            </a:r>
            <a:r>
              <a:rPr sz="1600" b="0" i="0" dirty="0">
                <a:solidFill>
                  <a:srgbClr val="2B3648"/>
                </a:solidFill>
                <a:latin typeface="Times New Roman"/>
              </a:rPr>
              <a:t> </a:t>
            </a:r>
            <a:r>
              <a:rPr sz="1600" b="0" i="0" dirty="0" err="1">
                <a:solidFill>
                  <a:srgbClr val="2B3648"/>
                </a:solidFill>
                <a:latin typeface="Times New Roman"/>
              </a:rPr>
              <a:t>giới</a:t>
            </a:r>
            <a:r>
              <a:rPr sz="1600" b="0" i="0" dirty="0">
                <a:solidFill>
                  <a:srgbClr val="2B3648"/>
                </a:solidFill>
                <a:latin typeface="Times New Roman"/>
              </a:rPr>
              <a:t> </a:t>
            </a:r>
            <a:r>
              <a:rPr sz="1600" b="0" i="0" dirty="0" err="1">
                <a:solidFill>
                  <a:srgbClr val="2B3648"/>
                </a:solidFill>
                <a:latin typeface="Times New Roman"/>
              </a:rPr>
              <a:t>triển</a:t>
            </a:r>
            <a:r>
              <a:rPr sz="1600" b="0" i="0" dirty="0">
                <a:solidFill>
                  <a:srgbClr val="2B3648"/>
                </a:solidFill>
                <a:latin typeface="Times New Roman"/>
              </a:rPr>
              <a:t> </a:t>
            </a:r>
            <a:r>
              <a:rPr sz="1600" b="0" i="0" dirty="0" err="1">
                <a:solidFill>
                  <a:srgbClr val="2B3648"/>
                </a:solidFill>
                <a:latin typeface="Times New Roman"/>
              </a:rPr>
              <a:t>khai</a:t>
            </a:r>
            <a:r>
              <a:rPr sz="1600" b="0" i="0" dirty="0">
                <a:solidFill>
                  <a:srgbClr val="2B3648"/>
                </a:solidFill>
                <a:latin typeface="Times New Roman"/>
              </a:rPr>
              <a:t>.</a:t>
            </a:r>
          </a:p>
        </p:txBody>
      </p:sp>
      <p:sp>
        <p:nvSpPr>
          <p:cNvPr id="18" name="TextBox 17"/>
          <p:cNvSpPr txBox="1"/>
          <p:nvPr/>
        </p:nvSpPr>
        <p:spPr>
          <a:xfrm>
            <a:off x="1097280" y="5715000"/>
            <a:ext cx="9875520" cy="411480"/>
          </a:xfrm>
          <a:prstGeom prst="rect">
            <a:avLst/>
          </a:prstGeom>
          <a:noFill/>
        </p:spPr>
        <p:txBody>
          <a:bodyPr wrap="square" lIns="54864" tIns="54864" rIns="54864" bIns="54864" anchor="t">
            <a:spAutoFit/>
          </a:bodyPr>
          <a:lstStyle/>
          <a:p>
            <a:pPr algn="ctr">
              <a:spcAft>
                <a:spcPts val="500"/>
              </a:spcAft>
            </a:pPr>
            <a:r>
              <a:rPr sz="1500" b="1" i="0">
                <a:solidFill>
                  <a:srgbClr val="182A4C"/>
                </a:solidFill>
                <a:latin typeface="Times New Roman"/>
              </a:rPr>
              <a:t>Trong thực tế, hai thuật ngữ thường được dùng gần nghĩa, nhưng không hoàn toàn đồng nhất.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66928"/>
          </a:xfrm>
          <a:prstGeom prst="rect">
            <a:avLst/>
          </a:prstGeom>
          <a:noFill/>
        </p:spPr>
        <p:txBody>
          <a:bodyPr wrap="square" lIns="54864" tIns="54864" rIns="54864" bIns="54864" anchor="t">
            <a:spAutoFit/>
          </a:bodyPr>
          <a:lstStyle/>
          <a:p>
            <a:pPr algn="l">
              <a:spcAft>
                <a:spcPts val="500"/>
              </a:spcAft>
            </a:pPr>
            <a:r>
              <a:rPr sz="2700" b="1" i="0">
                <a:solidFill>
                  <a:srgbClr val="182A4C"/>
                </a:solidFill>
                <a:latin typeface="Times New Roman"/>
              </a:rPr>
              <a:t>Sơ đồ tổng quan kiến trúc 3 lớp</a:t>
            </a:r>
          </a:p>
        </p:txBody>
      </p:sp>
      <p:sp>
        <p:nvSpPr>
          <p:cNvPr id="3" name="Rectangle 2"/>
          <p:cNvSpPr/>
          <p:nvPr/>
        </p:nvSpPr>
        <p:spPr>
          <a:xfrm>
            <a:off x="612648" y="969264"/>
            <a:ext cx="822960" cy="50292"/>
          </a:xfrm>
          <a:prstGeom prst="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44200" y="6473952"/>
            <a:ext cx="914400" cy="182880"/>
          </a:xfrm>
          <a:prstGeom prst="rect">
            <a:avLst/>
          </a:prstGeom>
          <a:noFill/>
        </p:spPr>
        <p:txBody>
          <a:bodyPr wrap="square" lIns="54864" tIns="54864" rIns="54864" bIns="54864" anchor="t">
            <a:spAutoFit/>
          </a:bodyPr>
          <a:lstStyle/>
          <a:p>
            <a:pPr algn="r">
              <a:spcAft>
                <a:spcPts val="500"/>
              </a:spcAft>
            </a:pPr>
            <a:r>
              <a:rPr sz="900" b="0" i="0">
                <a:solidFill>
                  <a:srgbClr val="667387"/>
                </a:solidFill>
                <a:latin typeface="Times New Roman"/>
              </a:rPr>
              <a:t>05  /  13</a:t>
            </a:r>
          </a:p>
        </p:txBody>
      </p:sp>
      <p:sp>
        <p:nvSpPr>
          <p:cNvPr id="6" name="Rounded Rectangle 5"/>
          <p:cNvSpPr/>
          <p:nvPr/>
        </p:nvSpPr>
        <p:spPr>
          <a:xfrm>
            <a:off x="822960" y="2286000"/>
            <a:ext cx="2057400" cy="1508760"/>
          </a:xfrm>
          <a:prstGeom prst="roundRect">
            <a:avLst/>
          </a:prstGeom>
          <a:solidFill>
            <a:srgbClr val="E5EEFD"/>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581912" y="1938528"/>
            <a:ext cx="530352" cy="530352"/>
          </a:xfrm>
          <a:prstGeom prst="ellipse">
            <a:avLst/>
          </a:prstGeom>
          <a:solidFill>
            <a:srgbClr val="3669C9"/>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81912" y="2002536"/>
            <a:ext cx="530352" cy="292608"/>
          </a:xfrm>
          <a:prstGeom prst="rect">
            <a:avLst/>
          </a:prstGeom>
          <a:noFill/>
        </p:spPr>
        <p:txBody>
          <a:bodyPr wrap="square" lIns="54864" tIns="54864" rIns="54864" bIns="54864" anchor="ctr">
            <a:spAutoFit/>
          </a:bodyPr>
          <a:lstStyle/>
          <a:p>
            <a:pPr algn="ctr">
              <a:spcAft>
                <a:spcPts val="500"/>
              </a:spcAft>
            </a:pPr>
            <a:r>
              <a:rPr sz="1600" b="1" i="0">
                <a:solidFill>
                  <a:srgbClr val="FFFFFF"/>
                </a:solidFill>
                <a:latin typeface="Times New Roman"/>
              </a:rPr>
              <a:t>1</a:t>
            </a:r>
          </a:p>
        </p:txBody>
      </p:sp>
      <p:sp>
        <p:nvSpPr>
          <p:cNvPr id="9" name="TextBox 8"/>
          <p:cNvSpPr txBox="1"/>
          <p:nvPr/>
        </p:nvSpPr>
        <p:spPr>
          <a:xfrm>
            <a:off x="932688" y="2487168"/>
            <a:ext cx="1828800" cy="548640"/>
          </a:xfrm>
          <a:prstGeom prst="rect">
            <a:avLst/>
          </a:prstGeom>
          <a:noFill/>
        </p:spPr>
        <p:txBody>
          <a:bodyPr wrap="square" lIns="54864" tIns="54864" rIns="54864" bIns="54864" anchor="t">
            <a:spAutoFit/>
          </a:bodyPr>
          <a:lstStyle/>
          <a:p>
            <a:pPr algn="ctr">
              <a:spcAft>
                <a:spcPts val="500"/>
              </a:spcAft>
            </a:pPr>
            <a:r>
              <a:rPr sz="1700" b="1" i="0">
                <a:solidFill>
                  <a:srgbClr val="182A4C"/>
                </a:solidFill>
                <a:latin typeface="Times New Roman"/>
              </a:rPr>
              <a:t>Presentation</a:t>
            </a:r>
          </a:p>
          <a:p>
            <a:pPr algn="ctr">
              <a:spcAft>
                <a:spcPts val="500"/>
              </a:spcAft>
            </a:pPr>
            <a:r>
              <a:rPr sz="1700" b="1" i="0">
                <a:solidFill>
                  <a:srgbClr val="182A4C"/>
                </a:solidFill>
                <a:latin typeface="Times New Roman"/>
              </a:rPr>
              <a:t>Layer</a:t>
            </a:r>
          </a:p>
        </p:txBody>
      </p:sp>
      <p:sp>
        <p:nvSpPr>
          <p:cNvPr id="10" name="TextBox 9"/>
          <p:cNvSpPr txBox="1"/>
          <p:nvPr/>
        </p:nvSpPr>
        <p:spPr>
          <a:xfrm>
            <a:off x="932688" y="3172968"/>
            <a:ext cx="1828800" cy="603242"/>
          </a:xfrm>
          <a:prstGeom prst="rect">
            <a:avLst/>
          </a:prstGeom>
          <a:noFill/>
        </p:spPr>
        <p:txBody>
          <a:bodyPr wrap="square" lIns="54864" tIns="54864" rIns="54864" bIns="54864" anchor="t">
            <a:spAutoFit/>
          </a:bodyPr>
          <a:lstStyle/>
          <a:p>
            <a:pPr algn="ctr">
              <a:spcAft>
                <a:spcPts val="500"/>
              </a:spcAft>
            </a:pPr>
            <a:r>
              <a:rPr sz="1600" b="0" i="0" dirty="0" err="1">
                <a:solidFill>
                  <a:srgbClr val="2B3648"/>
                </a:solidFill>
                <a:latin typeface="Times New Roman"/>
              </a:rPr>
              <a:t>Hiển</a:t>
            </a:r>
            <a:r>
              <a:rPr sz="1600" b="0" i="0" dirty="0">
                <a:solidFill>
                  <a:srgbClr val="2B3648"/>
                </a:solidFill>
                <a:latin typeface="Times New Roman"/>
              </a:rPr>
              <a:t> </a:t>
            </a:r>
            <a:r>
              <a:rPr sz="1600" b="0" i="0" dirty="0" err="1">
                <a:solidFill>
                  <a:srgbClr val="2B3648"/>
                </a:solidFill>
                <a:latin typeface="Times New Roman"/>
              </a:rPr>
              <a:t>thị</a:t>
            </a:r>
            <a:r>
              <a:rPr sz="1600" b="0" i="0" dirty="0">
                <a:solidFill>
                  <a:srgbClr val="2B3648"/>
                </a:solidFill>
                <a:latin typeface="Times New Roman"/>
              </a:rPr>
              <a:t> &amp; </a:t>
            </a:r>
            <a:r>
              <a:rPr sz="1600" b="0" i="0" dirty="0" err="1">
                <a:solidFill>
                  <a:srgbClr val="2B3648"/>
                </a:solidFill>
                <a:latin typeface="Times New Roman"/>
              </a:rPr>
              <a:t>nhận</a:t>
            </a:r>
            <a:r>
              <a:rPr sz="1600" b="0" i="0" dirty="0">
                <a:solidFill>
                  <a:srgbClr val="2B3648"/>
                </a:solidFill>
                <a:latin typeface="Times New Roman"/>
              </a:rPr>
              <a:t> input</a:t>
            </a:r>
          </a:p>
        </p:txBody>
      </p:sp>
      <p:cxnSp>
        <p:nvCxnSpPr>
          <p:cNvPr id="11" name="Connector 10"/>
          <p:cNvCxnSpPr/>
          <p:nvPr/>
        </p:nvCxnSpPr>
        <p:spPr>
          <a:xfrm>
            <a:off x="2926079" y="3017520"/>
            <a:ext cx="594361" cy="0"/>
          </a:xfrm>
          <a:prstGeom prst="line">
            <a:avLst/>
          </a:prstGeom>
          <a:ln w="25400">
            <a:solidFill>
              <a:srgbClr val="667387"/>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611880" y="2286000"/>
            <a:ext cx="2057400" cy="1508760"/>
          </a:xfrm>
          <a:prstGeom prst="roundRect">
            <a:avLst/>
          </a:prstGeom>
          <a:solidFill>
            <a:srgbClr val="E0F5F2"/>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370832" y="1938528"/>
            <a:ext cx="530352" cy="530352"/>
          </a:xfrm>
          <a:prstGeom prst="ellipse">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70832" y="2002536"/>
            <a:ext cx="530352" cy="292608"/>
          </a:xfrm>
          <a:prstGeom prst="rect">
            <a:avLst/>
          </a:prstGeom>
          <a:noFill/>
        </p:spPr>
        <p:txBody>
          <a:bodyPr wrap="square" lIns="54864" tIns="54864" rIns="54864" bIns="54864" anchor="ctr">
            <a:spAutoFit/>
          </a:bodyPr>
          <a:lstStyle/>
          <a:p>
            <a:pPr algn="ctr">
              <a:spcAft>
                <a:spcPts val="500"/>
              </a:spcAft>
            </a:pPr>
            <a:r>
              <a:rPr sz="1600" b="1" i="0">
                <a:solidFill>
                  <a:srgbClr val="FFFFFF"/>
                </a:solidFill>
                <a:latin typeface="Times New Roman"/>
              </a:rPr>
              <a:t>2</a:t>
            </a:r>
          </a:p>
        </p:txBody>
      </p:sp>
      <p:sp>
        <p:nvSpPr>
          <p:cNvPr id="15" name="TextBox 14"/>
          <p:cNvSpPr txBox="1"/>
          <p:nvPr/>
        </p:nvSpPr>
        <p:spPr>
          <a:xfrm>
            <a:off x="3721608" y="2487168"/>
            <a:ext cx="1828800" cy="548640"/>
          </a:xfrm>
          <a:prstGeom prst="rect">
            <a:avLst/>
          </a:prstGeom>
          <a:noFill/>
        </p:spPr>
        <p:txBody>
          <a:bodyPr wrap="square" lIns="54864" tIns="54864" rIns="54864" bIns="54864" anchor="t">
            <a:spAutoFit/>
          </a:bodyPr>
          <a:lstStyle/>
          <a:p>
            <a:pPr algn="ctr">
              <a:spcAft>
                <a:spcPts val="500"/>
              </a:spcAft>
            </a:pPr>
            <a:r>
              <a:rPr sz="1700" b="1" i="0">
                <a:solidFill>
                  <a:srgbClr val="182A4C"/>
                </a:solidFill>
                <a:latin typeface="Times New Roman"/>
              </a:rPr>
              <a:t>Business Logic</a:t>
            </a:r>
          </a:p>
          <a:p>
            <a:pPr algn="ctr">
              <a:spcAft>
                <a:spcPts val="500"/>
              </a:spcAft>
            </a:pPr>
            <a:r>
              <a:rPr sz="1700" b="1" i="0">
                <a:solidFill>
                  <a:srgbClr val="182A4C"/>
                </a:solidFill>
                <a:latin typeface="Times New Roman"/>
              </a:rPr>
              <a:t>Layer</a:t>
            </a:r>
          </a:p>
        </p:txBody>
      </p:sp>
      <p:sp>
        <p:nvSpPr>
          <p:cNvPr id="16" name="TextBox 15"/>
          <p:cNvSpPr txBox="1"/>
          <p:nvPr/>
        </p:nvSpPr>
        <p:spPr>
          <a:xfrm>
            <a:off x="3721608" y="3172968"/>
            <a:ext cx="1828800" cy="387798"/>
          </a:xfrm>
          <a:prstGeom prst="rect">
            <a:avLst/>
          </a:prstGeom>
          <a:noFill/>
        </p:spPr>
        <p:txBody>
          <a:bodyPr wrap="square" lIns="54864" tIns="54864" rIns="54864" bIns="54864" anchor="t">
            <a:spAutoFit/>
          </a:bodyPr>
          <a:lstStyle/>
          <a:p>
            <a:pPr algn="ctr">
              <a:spcAft>
                <a:spcPts val="500"/>
              </a:spcAft>
            </a:pPr>
            <a:r>
              <a:rPr b="0" i="0" dirty="0" err="1">
                <a:solidFill>
                  <a:srgbClr val="2B3648"/>
                </a:solidFill>
                <a:latin typeface="Times New Roman"/>
              </a:rPr>
              <a:t>Kiểm</a:t>
            </a:r>
            <a:r>
              <a:rPr b="0" i="0" dirty="0">
                <a:solidFill>
                  <a:srgbClr val="2B3648"/>
                </a:solidFill>
                <a:latin typeface="Times New Roman"/>
              </a:rPr>
              <a:t> </a:t>
            </a:r>
            <a:r>
              <a:rPr b="0" i="0" dirty="0" err="1">
                <a:solidFill>
                  <a:srgbClr val="2B3648"/>
                </a:solidFill>
                <a:latin typeface="Times New Roman"/>
              </a:rPr>
              <a:t>tra</a:t>
            </a:r>
            <a:r>
              <a:rPr b="0" i="0" dirty="0">
                <a:solidFill>
                  <a:srgbClr val="2B3648"/>
                </a:solidFill>
                <a:latin typeface="Times New Roman"/>
              </a:rPr>
              <a:t> </a:t>
            </a:r>
            <a:r>
              <a:rPr b="0" i="0" dirty="0" err="1">
                <a:solidFill>
                  <a:srgbClr val="2B3648"/>
                </a:solidFill>
                <a:latin typeface="Times New Roman"/>
              </a:rPr>
              <a:t>quy</a:t>
            </a:r>
            <a:r>
              <a:rPr b="0" i="0" dirty="0">
                <a:solidFill>
                  <a:srgbClr val="2B3648"/>
                </a:solidFill>
                <a:latin typeface="Times New Roman"/>
              </a:rPr>
              <a:t> </a:t>
            </a:r>
            <a:r>
              <a:rPr b="0" i="0" dirty="0" err="1">
                <a:solidFill>
                  <a:srgbClr val="2B3648"/>
                </a:solidFill>
                <a:latin typeface="Times New Roman"/>
              </a:rPr>
              <a:t>tắc</a:t>
            </a:r>
            <a:endParaRPr b="0" i="0" dirty="0">
              <a:solidFill>
                <a:srgbClr val="2B3648"/>
              </a:solidFill>
              <a:latin typeface="Times New Roman"/>
            </a:endParaRPr>
          </a:p>
        </p:txBody>
      </p:sp>
      <p:cxnSp>
        <p:nvCxnSpPr>
          <p:cNvPr id="17" name="Connector 16"/>
          <p:cNvCxnSpPr/>
          <p:nvPr/>
        </p:nvCxnSpPr>
        <p:spPr>
          <a:xfrm>
            <a:off x="5715000" y="3017520"/>
            <a:ext cx="594360" cy="0"/>
          </a:xfrm>
          <a:prstGeom prst="line">
            <a:avLst/>
          </a:prstGeom>
          <a:ln w="25400">
            <a:solidFill>
              <a:srgbClr val="667387"/>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00800" y="2286000"/>
            <a:ext cx="2057400" cy="1508760"/>
          </a:xfrm>
          <a:prstGeom prst="roundRect">
            <a:avLst/>
          </a:prstGeom>
          <a:solidFill>
            <a:srgbClr val="F0E9FC"/>
          </a:solidFill>
          <a:ln>
            <a:solidFill>
              <a:srgbClr val="7E5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59752" y="1938528"/>
            <a:ext cx="530352" cy="530352"/>
          </a:xfrm>
          <a:prstGeom prst="ellipse">
            <a:avLst/>
          </a:prstGeom>
          <a:solidFill>
            <a:srgbClr val="7E5BBE"/>
          </a:solidFill>
          <a:ln>
            <a:solidFill>
              <a:srgbClr val="7E5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59752" y="2002536"/>
            <a:ext cx="530352" cy="292608"/>
          </a:xfrm>
          <a:prstGeom prst="rect">
            <a:avLst/>
          </a:prstGeom>
          <a:noFill/>
        </p:spPr>
        <p:txBody>
          <a:bodyPr wrap="square" lIns="54864" tIns="54864" rIns="54864" bIns="54864" anchor="ctr">
            <a:spAutoFit/>
          </a:bodyPr>
          <a:lstStyle/>
          <a:p>
            <a:pPr algn="ctr">
              <a:spcAft>
                <a:spcPts val="500"/>
              </a:spcAft>
            </a:pPr>
            <a:r>
              <a:rPr sz="1600" b="1" i="0">
                <a:solidFill>
                  <a:srgbClr val="FFFFFF"/>
                </a:solidFill>
                <a:latin typeface="Times New Roman"/>
              </a:rPr>
              <a:t>3</a:t>
            </a:r>
          </a:p>
        </p:txBody>
      </p:sp>
      <p:sp>
        <p:nvSpPr>
          <p:cNvPr id="21" name="TextBox 20"/>
          <p:cNvSpPr txBox="1"/>
          <p:nvPr/>
        </p:nvSpPr>
        <p:spPr>
          <a:xfrm>
            <a:off x="6510528" y="2487168"/>
            <a:ext cx="1828800" cy="548640"/>
          </a:xfrm>
          <a:prstGeom prst="rect">
            <a:avLst/>
          </a:prstGeom>
          <a:noFill/>
        </p:spPr>
        <p:txBody>
          <a:bodyPr wrap="square" lIns="54864" tIns="54864" rIns="54864" bIns="54864" anchor="t">
            <a:spAutoFit/>
          </a:bodyPr>
          <a:lstStyle/>
          <a:p>
            <a:pPr algn="ctr">
              <a:spcAft>
                <a:spcPts val="500"/>
              </a:spcAft>
            </a:pPr>
            <a:r>
              <a:rPr sz="1700" b="1" i="0">
                <a:solidFill>
                  <a:srgbClr val="182A4C"/>
                </a:solidFill>
                <a:latin typeface="Times New Roman"/>
              </a:rPr>
              <a:t>Data Access</a:t>
            </a:r>
          </a:p>
          <a:p>
            <a:pPr algn="ctr">
              <a:spcAft>
                <a:spcPts val="500"/>
              </a:spcAft>
            </a:pPr>
            <a:r>
              <a:rPr sz="1700" b="1" i="0">
                <a:solidFill>
                  <a:srgbClr val="182A4C"/>
                </a:solidFill>
                <a:latin typeface="Times New Roman"/>
              </a:rPr>
              <a:t>Layer</a:t>
            </a:r>
          </a:p>
        </p:txBody>
      </p:sp>
      <p:sp>
        <p:nvSpPr>
          <p:cNvPr id="22" name="TextBox 21"/>
          <p:cNvSpPr txBox="1"/>
          <p:nvPr/>
        </p:nvSpPr>
        <p:spPr>
          <a:xfrm>
            <a:off x="6510528" y="3172968"/>
            <a:ext cx="1828800" cy="418576"/>
          </a:xfrm>
          <a:prstGeom prst="rect">
            <a:avLst/>
          </a:prstGeom>
          <a:noFill/>
        </p:spPr>
        <p:txBody>
          <a:bodyPr wrap="square" lIns="54864" tIns="54864" rIns="54864" bIns="54864" anchor="t">
            <a:spAutoFit/>
          </a:bodyPr>
          <a:lstStyle/>
          <a:p>
            <a:pPr algn="ctr">
              <a:spcAft>
                <a:spcPts val="500"/>
              </a:spcAft>
            </a:pPr>
            <a:r>
              <a:rPr sz="2000" b="0" i="0" dirty="0" err="1">
                <a:solidFill>
                  <a:srgbClr val="2B3648"/>
                </a:solidFill>
                <a:latin typeface="Times New Roman"/>
              </a:rPr>
              <a:t>Đọc</a:t>
            </a:r>
            <a:r>
              <a:rPr sz="2000" b="0" i="0" dirty="0">
                <a:solidFill>
                  <a:srgbClr val="2B3648"/>
                </a:solidFill>
                <a:latin typeface="Times New Roman"/>
              </a:rPr>
              <a:t> / </a:t>
            </a:r>
            <a:r>
              <a:rPr sz="2000" b="0" i="0" dirty="0" err="1">
                <a:solidFill>
                  <a:srgbClr val="2B3648"/>
                </a:solidFill>
                <a:latin typeface="Times New Roman"/>
              </a:rPr>
              <a:t>ghi</a:t>
            </a:r>
            <a:r>
              <a:rPr sz="2000" b="0" i="0" dirty="0">
                <a:solidFill>
                  <a:srgbClr val="2B3648"/>
                </a:solidFill>
                <a:latin typeface="Times New Roman"/>
              </a:rPr>
              <a:t> </a:t>
            </a:r>
            <a:r>
              <a:rPr sz="2000" b="0" i="0" dirty="0" err="1">
                <a:solidFill>
                  <a:srgbClr val="2B3648"/>
                </a:solidFill>
                <a:latin typeface="Times New Roman"/>
              </a:rPr>
              <a:t>dữ</a:t>
            </a:r>
            <a:r>
              <a:rPr sz="2000" b="0" i="0" dirty="0">
                <a:solidFill>
                  <a:srgbClr val="2B3648"/>
                </a:solidFill>
                <a:latin typeface="Times New Roman"/>
              </a:rPr>
              <a:t> </a:t>
            </a:r>
            <a:r>
              <a:rPr sz="2000" b="0" i="0" dirty="0" err="1">
                <a:solidFill>
                  <a:srgbClr val="2B3648"/>
                </a:solidFill>
                <a:latin typeface="Times New Roman"/>
              </a:rPr>
              <a:t>liệu</a:t>
            </a:r>
            <a:endParaRPr sz="2000" b="0" i="0" dirty="0">
              <a:solidFill>
                <a:srgbClr val="2B3648"/>
              </a:solidFill>
              <a:latin typeface="Times New Roman"/>
            </a:endParaRPr>
          </a:p>
        </p:txBody>
      </p:sp>
      <p:cxnSp>
        <p:nvCxnSpPr>
          <p:cNvPr id="23" name="Connector 22"/>
          <p:cNvCxnSpPr/>
          <p:nvPr/>
        </p:nvCxnSpPr>
        <p:spPr>
          <a:xfrm>
            <a:off x="8503920" y="3017520"/>
            <a:ext cx="594360" cy="0"/>
          </a:xfrm>
          <a:prstGeom prst="line">
            <a:avLst/>
          </a:prstGeom>
          <a:ln w="25400">
            <a:solidFill>
              <a:srgbClr val="667387"/>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189720" y="2286000"/>
            <a:ext cx="2057400" cy="1508760"/>
          </a:xfrm>
          <a:prstGeom prst="roundRect">
            <a:avLst/>
          </a:prstGeom>
          <a:solidFill>
            <a:srgbClr val="FFF5DB"/>
          </a:solidFill>
          <a:ln>
            <a:solidFill>
              <a:srgbClr val="F2B1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948672" y="1938528"/>
            <a:ext cx="530352" cy="530352"/>
          </a:xfrm>
          <a:prstGeom prst="ellipse">
            <a:avLst/>
          </a:prstGeom>
          <a:solidFill>
            <a:srgbClr val="F2B134"/>
          </a:solidFill>
          <a:ln>
            <a:solidFill>
              <a:srgbClr val="F2B1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948672" y="2002536"/>
            <a:ext cx="530352" cy="292608"/>
          </a:xfrm>
          <a:prstGeom prst="rect">
            <a:avLst/>
          </a:prstGeom>
          <a:noFill/>
        </p:spPr>
        <p:txBody>
          <a:bodyPr wrap="square" lIns="54864" tIns="54864" rIns="54864" bIns="54864" anchor="ctr">
            <a:spAutoFit/>
          </a:bodyPr>
          <a:lstStyle/>
          <a:p>
            <a:pPr algn="ctr">
              <a:spcAft>
                <a:spcPts val="500"/>
              </a:spcAft>
            </a:pPr>
            <a:r>
              <a:rPr sz="1600" b="1" i="0">
                <a:solidFill>
                  <a:srgbClr val="FFFFFF"/>
                </a:solidFill>
                <a:latin typeface="Times New Roman"/>
              </a:rPr>
              <a:t>4</a:t>
            </a:r>
          </a:p>
        </p:txBody>
      </p:sp>
      <p:sp>
        <p:nvSpPr>
          <p:cNvPr id="27" name="TextBox 26"/>
          <p:cNvSpPr txBox="1"/>
          <p:nvPr/>
        </p:nvSpPr>
        <p:spPr>
          <a:xfrm>
            <a:off x="9299448" y="2487168"/>
            <a:ext cx="1828800" cy="548640"/>
          </a:xfrm>
          <a:prstGeom prst="rect">
            <a:avLst/>
          </a:prstGeom>
          <a:noFill/>
        </p:spPr>
        <p:txBody>
          <a:bodyPr wrap="square" lIns="54864" tIns="54864" rIns="54864" bIns="54864" anchor="t">
            <a:spAutoFit/>
          </a:bodyPr>
          <a:lstStyle/>
          <a:p>
            <a:pPr algn="ctr">
              <a:spcAft>
                <a:spcPts val="500"/>
              </a:spcAft>
            </a:pPr>
            <a:r>
              <a:rPr sz="1700" b="1" i="0">
                <a:solidFill>
                  <a:srgbClr val="182A4C"/>
                </a:solidFill>
                <a:latin typeface="Times New Roman"/>
              </a:rPr>
              <a:t>Database</a:t>
            </a:r>
          </a:p>
        </p:txBody>
      </p:sp>
      <p:sp>
        <p:nvSpPr>
          <p:cNvPr id="28" name="TextBox 27"/>
          <p:cNvSpPr txBox="1"/>
          <p:nvPr/>
        </p:nvSpPr>
        <p:spPr>
          <a:xfrm>
            <a:off x="9299448" y="3172968"/>
            <a:ext cx="1828800" cy="418576"/>
          </a:xfrm>
          <a:prstGeom prst="rect">
            <a:avLst/>
          </a:prstGeom>
          <a:noFill/>
        </p:spPr>
        <p:txBody>
          <a:bodyPr wrap="square" lIns="54864" tIns="54864" rIns="54864" bIns="54864" anchor="t">
            <a:spAutoFit/>
          </a:bodyPr>
          <a:lstStyle/>
          <a:p>
            <a:pPr algn="ctr">
              <a:spcAft>
                <a:spcPts val="500"/>
              </a:spcAft>
            </a:pPr>
            <a:r>
              <a:rPr sz="2000" b="0" i="0" dirty="0" err="1">
                <a:solidFill>
                  <a:srgbClr val="2B3648"/>
                </a:solidFill>
                <a:latin typeface="Times New Roman"/>
              </a:rPr>
              <a:t>Lưu</a:t>
            </a:r>
            <a:r>
              <a:rPr sz="2000" b="0" i="0" dirty="0">
                <a:solidFill>
                  <a:srgbClr val="2B3648"/>
                </a:solidFill>
                <a:latin typeface="Times New Roman"/>
              </a:rPr>
              <a:t> </a:t>
            </a:r>
            <a:r>
              <a:rPr sz="2000" b="0" i="0" dirty="0" err="1">
                <a:solidFill>
                  <a:srgbClr val="2B3648"/>
                </a:solidFill>
                <a:latin typeface="Times New Roman"/>
              </a:rPr>
              <a:t>trữ</a:t>
            </a:r>
            <a:r>
              <a:rPr sz="2000" b="0" i="0" dirty="0">
                <a:solidFill>
                  <a:srgbClr val="2B3648"/>
                </a:solidFill>
                <a:latin typeface="Times New Roman"/>
              </a:rPr>
              <a:t> </a:t>
            </a:r>
            <a:r>
              <a:rPr sz="2000" b="0" i="0" dirty="0" err="1">
                <a:solidFill>
                  <a:srgbClr val="2B3648"/>
                </a:solidFill>
                <a:latin typeface="Times New Roman"/>
              </a:rPr>
              <a:t>lâu</a:t>
            </a:r>
            <a:r>
              <a:rPr sz="2000" b="0" i="0" dirty="0">
                <a:solidFill>
                  <a:srgbClr val="2B3648"/>
                </a:solidFill>
                <a:latin typeface="Times New Roman"/>
              </a:rPr>
              <a:t> </a:t>
            </a:r>
            <a:r>
              <a:rPr sz="2000" b="0" i="0" dirty="0" err="1">
                <a:solidFill>
                  <a:srgbClr val="2B3648"/>
                </a:solidFill>
                <a:latin typeface="Times New Roman"/>
              </a:rPr>
              <a:t>dài</a:t>
            </a:r>
            <a:endParaRPr sz="2000" b="0" i="0" dirty="0">
              <a:solidFill>
                <a:srgbClr val="2B3648"/>
              </a:solidFill>
              <a:latin typeface="Times New Roman"/>
            </a:endParaRPr>
          </a:p>
        </p:txBody>
      </p:sp>
      <p:sp>
        <p:nvSpPr>
          <p:cNvPr id="29" name="TextBox 28"/>
          <p:cNvSpPr txBox="1"/>
          <p:nvPr/>
        </p:nvSpPr>
        <p:spPr>
          <a:xfrm>
            <a:off x="1188720" y="4389120"/>
            <a:ext cx="9692640" cy="502920"/>
          </a:xfrm>
          <a:prstGeom prst="rect">
            <a:avLst/>
          </a:prstGeom>
          <a:noFill/>
        </p:spPr>
        <p:txBody>
          <a:bodyPr wrap="square" lIns="54864" tIns="54864" rIns="54864" bIns="54864" anchor="t">
            <a:spAutoFit/>
          </a:bodyPr>
          <a:lstStyle/>
          <a:p>
            <a:pPr algn="ctr">
              <a:spcAft>
                <a:spcPts val="500"/>
              </a:spcAft>
            </a:pPr>
            <a:r>
              <a:rPr sz="1600" b="1" i="0" dirty="0" err="1">
                <a:solidFill>
                  <a:srgbClr val="182A4C"/>
                </a:solidFill>
                <a:latin typeface="Times New Roman"/>
              </a:rPr>
              <a:t>Phản</a:t>
            </a:r>
            <a:r>
              <a:rPr sz="1600" b="1" i="0" dirty="0">
                <a:solidFill>
                  <a:srgbClr val="182A4C"/>
                </a:solidFill>
                <a:latin typeface="Times New Roman"/>
              </a:rPr>
              <a:t> </a:t>
            </a:r>
            <a:r>
              <a:rPr sz="1600" b="1" i="0" dirty="0" err="1">
                <a:solidFill>
                  <a:srgbClr val="182A4C"/>
                </a:solidFill>
                <a:latin typeface="Times New Roman"/>
              </a:rPr>
              <a:t>hồi</a:t>
            </a:r>
            <a:r>
              <a:rPr sz="1600" b="1" i="0" dirty="0">
                <a:solidFill>
                  <a:srgbClr val="182A4C"/>
                </a:solidFill>
                <a:latin typeface="Times New Roman"/>
              </a:rPr>
              <a:t>/</a:t>
            </a:r>
            <a:r>
              <a:rPr sz="1600" b="1" i="0" dirty="0" err="1">
                <a:solidFill>
                  <a:srgbClr val="182A4C"/>
                </a:solidFill>
                <a:latin typeface="Times New Roman"/>
              </a:rPr>
              <a:t>kết</a:t>
            </a:r>
            <a:r>
              <a:rPr sz="1600" b="1" i="0" dirty="0">
                <a:solidFill>
                  <a:srgbClr val="182A4C"/>
                </a:solidFill>
                <a:latin typeface="Times New Roman"/>
              </a:rPr>
              <a:t> </a:t>
            </a:r>
            <a:r>
              <a:rPr sz="1600" b="1" i="0" dirty="0" err="1">
                <a:solidFill>
                  <a:srgbClr val="182A4C"/>
                </a:solidFill>
                <a:latin typeface="Times New Roman"/>
              </a:rPr>
              <a:t>quả</a:t>
            </a:r>
            <a:r>
              <a:rPr sz="1600" b="1" i="0" dirty="0">
                <a:solidFill>
                  <a:srgbClr val="182A4C"/>
                </a:solidFill>
                <a:latin typeface="Times New Roman"/>
              </a:rPr>
              <a:t> quay </a:t>
            </a:r>
            <a:r>
              <a:rPr sz="1600" b="1" i="0" dirty="0" err="1">
                <a:solidFill>
                  <a:srgbClr val="182A4C"/>
                </a:solidFill>
                <a:latin typeface="Times New Roman"/>
              </a:rPr>
              <a:t>ngược</a:t>
            </a:r>
            <a:r>
              <a:rPr sz="1600" b="1" i="0" dirty="0">
                <a:solidFill>
                  <a:srgbClr val="182A4C"/>
                </a:solidFill>
                <a:latin typeface="Times New Roman"/>
              </a:rPr>
              <a:t> </a:t>
            </a:r>
            <a:r>
              <a:rPr sz="1600" b="1" i="0" dirty="0" err="1">
                <a:solidFill>
                  <a:srgbClr val="182A4C"/>
                </a:solidFill>
                <a:latin typeface="Times New Roman"/>
              </a:rPr>
              <a:t>trở</a:t>
            </a:r>
            <a:r>
              <a:rPr sz="1600" b="1" i="0" dirty="0">
                <a:solidFill>
                  <a:srgbClr val="182A4C"/>
                </a:solidFill>
                <a:latin typeface="Times New Roman"/>
              </a:rPr>
              <a:t> </a:t>
            </a:r>
            <a:r>
              <a:rPr sz="1600" b="1" i="0" dirty="0" err="1">
                <a:solidFill>
                  <a:srgbClr val="182A4C"/>
                </a:solidFill>
                <a:latin typeface="Times New Roman"/>
              </a:rPr>
              <a:t>lại</a:t>
            </a:r>
            <a:r>
              <a:rPr sz="1600" b="1" i="0" dirty="0">
                <a:solidFill>
                  <a:srgbClr val="182A4C"/>
                </a:solidFill>
                <a:latin typeface="Times New Roman"/>
              </a:rPr>
              <a:t> </a:t>
            </a:r>
            <a:r>
              <a:rPr sz="1600" b="1" i="0" dirty="0" err="1">
                <a:solidFill>
                  <a:srgbClr val="182A4C"/>
                </a:solidFill>
                <a:latin typeface="Times New Roman"/>
              </a:rPr>
              <a:t>giao</a:t>
            </a:r>
            <a:r>
              <a:rPr sz="1600" b="1" i="0" dirty="0">
                <a:solidFill>
                  <a:srgbClr val="182A4C"/>
                </a:solidFill>
                <a:latin typeface="Times New Roman"/>
              </a:rPr>
              <a:t> </a:t>
            </a:r>
            <a:r>
              <a:rPr sz="1600" b="1" i="0" dirty="0" err="1">
                <a:solidFill>
                  <a:srgbClr val="182A4C"/>
                </a:solidFill>
                <a:latin typeface="Times New Roman"/>
              </a:rPr>
              <a:t>diện</a:t>
            </a:r>
            <a:r>
              <a:rPr sz="1600" b="1" i="0" dirty="0">
                <a:solidFill>
                  <a:srgbClr val="182A4C"/>
                </a:solidFill>
                <a:latin typeface="Times New Roman"/>
              </a:rPr>
              <a:t> </a:t>
            </a:r>
            <a:r>
              <a:rPr sz="1600" b="1" i="0" dirty="0" err="1">
                <a:solidFill>
                  <a:srgbClr val="182A4C"/>
                </a:solidFill>
                <a:latin typeface="Times New Roman"/>
              </a:rPr>
              <a:t>để</a:t>
            </a:r>
            <a:r>
              <a:rPr sz="1600" b="1" i="0" dirty="0">
                <a:solidFill>
                  <a:srgbClr val="182A4C"/>
                </a:solidFill>
                <a:latin typeface="Times New Roman"/>
              </a:rPr>
              <a:t> </a:t>
            </a:r>
            <a:r>
              <a:rPr sz="1600" b="1" i="0" dirty="0" err="1">
                <a:solidFill>
                  <a:srgbClr val="182A4C"/>
                </a:solidFill>
                <a:latin typeface="Times New Roman"/>
              </a:rPr>
              <a:t>thông</a:t>
            </a:r>
            <a:r>
              <a:rPr sz="1600" b="1" i="0" dirty="0">
                <a:solidFill>
                  <a:srgbClr val="182A4C"/>
                </a:solidFill>
                <a:latin typeface="Times New Roman"/>
              </a:rPr>
              <a:t> </a:t>
            </a:r>
            <a:r>
              <a:rPr sz="1600" b="1" i="0" dirty="0" err="1">
                <a:solidFill>
                  <a:srgbClr val="182A4C"/>
                </a:solidFill>
                <a:latin typeface="Times New Roman"/>
              </a:rPr>
              <a:t>báo</a:t>
            </a:r>
            <a:r>
              <a:rPr sz="1600" b="1" i="0" dirty="0">
                <a:solidFill>
                  <a:srgbClr val="182A4C"/>
                </a:solidFill>
                <a:latin typeface="Times New Roman"/>
              </a:rPr>
              <a:t> </a:t>
            </a:r>
            <a:r>
              <a:rPr sz="1600" b="1" i="0" dirty="0" err="1">
                <a:solidFill>
                  <a:srgbClr val="182A4C"/>
                </a:solidFill>
                <a:latin typeface="Times New Roman"/>
              </a:rPr>
              <a:t>cho</a:t>
            </a:r>
            <a:r>
              <a:rPr sz="1600" b="1" i="0" dirty="0">
                <a:solidFill>
                  <a:srgbClr val="182A4C"/>
                </a:solidFill>
                <a:latin typeface="Times New Roman"/>
              </a:rPr>
              <a:t> </a:t>
            </a:r>
            <a:r>
              <a:rPr sz="1600" b="1" i="0" dirty="0" err="1">
                <a:solidFill>
                  <a:srgbClr val="182A4C"/>
                </a:solidFill>
                <a:latin typeface="Times New Roman"/>
              </a:rPr>
              <a:t>người</a:t>
            </a:r>
            <a:r>
              <a:rPr sz="1600" b="1" i="0" dirty="0">
                <a:solidFill>
                  <a:srgbClr val="182A4C"/>
                </a:solidFill>
                <a:latin typeface="Times New Roman"/>
              </a:rPr>
              <a:t> </a:t>
            </a:r>
            <a:r>
              <a:rPr sz="1600" b="1" i="0" dirty="0" err="1">
                <a:solidFill>
                  <a:srgbClr val="182A4C"/>
                </a:solidFill>
                <a:latin typeface="Times New Roman"/>
              </a:rPr>
              <a:t>dùng</a:t>
            </a:r>
            <a:r>
              <a:rPr sz="1600" b="1" i="0" dirty="0">
                <a:solidFill>
                  <a:srgbClr val="182A4C"/>
                </a:solidFill>
                <a:latin typeface="Times New Roman"/>
              </a:rPr>
              <a:t>.</a:t>
            </a:r>
          </a:p>
        </p:txBody>
      </p:sp>
      <p:sp>
        <p:nvSpPr>
          <p:cNvPr id="30" name="Curved Down Arrow 29"/>
          <p:cNvSpPr/>
          <p:nvPr/>
        </p:nvSpPr>
        <p:spPr>
          <a:xfrm>
            <a:off x="3931920" y="5029200"/>
            <a:ext cx="4297680" cy="685800"/>
          </a:xfrm>
          <a:prstGeom prst="curvedDownArrow">
            <a:avLst/>
          </a:prstGeom>
          <a:solidFill>
            <a:srgbClr val="D7E1F0"/>
          </a:solidFill>
          <a:ln>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86000" y="5715000"/>
            <a:ext cx="7589520" cy="320040"/>
          </a:xfrm>
          <a:prstGeom prst="rect">
            <a:avLst/>
          </a:prstGeom>
          <a:noFill/>
        </p:spPr>
        <p:txBody>
          <a:bodyPr wrap="square" lIns="54864" tIns="54864" rIns="54864" bIns="54864" anchor="t">
            <a:spAutoFit/>
          </a:bodyPr>
          <a:lstStyle/>
          <a:p>
            <a:pPr algn="ctr">
              <a:spcAft>
                <a:spcPts val="500"/>
              </a:spcAft>
            </a:pPr>
            <a:r>
              <a:rPr sz="1400" b="1" i="0">
                <a:solidFill>
                  <a:srgbClr val="D45353"/>
                </a:solidFill>
                <a:latin typeface="Times New Roman"/>
              </a:rPr>
              <a:t>Không nên để giao diện truy cập Database trực tiếp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66928"/>
          </a:xfrm>
          <a:prstGeom prst="rect">
            <a:avLst/>
          </a:prstGeom>
          <a:noFill/>
        </p:spPr>
        <p:txBody>
          <a:bodyPr wrap="square" lIns="54864" tIns="54864" rIns="54864" bIns="54864" anchor="t">
            <a:spAutoFit/>
          </a:bodyPr>
          <a:lstStyle/>
          <a:p>
            <a:pPr algn="l">
              <a:spcAft>
                <a:spcPts val="500"/>
              </a:spcAft>
            </a:pPr>
            <a:r>
              <a:rPr sz="2700" b="1" i="0">
                <a:solidFill>
                  <a:srgbClr val="182A4C"/>
                </a:solidFill>
                <a:latin typeface="Times New Roman"/>
              </a:rPr>
              <a:t>Lớp 1 — Presentation Layer</a:t>
            </a:r>
          </a:p>
        </p:txBody>
      </p:sp>
      <p:sp>
        <p:nvSpPr>
          <p:cNvPr id="3" name="Rectangle 2"/>
          <p:cNvSpPr/>
          <p:nvPr/>
        </p:nvSpPr>
        <p:spPr>
          <a:xfrm>
            <a:off x="612648" y="969264"/>
            <a:ext cx="822960" cy="50292"/>
          </a:xfrm>
          <a:prstGeom prst="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78992"/>
            <a:ext cx="10881360" cy="418576"/>
          </a:xfrm>
          <a:prstGeom prst="rect">
            <a:avLst/>
          </a:prstGeom>
          <a:noFill/>
        </p:spPr>
        <p:txBody>
          <a:bodyPr wrap="square" lIns="54864" tIns="54864" rIns="54864" bIns="54864" anchor="t">
            <a:spAutoFit/>
          </a:bodyPr>
          <a:lstStyle/>
          <a:p>
            <a:pPr algn="l">
              <a:spcAft>
                <a:spcPts val="500"/>
              </a:spcAft>
            </a:pPr>
            <a:r>
              <a:rPr sz="2000" b="0" i="0" dirty="0" err="1">
                <a:solidFill>
                  <a:srgbClr val="667387"/>
                </a:solidFill>
                <a:latin typeface="Times New Roman"/>
              </a:rPr>
              <a:t>Lớp</a:t>
            </a:r>
            <a:r>
              <a:rPr sz="2000" b="0" i="0" dirty="0">
                <a:solidFill>
                  <a:srgbClr val="667387"/>
                </a:solidFill>
                <a:latin typeface="Times New Roman"/>
              </a:rPr>
              <a:t> </a:t>
            </a:r>
            <a:r>
              <a:rPr sz="2000" b="0" i="0" dirty="0" err="1">
                <a:solidFill>
                  <a:srgbClr val="667387"/>
                </a:solidFill>
                <a:latin typeface="Times New Roman"/>
              </a:rPr>
              <a:t>giao</a:t>
            </a:r>
            <a:r>
              <a:rPr sz="2000" b="0" i="0" dirty="0">
                <a:solidFill>
                  <a:srgbClr val="667387"/>
                </a:solidFill>
                <a:latin typeface="Times New Roman"/>
              </a:rPr>
              <a:t> </a:t>
            </a:r>
            <a:r>
              <a:rPr sz="2000" b="0" i="0" dirty="0" err="1">
                <a:solidFill>
                  <a:srgbClr val="667387"/>
                </a:solidFill>
                <a:latin typeface="Times New Roman"/>
              </a:rPr>
              <a:t>diện</a:t>
            </a:r>
            <a:r>
              <a:rPr sz="2000" b="0" i="0" dirty="0">
                <a:solidFill>
                  <a:srgbClr val="667387"/>
                </a:solidFill>
                <a:latin typeface="Times New Roman"/>
              </a:rPr>
              <a:t>: </a:t>
            </a:r>
            <a:r>
              <a:rPr sz="2000" b="0" i="0" dirty="0" err="1">
                <a:solidFill>
                  <a:srgbClr val="667387"/>
                </a:solidFill>
                <a:latin typeface="Times New Roman"/>
              </a:rPr>
              <a:t>cầu</a:t>
            </a:r>
            <a:r>
              <a:rPr sz="2000" b="0" i="0" dirty="0">
                <a:solidFill>
                  <a:srgbClr val="667387"/>
                </a:solidFill>
                <a:latin typeface="Times New Roman"/>
              </a:rPr>
              <a:t> </a:t>
            </a:r>
            <a:r>
              <a:rPr sz="2000" b="0" i="0" dirty="0" err="1">
                <a:solidFill>
                  <a:srgbClr val="667387"/>
                </a:solidFill>
                <a:latin typeface="Times New Roman"/>
              </a:rPr>
              <a:t>nối</a:t>
            </a:r>
            <a:r>
              <a:rPr sz="2000" b="0" i="0" dirty="0">
                <a:solidFill>
                  <a:srgbClr val="667387"/>
                </a:solidFill>
                <a:latin typeface="Times New Roman"/>
              </a:rPr>
              <a:t> </a:t>
            </a:r>
            <a:r>
              <a:rPr sz="2000" b="0" i="0" dirty="0" err="1">
                <a:solidFill>
                  <a:srgbClr val="667387"/>
                </a:solidFill>
                <a:latin typeface="Times New Roman"/>
              </a:rPr>
              <a:t>giữa</a:t>
            </a:r>
            <a:r>
              <a:rPr sz="2000" b="0" i="0" dirty="0">
                <a:solidFill>
                  <a:srgbClr val="667387"/>
                </a:solidFill>
                <a:latin typeface="Times New Roman"/>
              </a:rPr>
              <a:t> </a:t>
            </a:r>
            <a:r>
              <a:rPr sz="2000" b="0" i="0" dirty="0" err="1">
                <a:solidFill>
                  <a:srgbClr val="667387"/>
                </a:solidFill>
                <a:latin typeface="Times New Roman"/>
              </a:rPr>
              <a:t>người</a:t>
            </a:r>
            <a:r>
              <a:rPr sz="2000" b="0" i="0" dirty="0">
                <a:solidFill>
                  <a:srgbClr val="667387"/>
                </a:solidFill>
                <a:latin typeface="Times New Roman"/>
              </a:rPr>
              <a:t> </a:t>
            </a:r>
            <a:r>
              <a:rPr sz="2000" b="0" i="0" dirty="0" err="1">
                <a:solidFill>
                  <a:srgbClr val="667387"/>
                </a:solidFill>
                <a:latin typeface="Times New Roman"/>
              </a:rPr>
              <a:t>dùng</a:t>
            </a:r>
            <a:r>
              <a:rPr sz="2000" b="0" i="0" dirty="0">
                <a:solidFill>
                  <a:srgbClr val="667387"/>
                </a:solidFill>
                <a:latin typeface="Times New Roman"/>
              </a:rPr>
              <a:t> </a:t>
            </a:r>
            <a:r>
              <a:rPr sz="2000" b="0" i="0" dirty="0" err="1">
                <a:solidFill>
                  <a:srgbClr val="667387"/>
                </a:solidFill>
                <a:latin typeface="Times New Roman"/>
              </a:rPr>
              <a:t>và</a:t>
            </a:r>
            <a:r>
              <a:rPr sz="2000" b="0" i="0" dirty="0">
                <a:solidFill>
                  <a:srgbClr val="667387"/>
                </a:solidFill>
                <a:latin typeface="Times New Roman"/>
              </a:rPr>
              <a:t> </a:t>
            </a:r>
            <a:r>
              <a:rPr sz="2000" b="0" i="0" dirty="0" err="1">
                <a:solidFill>
                  <a:srgbClr val="667387"/>
                </a:solidFill>
                <a:latin typeface="Times New Roman"/>
              </a:rPr>
              <a:t>hệ</a:t>
            </a:r>
            <a:r>
              <a:rPr sz="2000" b="0" i="0" dirty="0">
                <a:solidFill>
                  <a:srgbClr val="667387"/>
                </a:solidFill>
                <a:latin typeface="Times New Roman"/>
              </a:rPr>
              <a:t> </a:t>
            </a:r>
            <a:r>
              <a:rPr sz="2000" b="0" i="0" dirty="0" err="1">
                <a:solidFill>
                  <a:srgbClr val="667387"/>
                </a:solidFill>
                <a:latin typeface="Times New Roman"/>
              </a:rPr>
              <a:t>thống</a:t>
            </a:r>
            <a:r>
              <a:rPr sz="2000" b="0" i="0" dirty="0">
                <a:solidFill>
                  <a:srgbClr val="667387"/>
                </a:solidFill>
                <a:latin typeface="Times New Roman"/>
              </a:rPr>
              <a:t>.</a:t>
            </a:r>
          </a:p>
        </p:txBody>
      </p:sp>
      <p:sp>
        <p:nvSpPr>
          <p:cNvPr id="5" name="TextBox 4"/>
          <p:cNvSpPr txBox="1"/>
          <p:nvPr/>
        </p:nvSpPr>
        <p:spPr>
          <a:xfrm>
            <a:off x="10744200" y="6473952"/>
            <a:ext cx="914400" cy="182880"/>
          </a:xfrm>
          <a:prstGeom prst="rect">
            <a:avLst/>
          </a:prstGeom>
          <a:noFill/>
        </p:spPr>
        <p:txBody>
          <a:bodyPr wrap="square" lIns="54864" tIns="54864" rIns="54864" bIns="54864" anchor="t">
            <a:spAutoFit/>
          </a:bodyPr>
          <a:lstStyle/>
          <a:p>
            <a:pPr algn="r">
              <a:spcAft>
                <a:spcPts val="500"/>
              </a:spcAft>
            </a:pPr>
            <a:r>
              <a:rPr sz="900" b="0" i="0">
                <a:solidFill>
                  <a:srgbClr val="667387"/>
                </a:solidFill>
                <a:latin typeface="Times New Roman"/>
              </a:rPr>
              <a:t>06  /  13</a:t>
            </a:r>
          </a:p>
        </p:txBody>
      </p:sp>
      <p:sp>
        <p:nvSpPr>
          <p:cNvPr id="6" name="Rounded Rectangle 5"/>
          <p:cNvSpPr/>
          <p:nvPr/>
        </p:nvSpPr>
        <p:spPr>
          <a:xfrm>
            <a:off x="731520" y="1691640"/>
            <a:ext cx="4754880" cy="4023360"/>
          </a:xfrm>
          <a:prstGeom prst="roundRect">
            <a:avLst/>
          </a:prstGeom>
          <a:solidFill>
            <a:srgbClr val="FFFFFF"/>
          </a:solidFill>
          <a:ln>
            <a:solidFill>
              <a:srgbClr val="D6D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691640"/>
            <a:ext cx="4754880" cy="438912"/>
          </a:xfrm>
          <a:prstGeom prst="rect">
            <a:avLst/>
          </a:prstGeom>
          <a:solidFill>
            <a:srgbClr val="182A4C"/>
          </a:solidFill>
          <a:ln>
            <a:solidFill>
              <a:srgbClr val="182A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792224"/>
            <a:ext cx="4297680" cy="228600"/>
          </a:xfrm>
          <a:prstGeom prst="rect">
            <a:avLst/>
          </a:prstGeom>
          <a:noFill/>
        </p:spPr>
        <p:txBody>
          <a:bodyPr wrap="square" lIns="54864" tIns="54864" rIns="54864" bIns="54864" anchor="t">
            <a:spAutoFit/>
          </a:bodyPr>
          <a:lstStyle/>
          <a:p>
            <a:pPr algn="l">
              <a:spcAft>
                <a:spcPts val="500"/>
              </a:spcAft>
            </a:pPr>
            <a:r>
              <a:rPr sz="1300" b="1" i="0">
                <a:solidFill>
                  <a:srgbClr val="FFFFFF"/>
                </a:solidFill>
                <a:latin typeface="Times New Roman"/>
              </a:rPr>
              <a:t>QUẢN LÝ SINH VIÊN</a:t>
            </a:r>
          </a:p>
        </p:txBody>
      </p:sp>
      <p:sp>
        <p:nvSpPr>
          <p:cNvPr id="9" name="TextBox 8"/>
          <p:cNvSpPr txBox="1"/>
          <p:nvPr/>
        </p:nvSpPr>
        <p:spPr>
          <a:xfrm>
            <a:off x="1024128" y="2423160"/>
            <a:ext cx="1234440" cy="256032"/>
          </a:xfrm>
          <a:prstGeom prst="rect">
            <a:avLst/>
          </a:prstGeom>
          <a:noFill/>
        </p:spPr>
        <p:txBody>
          <a:bodyPr wrap="square" lIns="54864" tIns="54864" rIns="54864" bIns="54864" anchor="t">
            <a:spAutoFit/>
          </a:bodyPr>
          <a:lstStyle/>
          <a:p>
            <a:pPr algn="l">
              <a:spcAft>
                <a:spcPts val="500"/>
              </a:spcAft>
            </a:pPr>
            <a:r>
              <a:rPr sz="1200" b="1" i="0">
                <a:solidFill>
                  <a:srgbClr val="667387"/>
                </a:solidFill>
                <a:latin typeface="Times New Roman"/>
              </a:rPr>
              <a:t>Họ và tên</a:t>
            </a:r>
          </a:p>
        </p:txBody>
      </p:sp>
      <p:sp>
        <p:nvSpPr>
          <p:cNvPr id="10" name="Rounded Rectangle 9"/>
          <p:cNvSpPr/>
          <p:nvPr/>
        </p:nvSpPr>
        <p:spPr>
          <a:xfrm>
            <a:off x="2331720" y="2386584"/>
            <a:ext cx="2697480" cy="393192"/>
          </a:xfrm>
          <a:prstGeom prst="roundRect">
            <a:avLst/>
          </a:prstGeom>
          <a:solidFill>
            <a:srgbClr val="F6F8FC"/>
          </a:solidFill>
          <a:ln>
            <a:solidFill>
              <a:srgbClr val="E1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468880" y="2450591"/>
            <a:ext cx="2377440" cy="228600"/>
          </a:xfrm>
          <a:prstGeom prst="rect">
            <a:avLst/>
          </a:prstGeom>
          <a:noFill/>
        </p:spPr>
        <p:txBody>
          <a:bodyPr wrap="square" lIns="54864" tIns="54864" rIns="54864" bIns="54864" anchor="t">
            <a:spAutoFit/>
          </a:bodyPr>
          <a:lstStyle/>
          <a:p>
            <a:pPr algn="l">
              <a:spcAft>
                <a:spcPts val="500"/>
              </a:spcAft>
            </a:pPr>
            <a:r>
              <a:rPr sz="1200" b="0" i="0">
                <a:solidFill>
                  <a:srgbClr val="2B3648"/>
                </a:solidFill>
                <a:latin typeface="Times New Roman"/>
              </a:rPr>
              <a:t>Nguyễn Văn A</a:t>
            </a:r>
          </a:p>
        </p:txBody>
      </p:sp>
      <p:sp>
        <p:nvSpPr>
          <p:cNvPr id="12" name="TextBox 11"/>
          <p:cNvSpPr txBox="1"/>
          <p:nvPr/>
        </p:nvSpPr>
        <p:spPr>
          <a:xfrm>
            <a:off x="1024128" y="3172968"/>
            <a:ext cx="1234440" cy="256032"/>
          </a:xfrm>
          <a:prstGeom prst="rect">
            <a:avLst/>
          </a:prstGeom>
          <a:noFill/>
        </p:spPr>
        <p:txBody>
          <a:bodyPr wrap="square" lIns="54864" tIns="54864" rIns="54864" bIns="54864" anchor="t">
            <a:spAutoFit/>
          </a:bodyPr>
          <a:lstStyle/>
          <a:p>
            <a:pPr algn="l">
              <a:spcAft>
                <a:spcPts val="500"/>
              </a:spcAft>
            </a:pPr>
            <a:r>
              <a:rPr sz="1200" b="1" i="0">
                <a:solidFill>
                  <a:srgbClr val="667387"/>
                </a:solidFill>
                <a:latin typeface="Times New Roman"/>
              </a:rPr>
              <a:t>Mã sinh viên</a:t>
            </a:r>
          </a:p>
        </p:txBody>
      </p:sp>
      <p:sp>
        <p:nvSpPr>
          <p:cNvPr id="13" name="Rounded Rectangle 12"/>
          <p:cNvSpPr/>
          <p:nvPr/>
        </p:nvSpPr>
        <p:spPr>
          <a:xfrm>
            <a:off x="2331720" y="3136391"/>
            <a:ext cx="2697480" cy="393192"/>
          </a:xfrm>
          <a:prstGeom prst="roundRect">
            <a:avLst/>
          </a:prstGeom>
          <a:solidFill>
            <a:srgbClr val="F6F8FC"/>
          </a:solidFill>
          <a:ln>
            <a:solidFill>
              <a:srgbClr val="E1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68880" y="3200399"/>
            <a:ext cx="2377440" cy="228600"/>
          </a:xfrm>
          <a:prstGeom prst="rect">
            <a:avLst/>
          </a:prstGeom>
          <a:noFill/>
        </p:spPr>
        <p:txBody>
          <a:bodyPr wrap="square" lIns="54864" tIns="54864" rIns="54864" bIns="54864" anchor="t">
            <a:spAutoFit/>
          </a:bodyPr>
          <a:lstStyle/>
          <a:p>
            <a:pPr algn="l">
              <a:spcAft>
                <a:spcPts val="500"/>
              </a:spcAft>
            </a:pPr>
            <a:r>
              <a:rPr sz="1200" b="0" i="0">
                <a:solidFill>
                  <a:srgbClr val="2B3648"/>
                </a:solidFill>
                <a:latin typeface="Times New Roman"/>
              </a:rPr>
              <a:t>SV001</a:t>
            </a:r>
          </a:p>
        </p:txBody>
      </p:sp>
      <p:sp>
        <p:nvSpPr>
          <p:cNvPr id="15" name="TextBox 14"/>
          <p:cNvSpPr txBox="1"/>
          <p:nvPr/>
        </p:nvSpPr>
        <p:spPr>
          <a:xfrm>
            <a:off x="1024128" y="3922776"/>
            <a:ext cx="1234440" cy="256032"/>
          </a:xfrm>
          <a:prstGeom prst="rect">
            <a:avLst/>
          </a:prstGeom>
          <a:noFill/>
        </p:spPr>
        <p:txBody>
          <a:bodyPr wrap="square" lIns="54864" tIns="54864" rIns="54864" bIns="54864" anchor="t">
            <a:spAutoFit/>
          </a:bodyPr>
          <a:lstStyle/>
          <a:p>
            <a:pPr algn="l">
              <a:spcAft>
                <a:spcPts val="500"/>
              </a:spcAft>
            </a:pPr>
            <a:r>
              <a:rPr sz="1200" b="1" i="0">
                <a:solidFill>
                  <a:srgbClr val="667387"/>
                </a:solidFill>
                <a:latin typeface="Times New Roman"/>
              </a:rPr>
              <a:t>Lớp</a:t>
            </a:r>
          </a:p>
        </p:txBody>
      </p:sp>
      <p:sp>
        <p:nvSpPr>
          <p:cNvPr id="16" name="Rounded Rectangle 15"/>
          <p:cNvSpPr/>
          <p:nvPr/>
        </p:nvSpPr>
        <p:spPr>
          <a:xfrm>
            <a:off x="2331720" y="3886200"/>
            <a:ext cx="2697480" cy="393192"/>
          </a:xfrm>
          <a:prstGeom prst="roundRect">
            <a:avLst/>
          </a:prstGeom>
          <a:solidFill>
            <a:srgbClr val="F6F8FC"/>
          </a:solidFill>
          <a:ln>
            <a:solidFill>
              <a:srgbClr val="E1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68880" y="3950208"/>
            <a:ext cx="2377440" cy="228600"/>
          </a:xfrm>
          <a:prstGeom prst="rect">
            <a:avLst/>
          </a:prstGeom>
          <a:noFill/>
        </p:spPr>
        <p:txBody>
          <a:bodyPr wrap="square" lIns="54864" tIns="54864" rIns="54864" bIns="54864" anchor="t">
            <a:spAutoFit/>
          </a:bodyPr>
          <a:lstStyle/>
          <a:p>
            <a:pPr algn="l">
              <a:spcAft>
                <a:spcPts val="500"/>
              </a:spcAft>
            </a:pPr>
            <a:r>
              <a:rPr sz="1200" b="0" i="0">
                <a:solidFill>
                  <a:srgbClr val="2B3648"/>
                </a:solidFill>
                <a:latin typeface="Times New Roman"/>
              </a:rPr>
              <a:t>CNTT K20</a:t>
            </a:r>
          </a:p>
        </p:txBody>
      </p:sp>
      <p:sp>
        <p:nvSpPr>
          <p:cNvPr id="18" name="Rounded Rectangle 17"/>
          <p:cNvSpPr/>
          <p:nvPr/>
        </p:nvSpPr>
        <p:spPr>
          <a:xfrm>
            <a:off x="1143000" y="4892040"/>
            <a:ext cx="1005840" cy="347472"/>
          </a:xfrm>
          <a:prstGeom prst="roundRect">
            <a:avLst/>
          </a:prstGeom>
          <a:solidFill>
            <a:srgbClr val="3669C9"/>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4919472"/>
            <a:ext cx="914400" cy="256032"/>
          </a:xfrm>
          <a:prstGeom prst="rect">
            <a:avLst/>
          </a:prstGeom>
          <a:noFill/>
        </p:spPr>
        <p:txBody>
          <a:bodyPr wrap="square" lIns="54864" tIns="54864" rIns="54864" bIns="54864" anchor="ctr">
            <a:spAutoFit/>
          </a:bodyPr>
          <a:lstStyle/>
          <a:p>
            <a:pPr algn="ctr">
              <a:spcAft>
                <a:spcPts val="500"/>
              </a:spcAft>
            </a:pPr>
            <a:r>
              <a:rPr sz="1200" b="1" i="0">
                <a:solidFill>
                  <a:srgbClr val="FFFFFF"/>
                </a:solidFill>
                <a:latin typeface="Times New Roman"/>
              </a:rPr>
              <a:t>LƯU</a:t>
            </a:r>
          </a:p>
        </p:txBody>
      </p:sp>
      <p:sp>
        <p:nvSpPr>
          <p:cNvPr id="20" name="Rounded Rectangle 19"/>
          <p:cNvSpPr/>
          <p:nvPr/>
        </p:nvSpPr>
        <p:spPr>
          <a:xfrm>
            <a:off x="2377440" y="4892040"/>
            <a:ext cx="1325880" cy="347472"/>
          </a:xfrm>
          <a:prstGeom prst="roundRect">
            <a:avLst/>
          </a:prstGeom>
          <a:solidFill>
            <a:srgbClr val="E5EEFD"/>
          </a:solidFill>
          <a:ln>
            <a:solidFill>
              <a:srgbClr val="E5E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423160" y="4919472"/>
            <a:ext cx="1234439" cy="256032"/>
          </a:xfrm>
          <a:prstGeom prst="rect">
            <a:avLst/>
          </a:prstGeom>
          <a:noFill/>
        </p:spPr>
        <p:txBody>
          <a:bodyPr wrap="square" lIns="54864" tIns="54864" rIns="54864" bIns="54864" anchor="ctr">
            <a:spAutoFit/>
          </a:bodyPr>
          <a:lstStyle/>
          <a:p>
            <a:pPr algn="ctr">
              <a:spcAft>
                <a:spcPts val="500"/>
              </a:spcAft>
            </a:pPr>
            <a:r>
              <a:rPr sz="1200" b="1" i="0">
                <a:solidFill>
                  <a:srgbClr val="3669C9"/>
                </a:solidFill>
                <a:latin typeface="Times New Roman"/>
              </a:rPr>
              <a:t>LÀM MỚI</a:t>
            </a:r>
          </a:p>
        </p:txBody>
      </p:sp>
      <p:sp>
        <p:nvSpPr>
          <p:cNvPr id="22" name="TextBox 21"/>
          <p:cNvSpPr txBox="1"/>
          <p:nvPr/>
        </p:nvSpPr>
        <p:spPr>
          <a:xfrm>
            <a:off x="6035040" y="1828800"/>
            <a:ext cx="5303520" cy="3045449"/>
          </a:xfrm>
          <a:prstGeom prst="rect">
            <a:avLst/>
          </a:prstGeom>
          <a:noFill/>
        </p:spPr>
        <p:txBody>
          <a:bodyPr wrap="square" lIns="36576" tIns="18288" rIns="36576" bIns="18288">
            <a:spAutoFit/>
          </a:bodyPr>
          <a:lstStyle/>
          <a:p>
            <a:pPr>
              <a:spcAft>
                <a:spcPts val="1100"/>
              </a:spcAft>
            </a:pPr>
            <a:r>
              <a:rPr sz="2400" dirty="0">
                <a:solidFill>
                  <a:srgbClr val="2B3648"/>
                </a:solidFill>
                <a:latin typeface="Times New Roman"/>
              </a:rPr>
              <a:t>•  </a:t>
            </a:r>
            <a:r>
              <a:rPr sz="2400" dirty="0" err="1">
                <a:solidFill>
                  <a:srgbClr val="2B3648"/>
                </a:solidFill>
                <a:latin typeface="Times New Roman"/>
              </a:rPr>
              <a:t>Hiển</a:t>
            </a:r>
            <a:r>
              <a:rPr sz="2400" dirty="0">
                <a:solidFill>
                  <a:srgbClr val="2B3648"/>
                </a:solidFill>
                <a:latin typeface="Times New Roman"/>
              </a:rPr>
              <a:t> </a:t>
            </a:r>
            <a:r>
              <a:rPr sz="2400" dirty="0" err="1">
                <a:solidFill>
                  <a:srgbClr val="2B3648"/>
                </a:solidFill>
                <a:latin typeface="Times New Roman"/>
              </a:rPr>
              <a:t>thị</a:t>
            </a:r>
            <a:r>
              <a:rPr sz="2400" dirty="0">
                <a:solidFill>
                  <a:srgbClr val="2B3648"/>
                </a:solidFill>
                <a:latin typeface="Times New Roman"/>
              </a:rPr>
              <a:t> </a:t>
            </a:r>
            <a:r>
              <a:rPr sz="2400" dirty="0" err="1">
                <a:solidFill>
                  <a:srgbClr val="2B3648"/>
                </a:solidFill>
                <a:latin typeface="Times New Roman"/>
              </a:rPr>
              <a:t>màn</a:t>
            </a:r>
            <a:r>
              <a:rPr sz="2400" dirty="0">
                <a:solidFill>
                  <a:srgbClr val="2B3648"/>
                </a:solidFill>
                <a:latin typeface="Times New Roman"/>
              </a:rPr>
              <a:t> </a:t>
            </a:r>
            <a:r>
              <a:rPr sz="2400" dirty="0" err="1">
                <a:solidFill>
                  <a:srgbClr val="2B3648"/>
                </a:solidFill>
                <a:latin typeface="Times New Roman"/>
              </a:rPr>
              <a:t>hình</a:t>
            </a:r>
            <a:r>
              <a:rPr sz="2400" dirty="0">
                <a:solidFill>
                  <a:srgbClr val="2B3648"/>
                </a:solidFill>
                <a:latin typeface="Times New Roman"/>
              </a:rPr>
              <a:t>, </a:t>
            </a:r>
            <a:r>
              <a:rPr sz="2400" dirty="0" err="1">
                <a:solidFill>
                  <a:srgbClr val="2B3648"/>
                </a:solidFill>
                <a:latin typeface="Times New Roman"/>
              </a:rPr>
              <a:t>biểu</a:t>
            </a:r>
            <a:r>
              <a:rPr sz="2400" dirty="0">
                <a:solidFill>
                  <a:srgbClr val="2B3648"/>
                </a:solidFill>
                <a:latin typeface="Times New Roman"/>
              </a:rPr>
              <a:t> </a:t>
            </a:r>
            <a:r>
              <a:rPr sz="2400" dirty="0" err="1">
                <a:solidFill>
                  <a:srgbClr val="2B3648"/>
                </a:solidFill>
                <a:latin typeface="Times New Roman"/>
              </a:rPr>
              <a:t>mẫu</a:t>
            </a:r>
            <a:r>
              <a:rPr sz="2400" dirty="0">
                <a:solidFill>
                  <a:srgbClr val="2B3648"/>
                </a:solidFill>
                <a:latin typeface="Times New Roman"/>
              </a:rPr>
              <a:t>, </a:t>
            </a:r>
            <a:r>
              <a:rPr sz="2400" dirty="0" err="1">
                <a:solidFill>
                  <a:srgbClr val="2B3648"/>
                </a:solidFill>
                <a:latin typeface="Times New Roman"/>
              </a:rPr>
              <a:t>nút</a:t>
            </a:r>
            <a:r>
              <a:rPr sz="2400" dirty="0">
                <a:solidFill>
                  <a:srgbClr val="2B3648"/>
                </a:solidFill>
                <a:latin typeface="Times New Roman"/>
              </a:rPr>
              <a:t> </a:t>
            </a:r>
            <a:r>
              <a:rPr sz="2400" dirty="0" err="1">
                <a:solidFill>
                  <a:srgbClr val="2B3648"/>
                </a:solidFill>
                <a:latin typeface="Times New Roman"/>
              </a:rPr>
              <a:t>bấm</a:t>
            </a:r>
            <a:r>
              <a:rPr sz="2400" dirty="0">
                <a:solidFill>
                  <a:srgbClr val="2B3648"/>
                </a:solidFill>
                <a:latin typeface="Times New Roman"/>
              </a:rPr>
              <a:t> </a:t>
            </a:r>
            <a:r>
              <a:rPr sz="2400" dirty="0" err="1">
                <a:solidFill>
                  <a:srgbClr val="2B3648"/>
                </a:solidFill>
                <a:latin typeface="Times New Roman"/>
              </a:rPr>
              <a:t>và</a:t>
            </a:r>
            <a:r>
              <a:rPr sz="2400" dirty="0">
                <a:solidFill>
                  <a:srgbClr val="2B3648"/>
                </a:solidFill>
                <a:latin typeface="Times New Roman"/>
              </a:rPr>
              <a:t> </a:t>
            </a:r>
            <a:r>
              <a:rPr sz="2400" dirty="0" err="1">
                <a:solidFill>
                  <a:srgbClr val="2B3648"/>
                </a:solidFill>
                <a:latin typeface="Times New Roman"/>
              </a:rPr>
              <a:t>thông</a:t>
            </a:r>
            <a:r>
              <a:rPr sz="2400" dirty="0">
                <a:solidFill>
                  <a:srgbClr val="2B3648"/>
                </a:solidFill>
                <a:latin typeface="Times New Roman"/>
              </a:rPr>
              <a:t> </a:t>
            </a:r>
            <a:r>
              <a:rPr sz="2400" dirty="0" err="1">
                <a:solidFill>
                  <a:srgbClr val="2B3648"/>
                </a:solidFill>
                <a:latin typeface="Times New Roman"/>
              </a:rPr>
              <a:t>báo</a:t>
            </a:r>
            <a:r>
              <a:rPr sz="2400" dirty="0">
                <a:solidFill>
                  <a:srgbClr val="2B3648"/>
                </a:solidFill>
                <a:latin typeface="Times New Roman"/>
              </a:rPr>
              <a:t>.</a:t>
            </a:r>
          </a:p>
          <a:p>
            <a:pPr>
              <a:spcAft>
                <a:spcPts val="1100"/>
              </a:spcAft>
            </a:pPr>
            <a:r>
              <a:rPr sz="2400" dirty="0">
                <a:solidFill>
                  <a:srgbClr val="2B3648"/>
                </a:solidFill>
                <a:latin typeface="Times New Roman"/>
              </a:rPr>
              <a:t>•  </a:t>
            </a:r>
            <a:r>
              <a:rPr sz="2400" dirty="0" err="1">
                <a:solidFill>
                  <a:srgbClr val="2B3648"/>
                </a:solidFill>
                <a:latin typeface="Times New Roman"/>
              </a:rPr>
              <a:t>Nhận</a:t>
            </a:r>
            <a:r>
              <a:rPr sz="2400" dirty="0">
                <a:solidFill>
                  <a:srgbClr val="2B3648"/>
                </a:solidFill>
                <a:latin typeface="Times New Roman"/>
              </a:rPr>
              <a:t> </a:t>
            </a:r>
            <a:r>
              <a:rPr sz="2400" dirty="0" err="1">
                <a:solidFill>
                  <a:srgbClr val="2B3648"/>
                </a:solidFill>
                <a:latin typeface="Times New Roman"/>
              </a:rPr>
              <a:t>dữ</a:t>
            </a:r>
            <a:r>
              <a:rPr sz="2400" dirty="0">
                <a:solidFill>
                  <a:srgbClr val="2B3648"/>
                </a:solidFill>
                <a:latin typeface="Times New Roman"/>
              </a:rPr>
              <a:t> </a:t>
            </a:r>
            <a:r>
              <a:rPr sz="2400" dirty="0" err="1">
                <a:solidFill>
                  <a:srgbClr val="2B3648"/>
                </a:solidFill>
                <a:latin typeface="Times New Roman"/>
              </a:rPr>
              <a:t>liệu</a:t>
            </a:r>
            <a:r>
              <a:rPr sz="2400" dirty="0">
                <a:solidFill>
                  <a:srgbClr val="2B3648"/>
                </a:solidFill>
                <a:latin typeface="Times New Roman"/>
              </a:rPr>
              <a:t> </a:t>
            </a:r>
            <a:r>
              <a:rPr sz="2400" dirty="0" err="1">
                <a:solidFill>
                  <a:srgbClr val="2B3648"/>
                </a:solidFill>
                <a:latin typeface="Times New Roman"/>
              </a:rPr>
              <a:t>đầu</a:t>
            </a:r>
            <a:r>
              <a:rPr sz="2400" dirty="0">
                <a:solidFill>
                  <a:srgbClr val="2B3648"/>
                </a:solidFill>
                <a:latin typeface="Times New Roman"/>
              </a:rPr>
              <a:t> </a:t>
            </a:r>
            <a:r>
              <a:rPr sz="2400" dirty="0" err="1">
                <a:solidFill>
                  <a:srgbClr val="2B3648"/>
                </a:solidFill>
                <a:latin typeface="Times New Roman"/>
              </a:rPr>
              <a:t>vào</a:t>
            </a:r>
            <a:r>
              <a:rPr sz="2400" dirty="0">
                <a:solidFill>
                  <a:srgbClr val="2B3648"/>
                </a:solidFill>
                <a:latin typeface="Times New Roman"/>
              </a:rPr>
              <a:t>; </a:t>
            </a:r>
            <a:r>
              <a:rPr sz="2400" dirty="0" err="1">
                <a:solidFill>
                  <a:srgbClr val="2B3648"/>
                </a:solidFill>
                <a:latin typeface="Times New Roman"/>
              </a:rPr>
              <a:t>kiểm</a:t>
            </a:r>
            <a:r>
              <a:rPr sz="2400" dirty="0">
                <a:solidFill>
                  <a:srgbClr val="2B3648"/>
                </a:solidFill>
                <a:latin typeface="Times New Roman"/>
              </a:rPr>
              <a:t> </a:t>
            </a:r>
            <a:r>
              <a:rPr sz="2400" dirty="0" err="1">
                <a:solidFill>
                  <a:srgbClr val="2B3648"/>
                </a:solidFill>
                <a:latin typeface="Times New Roman"/>
              </a:rPr>
              <a:t>tra</a:t>
            </a:r>
            <a:r>
              <a:rPr sz="2400" dirty="0">
                <a:solidFill>
                  <a:srgbClr val="2B3648"/>
                </a:solidFill>
                <a:latin typeface="Times New Roman"/>
              </a:rPr>
              <a:t> </a:t>
            </a:r>
            <a:r>
              <a:rPr sz="2400" dirty="0" err="1">
                <a:solidFill>
                  <a:srgbClr val="2B3648"/>
                </a:solidFill>
                <a:latin typeface="Times New Roman"/>
              </a:rPr>
              <a:t>định</a:t>
            </a:r>
            <a:r>
              <a:rPr sz="2400" dirty="0">
                <a:solidFill>
                  <a:srgbClr val="2B3648"/>
                </a:solidFill>
                <a:latin typeface="Times New Roman"/>
              </a:rPr>
              <a:t> </a:t>
            </a:r>
            <a:r>
              <a:rPr sz="2400" dirty="0" err="1">
                <a:solidFill>
                  <a:srgbClr val="2B3648"/>
                </a:solidFill>
                <a:latin typeface="Times New Roman"/>
              </a:rPr>
              <a:t>dạng</a:t>
            </a:r>
            <a:r>
              <a:rPr sz="2400" dirty="0">
                <a:solidFill>
                  <a:srgbClr val="2B3648"/>
                </a:solidFill>
                <a:latin typeface="Times New Roman"/>
              </a:rPr>
              <a:t> </a:t>
            </a:r>
            <a:r>
              <a:rPr sz="2400" dirty="0" err="1">
                <a:solidFill>
                  <a:srgbClr val="2B3648"/>
                </a:solidFill>
                <a:latin typeface="Times New Roman"/>
              </a:rPr>
              <a:t>cơ</a:t>
            </a:r>
            <a:r>
              <a:rPr sz="2400" dirty="0">
                <a:solidFill>
                  <a:srgbClr val="2B3648"/>
                </a:solidFill>
                <a:latin typeface="Times New Roman"/>
              </a:rPr>
              <a:t> </a:t>
            </a:r>
            <a:r>
              <a:rPr sz="2400" dirty="0" err="1">
                <a:solidFill>
                  <a:srgbClr val="2B3648"/>
                </a:solidFill>
                <a:latin typeface="Times New Roman"/>
              </a:rPr>
              <a:t>bản</a:t>
            </a:r>
            <a:r>
              <a:rPr sz="2400" dirty="0">
                <a:solidFill>
                  <a:srgbClr val="2B3648"/>
                </a:solidFill>
                <a:latin typeface="Times New Roman"/>
              </a:rPr>
              <a:t>.</a:t>
            </a:r>
          </a:p>
          <a:p>
            <a:pPr>
              <a:spcAft>
                <a:spcPts val="1100"/>
              </a:spcAft>
            </a:pPr>
            <a:r>
              <a:rPr sz="2400" dirty="0">
                <a:solidFill>
                  <a:srgbClr val="2B3648"/>
                </a:solidFill>
                <a:latin typeface="Times New Roman"/>
              </a:rPr>
              <a:t>•  </a:t>
            </a:r>
            <a:r>
              <a:rPr sz="2400" dirty="0" err="1">
                <a:solidFill>
                  <a:srgbClr val="2B3648"/>
                </a:solidFill>
                <a:latin typeface="Times New Roman"/>
              </a:rPr>
              <a:t>Gọi</a:t>
            </a:r>
            <a:r>
              <a:rPr sz="2400" dirty="0">
                <a:solidFill>
                  <a:srgbClr val="2B3648"/>
                </a:solidFill>
                <a:latin typeface="Times New Roman"/>
              </a:rPr>
              <a:t> </a:t>
            </a:r>
            <a:r>
              <a:rPr sz="2400" dirty="0" err="1">
                <a:solidFill>
                  <a:srgbClr val="2B3648"/>
                </a:solidFill>
                <a:latin typeface="Times New Roman"/>
              </a:rPr>
              <a:t>lớp</a:t>
            </a:r>
            <a:r>
              <a:rPr sz="2400" dirty="0">
                <a:solidFill>
                  <a:srgbClr val="2B3648"/>
                </a:solidFill>
                <a:latin typeface="Times New Roman"/>
              </a:rPr>
              <a:t> </a:t>
            </a:r>
            <a:r>
              <a:rPr sz="2400" dirty="0" err="1">
                <a:solidFill>
                  <a:srgbClr val="2B3648"/>
                </a:solidFill>
                <a:latin typeface="Times New Roman"/>
              </a:rPr>
              <a:t>nghiệp</a:t>
            </a:r>
            <a:r>
              <a:rPr sz="2400" dirty="0">
                <a:solidFill>
                  <a:srgbClr val="2B3648"/>
                </a:solidFill>
                <a:latin typeface="Times New Roman"/>
              </a:rPr>
              <a:t> </a:t>
            </a:r>
            <a:r>
              <a:rPr sz="2400" dirty="0" err="1">
                <a:solidFill>
                  <a:srgbClr val="2B3648"/>
                </a:solidFill>
                <a:latin typeface="Times New Roman"/>
              </a:rPr>
              <a:t>vụ</a:t>
            </a:r>
            <a:r>
              <a:rPr sz="2400" dirty="0">
                <a:solidFill>
                  <a:srgbClr val="2B3648"/>
                </a:solidFill>
                <a:latin typeface="Times New Roman"/>
              </a:rPr>
              <a:t> </a:t>
            </a:r>
            <a:r>
              <a:rPr sz="2400" dirty="0" err="1">
                <a:solidFill>
                  <a:srgbClr val="2B3648"/>
                </a:solidFill>
                <a:latin typeface="Times New Roman"/>
              </a:rPr>
              <a:t>và</a:t>
            </a:r>
            <a:r>
              <a:rPr sz="2400" dirty="0">
                <a:solidFill>
                  <a:srgbClr val="2B3648"/>
                </a:solidFill>
                <a:latin typeface="Times New Roman"/>
              </a:rPr>
              <a:t> </a:t>
            </a:r>
            <a:r>
              <a:rPr sz="2400" dirty="0" err="1">
                <a:solidFill>
                  <a:srgbClr val="2B3648"/>
                </a:solidFill>
                <a:latin typeface="Times New Roman"/>
              </a:rPr>
              <a:t>trình</a:t>
            </a:r>
            <a:r>
              <a:rPr sz="2400" dirty="0">
                <a:solidFill>
                  <a:srgbClr val="2B3648"/>
                </a:solidFill>
                <a:latin typeface="Times New Roman"/>
              </a:rPr>
              <a:t> </a:t>
            </a:r>
            <a:r>
              <a:rPr sz="2400" dirty="0" err="1">
                <a:solidFill>
                  <a:srgbClr val="2B3648"/>
                </a:solidFill>
                <a:latin typeface="Times New Roman"/>
              </a:rPr>
              <a:t>bày</a:t>
            </a:r>
            <a:r>
              <a:rPr sz="2400" dirty="0">
                <a:solidFill>
                  <a:srgbClr val="2B3648"/>
                </a:solidFill>
                <a:latin typeface="Times New Roman"/>
              </a:rPr>
              <a:t> </a:t>
            </a:r>
            <a:r>
              <a:rPr sz="2400" dirty="0" err="1">
                <a:solidFill>
                  <a:srgbClr val="2B3648"/>
                </a:solidFill>
                <a:latin typeface="Times New Roman"/>
              </a:rPr>
              <a:t>kết</a:t>
            </a:r>
            <a:r>
              <a:rPr sz="2400" dirty="0">
                <a:solidFill>
                  <a:srgbClr val="2B3648"/>
                </a:solidFill>
                <a:latin typeface="Times New Roman"/>
              </a:rPr>
              <a:t> </a:t>
            </a:r>
            <a:r>
              <a:rPr sz="2400" dirty="0" err="1">
                <a:solidFill>
                  <a:srgbClr val="2B3648"/>
                </a:solidFill>
                <a:latin typeface="Times New Roman"/>
              </a:rPr>
              <a:t>quả</a:t>
            </a:r>
            <a:r>
              <a:rPr sz="2400" dirty="0">
                <a:solidFill>
                  <a:srgbClr val="2B3648"/>
                </a:solidFill>
                <a:latin typeface="Times New Roman"/>
              </a:rPr>
              <a:t>.</a:t>
            </a:r>
          </a:p>
          <a:p>
            <a:pPr>
              <a:spcAft>
                <a:spcPts val="1100"/>
              </a:spcAft>
            </a:pPr>
            <a:r>
              <a:rPr sz="2400" dirty="0">
                <a:solidFill>
                  <a:srgbClr val="2B3648"/>
                </a:solidFill>
                <a:latin typeface="Times New Roman"/>
              </a:rPr>
              <a:t>•  </a:t>
            </a:r>
            <a:r>
              <a:rPr sz="2400" dirty="0" err="1">
                <a:solidFill>
                  <a:srgbClr val="2B3648"/>
                </a:solidFill>
                <a:latin typeface="Times New Roman"/>
              </a:rPr>
              <a:t>Không</a:t>
            </a:r>
            <a:r>
              <a:rPr sz="2400" dirty="0">
                <a:solidFill>
                  <a:srgbClr val="2B3648"/>
                </a:solidFill>
                <a:latin typeface="Times New Roman"/>
              </a:rPr>
              <a:t> </a:t>
            </a:r>
            <a:r>
              <a:rPr sz="2400" dirty="0" err="1">
                <a:solidFill>
                  <a:srgbClr val="2B3648"/>
                </a:solidFill>
                <a:latin typeface="Times New Roman"/>
              </a:rPr>
              <a:t>nên</a:t>
            </a:r>
            <a:r>
              <a:rPr sz="2400" dirty="0">
                <a:solidFill>
                  <a:srgbClr val="2B3648"/>
                </a:solidFill>
                <a:latin typeface="Times New Roman"/>
              </a:rPr>
              <a:t> </a:t>
            </a:r>
            <a:r>
              <a:rPr sz="2400" dirty="0" err="1">
                <a:solidFill>
                  <a:srgbClr val="2B3648"/>
                </a:solidFill>
                <a:latin typeface="Times New Roman"/>
              </a:rPr>
              <a:t>chứa</a:t>
            </a:r>
            <a:r>
              <a:rPr sz="2400" dirty="0">
                <a:solidFill>
                  <a:srgbClr val="2B3648"/>
                </a:solidFill>
                <a:latin typeface="Times New Roman"/>
              </a:rPr>
              <a:t> </a:t>
            </a:r>
            <a:r>
              <a:rPr sz="2400" dirty="0" err="1">
                <a:solidFill>
                  <a:srgbClr val="2B3648"/>
                </a:solidFill>
                <a:latin typeface="Times New Roman"/>
              </a:rPr>
              <a:t>quy</a:t>
            </a:r>
            <a:r>
              <a:rPr sz="2400" dirty="0">
                <a:solidFill>
                  <a:srgbClr val="2B3648"/>
                </a:solidFill>
                <a:latin typeface="Times New Roman"/>
              </a:rPr>
              <a:t> </a:t>
            </a:r>
            <a:r>
              <a:rPr sz="2400" dirty="0" err="1">
                <a:solidFill>
                  <a:srgbClr val="2B3648"/>
                </a:solidFill>
                <a:latin typeface="Times New Roman"/>
              </a:rPr>
              <a:t>tắc</a:t>
            </a:r>
            <a:r>
              <a:rPr sz="2400" dirty="0">
                <a:solidFill>
                  <a:srgbClr val="2B3648"/>
                </a:solidFill>
                <a:latin typeface="Times New Roman"/>
              </a:rPr>
              <a:t> </a:t>
            </a:r>
            <a:r>
              <a:rPr sz="2400" dirty="0" err="1">
                <a:solidFill>
                  <a:srgbClr val="2B3648"/>
                </a:solidFill>
                <a:latin typeface="Times New Roman"/>
              </a:rPr>
              <a:t>nghiệp</a:t>
            </a:r>
            <a:r>
              <a:rPr sz="2400" dirty="0">
                <a:solidFill>
                  <a:srgbClr val="2B3648"/>
                </a:solidFill>
                <a:latin typeface="Times New Roman"/>
              </a:rPr>
              <a:t> </a:t>
            </a:r>
            <a:r>
              <a:rPr sz="2400" dirty="0" err="1">
                <a:solidFill>
                  <a:srgbClr val="2B3648"/>
                </a:solidFill>
                <a:latin typeface="Times New Roman"/>
              </a:rPr>
              <a:t>vụ</a:t>
            </a:r>
            <a:r>
              <a:rPr sz="2400" dirty="0">
                <a:solidFill>
                  <a:srgbClr val="2B3648"/>
                </a:solidFill>
                <a:latin typeface="Times New Roman"/>
              </a:rPr>
              <a:t> </a:t>
            </a:r>
            <a:r>
              <a:rPr sz="2400" dirty="0" err="1">
                <a:solidFill>
                  <a:srgbClr val="2B3648"/>
                </a:solidFill>
                <a:latin typeface="Times New Roman"/>
              </a:rPr>
              <a:t>phức</a:t>
            </a:r>
            <a:r>
              <a:rPr sz="2400" dirty="0">
                <a:solidFill>
                  <a:srgbClr val="2B3648"/>
                </a:solidFill>
                <a:latin typeface="Times New Roman"/>
              </a:rPr>
              <a:t> </a:t>
            </a:r>
            <a:r>
              <a:rPr sz="2400" dirty="0" err="1">
                <a:solidFill>
                  <a:srgbClr val="2B3648"/>
                </a:solidFill>
                <a:latin typeface="Times New Roman"/>
              </a:rPr>
              <a:t>tạp</a:t>
            </a:r>
            <a:r>
              <a:rPr sz="2400" dirty="0">
                <a:solidFill>
                  <a:srgbClr val="2B3648"/>
                </a:solidFill>
                <a:latin typeface="Times New Roman"/>
              </a:rPr>
              <a:t> </a:t>
            </a:r>
            <a:r>
              <a:rPr sz="2400" dirty="0" err="1">
                <a:solidFill>
                  <a:srgbClr val="2B3648"/>
                </a:solidFill>
                <a:latin typeface="Times New Roman"/>
              </a:rPr>
              <a:t>hoặc</a:t>
            </a:r>
            <a:r>
              <a:rPr sz="2400" dirty="0">
                <a:solidFill>
                  <a:srgbClr val="2B3648"/>
                </a:solidFill>
                <a:latin typeface="Times New Roman"/>
              </a:rPr>
              <a:t> </a:t>
            </a:r>
            <a:r>
              <a:rPr sz="2400" dirty="0" err="1">
                <a:solidFill>
                  <a:srgbClr val="2B3648"/>
                </a:solidFill>
                <a:latin typeface="Times New Roman"/>
              </a:rPr>
              <a:t>câu</a:t>
            </a:r>
            <a:r>
              <a:rPr sz="2400" dirty="0">
                <a:solidFill>
                  <a:srgbClr val="2B3648"/>
                </a:solidFill>
                <a:latin typeface="Times New Roman"/>
              </a:rPr>
              <a:t> </a:t>
            </a:r>
            <a:r>
              <a:rPr sz="2400" dirty="0" err="1">
                <a:solidFill>
                  <a:srgbClr val="2B3648"/>
                </a:solidFill>
                <a:latin typeface="Times New Roman"/>
              </a:rPr>
              <a:t>lệnh</a:t>
            </a:r>
            <a:r>
              <a:rPr sz="2400" dirty="0">
                <a:solidFill>
                  <a:srgbClr val="2B3648"/>
                </a:solidFill>
                <a:latin typeface="Times New Roman"/>
              </a:rPr>
              <a:t> SQL.</a:t>
            </a:r>
          </a:p>
        </p:txBody>
      </p:sp>
      <p:sp>
        <p:nvSpPr>
          <p:cNvPr id="23" name="Rounded Rectangle 22"/>
          <p:cNvSpPr/>
          <p:nvPr/>
        </p:nvSpPr>
        <p:spPr>
          <a:xfrm>
            <a:off x="6080760" y="5257800"/>
            <a:ext cx="5212080" cy="347472"/>
          </a:xfrm>
          <a:prstGeom prst="roundRect">
            <a:avLst/>
          </a:prstGeom>
          <a:solidFill>
            <a:srgbClr val="E0F5F2"/>
          </a:solidFill>
          <a:ln>
            <a:solidFill>
              <a:srgbClr val="E0F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26480" y="5285232"/>
            <a:ext cx="5120640" cy="256032"/>
          </a:xfrm>
          <a:prstGeom prst="rect">
            <a:avLst/>
          </a:prstGeom>
          <a:noFill/>
        </p:spPr>
        <p:txBody>
          <a:bodyPr wrap="square" lIns="54864" tIns="54864" rIns="54864" bIns="54864" anchor="ctr">
            <a:spAutoFit/>
          </a:bodyPr>
          <a:lstStyle/>
          <a:p>
            <a:pPr algn="ctr">
              <a:spcAft>
                <a:spcPts val="500"/>
              </a:spcAft>
            </a:pPr>
            <a:r>
              <a:rPr sz="1100" b="1" i="0">
                <a:solidFill>
                  <a:srgbClr val="182A4C"/>
                </a:solidFill>
                <a:latin typeface="Times New Roman"/>
              </a:rPr>
              <a:t>Ví dụ: Form WinForms / trang web / ứng dụng di động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66928"/>
          </a:xfrm>
          <a:prstGeom prst="rect">
            <a:avLst/>
          </a:prstGeom>
          <a:noFill/>
        </p:spPr>
        <p:txBody>
          <a:bodyPr wrap="square" lIns="54864" tIns="54864" rIns="54864" bIns="54864" anchor="t">
            <a:spAutoFit/>
          </a:bodyPr>
          <a:lstStyle/>
          <a:p>
            <a:pPr algn="l">
              <a:spcAft>
                <a:spcPts val="500"/>
              </a:spcAft>
            </a:pPr>
            <a:r>
              <a:rPr sz="2700" b="1" i="0">
                <a:solidFill>
                  <a:srgbClr val="182A4C"/>
                </a:solidFill>
                <a:latin typeface="Times New Roman"/>
              </a:rPr>
              <a:t>Lớp 2 — Business Logic Layer</a:t>
            </a:r>
          </a:p>
        </p:txBody>
      </p:sp>
      <p:sp>
        <p:nvSpPr>
          <p:cNvPr id="3" name="Rectangle 2"/>
          <p:cNvSpPr/>
          <p:nvPr/>
        </p:nvSpPr>
        <p:spPr>
          <a:xfrm>
            <a:off x="612648" y="969264"/>
            <a:ext cx="822960" cy="50292"/>
          </a:xfrm>
          <a:prstGeom prst="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78992"/>
            <a:ext cx="10881360" cy="418576"/>
          </a:xfrm>
          <a:prstGeom prst="rect">
            <a:avLst/>
          </a:prstGeom>
          <a:noFill/>
        </p:spPr>
        <p:txBody>
          <a:bodyPr wrap="square" lIns="54864" tIns="54864" rIns="54864" bIns="54864" anchor="t">
            <a:spAutoFit/>
          </a:bodyPr>
          <a:lstStyle/>
          <a:p>
            <a:pPr algn="l">
              <a:spcAft>
                <a:spcPts val="500"/>
              </a:spcAft>
            </a:pPr>
            <a:r>
              <a:rPr sz="2000" b="0" i="0" dirty="0" err="1">
                <a:solidFill>
                  <a:srgbClr val="667387"/>
                </a:solidFill>
                <a:latin typeface="Times New Roman"/>
              </a:rPr>
              <a:t>Lớp</a:t>
            </a:r>
            <a:r>
              <a:rPr sz="2000" b="0" i="0" dirty="0">
                <a:solidFill>
                  <a:srgbClr val="667387"/>
                </a:solidFill>
                <a:latin typeface="Times New Roman"/>
              </a:rPr>
              <a:t> </a:t>
            </a:r>
            <a:r>
              <a:rPr sz="2000" b="0" i="0" dirty="0" err="1">
                <a:solidFill>
                  <a:srgbClr val="667387"/>
                </a:solidFill>
                <a:latin typeface="Times New Roman"/>
              </a:rPr>
              <a:t>nghiệp</a:t>
            </a:r>
            <a:r>
              <a:rPr sz="2000" b="0" i="0" dirty="0">
                <a:solidFill>
                  <a:srgbClr val="667387"/>
                </a:solidFill>
                <a:latin typeface="Times New Roman"/>
              </a:rPr>
              <a:t> </a:t>
            </a:r>
            <a:r>
              <a:rPr sz="2000" b="0" i="0" dirty="0" err="1">
                <a:solidFill>
                  <a:srgbClr val="667387"/>
                </a:solidFill>
                <a:latin typeface="Times New Roman"/>
              </a:rPr>
              <a:t>vụ</a:t>
            </a:r>
            <a:r>
              <a:rPr sz="2000" b="0" i="0" dirty="0">
                <a:solidFill>
                  <a:srgbClr val="667387"/>
                </a:solidFill>
                <a:latin typeface="Times New Roman"/>
              </a:rPr>
              <a:t> </a:t>
            </a:r>
            <a:r>
              <a:rPr sz="2000" b="0" i="0" dirty="0" err="1">
                <a:solidFill>
                  <a:srgbClr val="667387"/>
                </a:solidFill>
                <a:latin typeface="Times New Roman"/>
              </a:rPr>
              <a:t>là</a:t>
            </a:r>
            <a:r>
              <a:rPr sz="2000" b="0" i="0" dirty="0">
                <a:solidFill>
                  <a:srgbClr val="667387"/>
                </a:solidFill>
                <a:latin typeface="Times New Roman"/>
              </a:rPr>
              <a:t> </a:t>
            </a:r>
            <a:r>
              <a:rPr sz="2000" b="0" i="0" dirty="0" err="1">
                <a:solidFill>
                  <a:srgbClr val="667387"/>
                </a:solidFill>
                <a:latin typeface="Times New Roman"/>
              </a:rPr>
              <a:t>nơi</a:t>
            </a:r>
            <a:r>
              <a:rPr sz="2000" b="0" i="0" dirty="0">
                <a:solidFill>
                  <a:srgbClr val="667387"/>
                </a:solidFill>
                <a:latin typeface="Times New Roman"/>
              </a:rPr>
              <a:t> </a:t>
            </a:r>
            <a:r>
              <a:rPr sz="2000" b="0" i="0" dirty="0" err="1">
                <a:solidFill>
                  <a:srgbClr val="667387"/>
                </a:solidFill>
                <a:latin typeface="Times New Roman"/>
              </a:rPr>
              <a:t>hiện</a:t>
            </a:r>
            <a:r>
              <a:rPr sz="2000" b="0" i="0" dirty="0">
                <a:solidFill>
                  <a:srgbClr val="667387"/>
                </a:solidFill>
                <a:latin typeface="Times New Roman"/>
              </a:rPr>
              <a:t> </a:t>
            </a:r>
            <a:r>
              <a:rPr sz="2000" b="0" i="0" dirty="0" err="1">
                <a:solidFill>
                  <a:srgbClr val="667387"/>
                </a:solidFill>
                <a:latin typeface="Times New Roman"/>
              </a:rPr>
              <a:t>thực</a:t>
            </a:r>
            <a:r>
              <a:rPr sz="2000" b="0" i="0" dirty="0">
                <a:solidFill>
                  <a:srgbClr val="667387"/>
                </a:solidFill>
                <a:latin typeface="Times New Roman"/>
              </a:rPr>
              <a:t> </a:t>
            </a:r>
            <a:r>
              <a:rPr sz="2000" b="0" i="0" dirty="0" err="1">
                <a:solidFill>
                  <a:srgbClr val="667387"/>
                </a:solidFill>
                <a:latin typeface="Times New Roman"/>
              </a:rPr>
              <a:t>các</a:t>
            </a:r>
            <a:r>
              <a:rPr sz="2000" b="0" i="0" dirty="0">
                <a:solidFill>
                  <a:srgbClr val="667387"/>
                </a:solidFill>
                <a:latin typeface="Times New Roman"/>
              </a:rPr>
              <a:t> </a:t>
            </a:r>
            <a:r>
              <a:rPr sz="2000" b="0" i="0" dirty="0" err="1">
                <a:solidFill>
                  <a:srgbClr val="667387"/>
                </a:solidFill>
                <a:latin typeface="Times New Roman"/>
              </a:rPr>
              <a:t>quy</a:t>
            </a:r>
            <a:r>
              <a:rPr sz="2000" b="0" i="0" dirty="0">
                <a:solidFill>
                  <a:srgbClr val="667387"/>
                </a:solidFill>
                <a:latin typeface="Times New Roman"/>
              </a:rPr>
              <a:t> </a:t>
            </a:r>
            <a:r>
              <a:rPr sz="2000" b="0" i="0" dirty="0" err="1">
                <a:solidFill>
                  <a:srgbClr val="667387"/>
                </a:solidFill>
                <a:latin typeface="Times New Roman"/>
              </a:rPr>
              <a:t>tắc</a:t>
            </a:r>
            <a:r>
              <a:rPr sz="2000" b="0" i="0" dirty="0">
                <a:solidFill>
                  <a:srgbClr val="667387"/>
                </a:solidFill>
                <a:latin typeface="Times New Roman"/>
              </a:rPr>
              <a:t> </a:t>
            </a:r>
            <a:r>
              <a:rPr sz="2000" b="0" i="0" dirty="0" err="1">
                <a:solidFill>
                  <a:srgbClr val="667387"/>
                </a:solidFill>
                <a:latin typeface="Times New Roman"/>
              </a:rPr>
              <a:t>của</a:t>
            </a:r>
            <a:r>
              <a:rPr sz="2000" b="0" i="0" dirty="0">
                <a:solidFill>
                  <a:srgbClr val="667387"/>
                </a:solidFill>
                <a:latin typeface="Times New Roman"/>
              </a:rPr>
              <a:t> </a:t>
            </a:r>
            <a:r>
              <a:rPr sz="2000" b="0" i="0" dirty="0" err="1">
                <a:solidFill>
                  <a:srgbClr val="667387"/>
                </a:solidFill>
                <a:latin typeface="Times New Roman"/>
              </a:rPr>
              <a:t>bài</a:t>
            </a:r>
            <a:r>
              <a:rPr sz="2000" b="0" i="0" dirty="0">
                <a:solidFill>
                  <a:srgbClr val="667387"/>
                </a:solidFill>
                <a:latin typeface="Times New Roman"/>
              </a:rPr>
              <a:t> </a:t>
            </a:r>
            <a:r>
              <a:rPr sz="2000" b="0" i="0" dirty="0" err="1">
                <a:solidFill>
                  <a:srgbClr val="667387"/>
                </a:solidFill>
                <a:latin typeface="Times New Roman"/>
              </a:rPr>
              <a:t>toán</a:t>
            </a:r>
            <a:r>
              <a:rPr sz="2000" b="0" i="0" dirty="0">
                <a:solidFill>
                  <a:srgbClr val="667387"/>
                </a:solidFill>
                <a:latin typeface="Times New Roman"/>
              </a:rPr>
              <a:t>.</a:t>
            </a:r>
          </a:p>
        </p:txBody>
      </p:sp>
      <p:sp>
        <p:nvSpPr>
          <p:cNvPr id="5" name="TextBox 4"/>
          <p:cNvSpPr txBox="1"/>
          <p:nvPr/>
        </p:nvSpPr>
        <p:spPr>
          <a:xfrm>
            <a:off x="10744200" y="6473952"/>
            <a:ext cx="914400" cy="182880"/>
          </a:xfrm>
          <a:prstGeom prst="rect">
            <a:avLst/>
          </a:prstGeom>
          <a:noFill/>
        </p:spPr>
        <p:txBody>
          <a:bodyPr wrap="square" lIns="54864" tIns="54864" rIns="54864" bIns="54864" anchor="t">
            <a:spAutoFit/>
          </a:bodyPr>
          <a:lstStyle/>
          <a:p>
            <a:pPr algn="r">
              <a:spcAft>
                <a:spcPts val="500"/>
              </a:spcAft>
            </a:pPr>
            <a:r>
              <a:rPr sz="900" b="0" i="0">
                <a:solidFill>
                  <a:srgbClr val="667387"/>
                </a:solidFill>
                <a:latin typeface="Times New Roman"/>
              </a:rPr>
              <a:t>07  /  13</a:t>
            </a:r>
          </a:p>
        </p:txBody>
      </p:sp>
      <p:sp>
        <p:nvSpPr>
          <p:cNvPr id="6" name="Oval 5"/>
          <p:cNvSpPr/>
          <p:nvPr/>
        </p:nvSpPr>
        <p:spPr>
          <a:xfrm>
            <a:off x="1051560" y="1965960"/>
            <a:ext cx="2103120" cy="2103120"/>
          </a:xfrm>
          <a:prstGeom prst="ellipse">
            <a:avLst/>
          </a:prstGeom>
          <a:solidFill>
            <a:srgbClr val="E0F5F2"/>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600200" y="2514600"/>
            <a:ext cx="1005840" cy="1005840"/>
          </a:xfrm>
          <a:prstGeom prst="ellipse">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874519" y="2788920"/>
            <a:ext cx="457200" cy="457200"/>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999232" y="2907791"/>
            <a:ext cx="219456" cy="219456"/>
          </a:xfrm>
          <a:prstGeom prst="round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704628" y="3619028"/>
            <a:ext cx="219456" cy="219456"/>
          </a:xfrm>
          <a:prstGeom prst="round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993391" y="3913632"/>
            <a:ext cx="219456" cy="219456"/>
          </a:xfrm>
          <a:prstGeom prst="round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282155" y="3619028"/>
            <a:ext cx="219456" cy="219456"/>
          </a:xfrm>
          <a:prstGeom prst="round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87551" y="2907791"/>
            <a:ext cx="219456" cy="219456"/>
          </a:xfrm>
          <a:prstGeom prst="round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282155" y="2196555"/>
            <a:ext cx="219456" cy="219456"/>
          </a:xfrm>
          <a:prstGeom prst="round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993391" y="1901951"/>
            <a:ext cx="219456" cy="219456"/>
          </a:xfrm>
          <a:prstGeom prst="round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704628" y="2196555"/>
            <a:ext cx="219456" cy="219456"/>
          </a:xfrm>
          <a:prstGeom prst="round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4343400"/>
            <a:ext cx="2560320" cy="320040"/>
          </a:xfrm>
          <a:prstGeom prst="rect">
            <a:avLst/>
          </a:prstGeom>
          <a:noFill/>
        </p:spPr>
        <p:txBody>
          <a:bodyPr wrap="square" lIns="54864" tIns="54864" rIns="54864" bIns="54864" anchor="t">
            <a:spAutoFit/>
          </a:bodyPr>
          <a:lstStyle/>
          <a:p>
            <a:pPr algn="ctr">
              <a:spcAft>
                <a:spcPts val="500"/>
              </a:spcAft>
            </a:pPr>
            <a:r>
              <a:rPr sz="1700" b="1" i="0">
                <a:solidFill>
                  <a:srgbClr val="182A4C"/>
                </a:solidFill>
                <a:latin typeface="Times New Roman"/>
              </a:rPr>
              <a:t>Quy tắc nghiệp vụ</a:t>
            </a:r>
          </a:p>
        </p:txBody>
      </p:sp>
      <p:sp>
        <p:nvSpPr>
          <p:cNvPr id="18" name="TextBox 17"/>
          <p:cNvSpPr txBox="1"/>
          <p:nvPr/>
        </p:nvSpPr>
        <p:spPr>
          <a:xfrm>
            <a:off x="3840480" y="1874519"/>
            <a:ext cx="7132320" cy="1937453"/>
          </a:xfrm>
          <a:prstGeom prst="rect">
            <a:avLst/>
          </a:prstGeom>
          <a:noFill/>
        </p:spPr>
        <p:txBody>
          <a:bodyPr wrap="square" lIns="36576" tIns="18288" rIns="36576" bIns="18288">
            <a:spAutoFit/>
          </a:bodyPr>
          <a:lstStyle/>
          <a:p>
            <a:pPr>
              <a:spcAft>
                <a:spcPts val="1100"/>
              </a:spcAft>
            </a:pPr>
            <a:r>
              <a:rPr sz="2400" dirty="0">
                <a:solidFill>
                  <a:srgbClr val="2B3648"/>
                </a:solidFill>
                <a:latin typeface="Times New Roman"/>
              </a:rPr>
              <a:t>•  </a:t>
            </a:r>
            <a:r>
              <a:rPr sz="2400" dirty="0" err="1">
                <a:solidFill>
                  <a:srgbClr val="2B3648"/>
                </a:solidFill>
                <a:latin typeface="Times New Roman"/>
              </a:rPr>
              <a:t>Kiểm</a:t>
            </a:r>
            <a:r>
              <a:rPr sz="2400" dirty="0">
                <a:solidFill>
                  <a:srgbClr val="2B3648"/>
                </a:solidFill>
                <a:latin typeface="Times New Roman"/>
              </a:rPr>
              <a:t> </a:t>
            </a:r>
            <a:r>
              <a:rPr sz="2400" dirty="0" err="1">
                <a:solidFill>
                  <a:srgbClr val="2B3648"/>
                </a:solidFill>
                <a:latin typeface="Times New Roman"/>
              </a:rPr>
              <a:t>tra</a:t>
            </a:r>
            <a:r>
              <a:rPr sz="2400" dirty="0">
                <a:solidFill>
                  <a:srgbClr val="2B3648"/>
                </a:solidFill>
                <a:latin typeface="Times New Roman"/>
              </a:rPr>
              <a:t> </a:t>
            </a:r>
            <a:r>
              <a:rPr sz="2400" dirty="0" err="1">
                <a:solidFill>
                  <a:srgbClr val="2B3648"/>
                </a:solidFill>
                <a:latin typeface="Times New Roman"/>
              </a:rPr>
              <a:t>điều</a:t>
            </a:r>
            <a:r>
              <a:rPr sz="2400" dirty="0">
                <a:solidFill>
                  <a:srgbClr val="2B3648"/>
                </a:solidFill>
                <a:latin typeface="Times New Roman"/>
              </a:rPr>
              <a:t> </a:t>
            </a:r>
            <a:r>
              <a:rPr sz="2400" dirty="0" err="1">
                <a:solidFill>
                  <a:srgbClr val="2B3648"/>
                </a:solidFill>
                <a:latin typeface="Times New Roman"/>
              </a:rPr>
              <a:t>kiện</a:t>
            </a:r>
            <a:r>
              <a:rPr sz="2400" dirty="0">
                <a:solidFill>
                  <a:srgbClr val="2B3648"/>
                </a:solidFill>
                <a:latin typeface="Times New Roman"/>
              </a:rPr>
              <a:t> </a:t>
            </a:r>
            <a:r>
              <a:rPr sz="2400" dirty="0" err="1">
                <a:solidFill>
                  <a:srgbClr val="2B3648"/>
                </a:solidFill>
                <a:latin typeface="Times New Roman"/>
              </a:rPr>
              <a:t>hợp</a:t>
            </a:r>
            <a:r>
              <a:rPr sz="2400" dirty="0">
                <a:solidFill>
                  <a:srgbClr val="2B3648"/>
                </a:solidFill>
                <a:latin typeface="Times New Roman"/>
              </a:rPr>
              <a:t> </a:t>
            </a:r>
            <a:r>
              <a:rPr sz="2400" dirty="0" err="1">
                <a:solidFill>
                  <a:srgbClr val="2B3648"/>
                </a:solidFill>
                <a:latin typeface="Times New Roman"/>
              </a:rPr>
              <a:t>lệ</a:t>
            </a:r>
            <a:r>
              <a:rPr sz="2400" dirty="0">
                <a:solidFill>
                  <a:srgbClr val="2B3648"/>
                </a:solidFill>
                <a:latin typeface="Times New Roman"/>
              </a:rPr>
              <a:t> </a:t>
            </a:r>
            <a:r>
              <a:rPr sz="2400" dirty="0" err="1">
                <a:solidFill>
                  <a:srgbClr val="2B3648"/>
                </a:solidFill>
                <a:latin typeface="Times New Roman"/>
              </a:rPr>
              <a:t>theo</a:t>
            </a:r>
            <a:r>
              <a:rPr sz="2400" dirty="0">
                <a:solidFill>
                  <a:srgbClr val="2B3648"/>
                </a:solidFill>
                <a:latin typeface="Times New Roman"/>
              </a:rPr>
              <a:t> </a:t>
            </a:r>
            <a:r>
              <a:rPr sz="2400" dirty="0" err="1">
                <a:solidFill>
                  <a:srgbClr val="2B3648"/>
                </a:solidFill>
                <a:latin typeface="Times New Roman"/>
              </a:rPr>
              <a:t>yêu</a:t>
            </a:r>
            <a:r>
              <a:rPr sz="2400" dirty="0">
                <a:solidFill>
                  <a:srgbClr val="2B3648"/>
                </a:solidFill>
                <a:latin typeface="Times New Roman"/>
              </a:rPr>
              <a:t> </a:t>
            </a:r>
            <a:r>
              <a:rPr sz="2400" dirty="0" err="1">
                <a:solidFill>
                  <a:srgbClr val="2B3648"/>
                </a:solidFill>
                <a:latin typeface="Times New Roman"/>
              </a:rPr>
              <a:t>cầu</a:t>
            </a:r>
            <a:r>
              <a:rPr sz="2400" dirty="0">
                <a:solidFill>
                  <a:srgbClr val="2B3648"/>
                </a:solidFill>
                <a:latin typeface="Times New Roman"/>
              </a:rPr>
              <a:t> </a:t>
            </a:r>
            <a:r>
              <a:rPr sz="2400" dirty="0" err="1">
                <a:solidFill>
                  <a:srgbClr val="2B3648"/>
                </a:solidFill>
                <a:latin typeface="Times New Roman"/>
              </a:rPr>
              <a:t>bài</a:t>
            </a:r>
            <a:r>
              <a:rPr sz="2400" dirty="0">
                <a:solidFill>
                  <a:srgbClr val="2B3648"/>
                </a:solidFill>
                <a:latin typeface="Times New Roman"/>
              </a:rPr>
              <a:t> </a:t>
            </a:r>
            <a:r>
              <a:rPr sz="2400" dirty="0" err="1">
                <a:solidFill>
                  <a:srgbClr val="2B3648"/>
                </a:solidFill>
                <a:latin typeface="Times New Roman"/>
              </a:rPr>
              <a:t>toán</a:t>
            </a:r>
            <a:r>
              <a:rPr sz="2400" dirty="0">
                <a:solidFill>
                  <a:srgbClr val="2B3648"/>
                </a:solidFill>
                <a:latin typeface="Times New Roman"/>
              </a:rPr>
              <a:t>.</a:t>
            </a:r>
          </a:p>
          <a:p>
            <a:pPr>
              <a:spcAft>
                <a:spcPts val="1100"/>
              </a:spcAft>
            </a:pPr>
            <a:r>
              <a:rPr sz="2400" dirty="0">
                <a:solidFill>
                  <a:srgbClr val="2B3648"/>
                </a:solidFill>
                <a:latin typeface="Times New Roman"/>
              </a:rPr>
              <a:t>•  </a:t>
            </a:r>
            <a:r>
              <a:rPr sz="2400" dirty="0" err="1">
                <a:solidFill>
                  <a:srgbClr val="2B3648"/>
                </a:solidFill>
                <a:latin typeface="Times New Roman"/>
              </a:rPr>
              <a:t>Tính</a:t>
            </a:r>
            <a:r>
              <a:rPr sz="2400" dirty="0">
                <a:solidFill>
                  <a:srgbClr val="2B3648"/>
                </a:solidFill>
                <a:latin typeface="Times New Roman"/>
              </a:rPr>
              <a:t> </a:t>
            </a:r>
            <a:r>
              <a:rPr sz="2400" dirty="0" err="1">
                <a:solidFill>
                  <a:srgbClr val="2B3648"/>
                </a:solidFill>
                <a:latin typeface="Times New Roman"/>
              </a:rPr>
              <a:t>toán</a:t>
            </a:r>
            <a:r>
              <a:rPr sz="2400" dirty="0">
                <a:solidFill>
                  <a:srgbClr val="2B3648"/>
                </a:solidFill>
                <a:latin typeface="Times New Roman"/>
              </a:rPr>
              <a:t>, </a:t>
            </a:r>
            <a:r>
              <a:rPr sz="2400" dirty="0" err="1">
                <a:solidFill>
                  <a:srgbClr val="2B3648"/>
                </a:solidFill>
                <a:latin typeface="Times New Roman"/>
              </a:rPr>
              <a:t>xử</a:t>
            </a:r>
            <a:r>
              <a:rPr sz="2400" dirty="0">
                <a:solidFill>
                  <a:srgbClr val="2B3648"/>
                </a:solidFill>
                <a:latin typeface="Times New Roman"/>
              </a:rPr>
              <a:t> </a:t>
            </a:r>
            <a:r>
              <a:rPr sz="2400" dirty="0" err="1">
                <a:solidFill>
                  <a:srgbClr val="2B3648"/>
                </a:solidFill>
                <a:latin typeface="Times New Roman"/>
              </a:rPr>
              <a:t>lý</a:t>
            </a:r>
            <a:r>
              <a:rPr sz="2400" dirty="0">
                <a:solidFill>
                  <a:srgbClr val="2B3648"/>
                </a:solidFill>
                <a:latin typeface="Times New Roman"/>
              </a:rPr>
              <a:t> </a:t>
            </a:r>
            <a:r>
              <a:rPr sz="2400" dirty="0" err="1">
                <a:solidFill>
                  <a:srgbClr val="2B3648"/>
                </a:solidFill>
                <a:latin typeface="Times New Roman"/>
              </a:rPr>
              <a:t>và</a:t>
            </a:r>
            <a:r>
              <a:rPr sz="2400" dirty="0">
                <a:solidFill>
                  <a:srgbClr val="2B3648"/>
                </a:solidFill>
                <a:latin typeface="Times New Roman"/>
              </a:rPr>
              <a:t> </a:t>
            </a:r>
            <a:r>
              <a:rPr sz="2400" dirty="0" err="1">
                <a:solidFill>
                  <a:srgbClr val="2B3648"/>
                </a:solidFill>
                <a:latin typeface="Times New Roman"/>
              </a:rPr>
              <a:t>phối</a:t>
            </a:r>
            <a:r>
              <a:rPr sz="2400" dirty="0">
                <a:solidFill>
                  <a:srgbClr val="2B3648"/>
                </a:solidFill>
                <a:latin typeface="Times New Roman"/>
              </a:rPr>
              <a:t> </a:t>
            </a:r>
            <a:r>
              <a:rPr sz="2400" dirty="0" err="1">
                <a:solidFill>
                  <a:srgbClr val="2B3648"/>
                </a:solidFill>
                <a:latin typeface="Times New Roman"/>
              </a:rPr>
              <a:t>hợp</a:t>
            </a:r>
            <a:r>
              <a:rPr sz="2400" dirty="0">
                <a:solidFill>
                  <a:srgbClr val="2B3648"/>
                </a:solidFill>
                <a:latin typeface="Times New Roman"/>
              </a:rPr>
              <a:t> </a:t>
            </a:r>
            <a:r>
              <a:rPr sz="2400" dirty="0" err="1">
                <a:solidFill>
                  <a:srgbClr val="2B3648"/>
                </a:solidFill>
                <a:latin typeface="Times New Roman"/>
              </a:rPr>
              <a:t>các</a:t>
            </a:r>
            <a:r>
              <a:rPr sz="2400" dirty="0">
                <a:solidFill>
                  <a:srgbClr val="2B3648"/>
                </a:solidFill>
                <a:latin typeface="Times New Roman"/>
              </a:rPr>
              <a:t> </a:t>
            </a:r>
            <a:r>
              <a:rPr sz="2400" dirty="0" err="1">
                <a:solidFill>
                  <a:srgbClr val="2B3648"/>
                </a:solidFill>
                <a:latin typeface="Times New Roman"/>
              </a:rPr>
              <a:t>đối</a:t>
            </a:r>
            <a:r>
              <a:rPr sz="2400" dirty="0">
                <a:solidFill>
                  <a:srgbClr val="2B3648"/>
                </a:solidFill>
                <a:latin typeface="Times New Roman"/>
              </a:rPr>
              <a:t> </a:t>
            </a:r>
            <a:r>
              <a:rPr sz="2400" dirty="0" err="1">
                <a:solidFill>
                  <a:srgbClr val="2B3648"/>
                </a:solidFill>
                <a:latin typeface="Times New Roman"/>
              </a:rPr>
              <a:t>tượng</a:t>
            </a:r>
            <a:r>
              <a:rPr sz="2400" dirty="0">
                <a:solidFill>
                  <a:srgbClr val="2B3648"/>
                </a:solidFill>
                <a:latin typeface="Times New Roman"/>
              </a:rPr>
              <a:t> </a:t>
            </a:r>
            <a:r>
              <a:rPr sz="2400" dirty="0" err="1">
                <a:solidFill>
                  <a:srgbClr val="2B3648"/>
                </a:solidFill>
                <a:latin typeface="Times New Roman"/>
              </a:rPr>
              <a:t>nghiệp</a:t>
            </a:r>
            <a:r>
              <a:rPr sz="2400" dirty="0">
                <a:solidFill>
                  <a:srgbClr val="2B3648"/>
                </a:solidFill>
                <a:latin typeface="Times New Roman"/>
              </a:rPr>
              <a:t> </a:t>
            </a:r>
            <a:r>
              <a:rPr sz="2400" dirty="0" err="1">
                <a:solidFill>
                  <a:srgbClr val="2B3648"/>
                </a:solidFill>
                <a:latin typeface="Times New Roman"/>
              </a:rPr>
              <a:t>vụ</a:t>
            </a:r>
            <a:r>
              <a:rPr sz="2400" dirty="0">
                <a:solidFill>
                  <a:srgbClr val="2B3648"/>
                </a:solidFill>
                <a:latin typeface="Times New Roman"/>
              </a:rPr>
              <a:t>.</a:t>
            </a:r>
          </a:p>
          <a:p>
            <a:pPr>
              <a:spcAft>
                <a:spcPts val="1100"/>
              </a:spcAft>
            </a:pPr>
            <a:r>
              <a:rPr sz="2400" dirty="0">
                <a:solidFill>
                  <a:srgbClr val="2B3648"/>
                </a:solidFill>
                <a:latin typeface="Times New Roman"/>
              </a:rPr>
              <a:t>•  </a:t>
            </a:r>
            <a:r>
              <a:rPr sz="2400" dirty="0" err="1">
                <a:solidFill>
                  <a:srgbClr val="2B3648"/>
                </a:solidFill>
                <a:latin typeface="Times New Roman"/>
              </a:rPr>
              <a:t>Quyết</a:t>
            </a:r>
            <a:r>
              <a:rPr sz="2400" dirty="0">
                <a:solidFill>
                  <a:srgbClr val="2B3648"/>
                </a:solidFill>
                <a:latin typeface="Times New Roman"/>
              </a:rPr>
              <a:t> </a:t>
            </a:r>
            <a:r>
              <a:rPr sz="2400" dirty="0" err="1">
                <a:solidFill>
                  <a:srgbClr val="2B3648"/>
                </a:solidFill>
                <a:latin typeface="Times New Roman"/>
              </a:rPr>
              <a:t>định</a:t>
            </a:r>
            <a:r>
              <a:rPr sz="2400" dirty="0">
                <a:solidFill>
                  <a:srgbClr val="2B3648"/>
                </a:solidFill>
                <a:latin typeface="Times New Roman"/>
              </a:rPr>
              <a:t> </a:t>
            </a:r>
            <a:r>
              <a:rPr sz="2400" dirty="0" err="1">
                <a:solidFill>
                  <a:srgbClr val="2B3648"/>
                </a:solidFill>
                <a:latin typeface="Times New Roman"/>
              </a:rPr>
              <a:t>thao</a:t>
            </a:r>
            <a:r>
              <a:rPr sz="2400" dirty="0">
                <a:solidFill>
                  <a:srgbClr val="2B3648"/>
                </a:solidFill>
                <a:latin typeface="Times New Roman"/>
              </a:rPr>
              <a:t> </a:t>
            </a:r>
            <a:r>
              <a:rPr sz="2400" dirty="0" err="1">
                <a:solidFill>
                  <a:srgbClr val="2B3648"/>
                </a:solidFill>
                <a:latin typeface="Times New Roman"/>
              </a:rPr>
              <a:t>tác</a:t>
            </a:r>
            <a:r>
              <a:rPr sz="2400" dirty="0">
                <a:solidFill>
                  <a:srgbClr val="2B3648"/>
                </a:solidFill>
                <a:latin typeface="Times New Roman"/>
              </a:rPr>
              <a:t> </a:t>
            </a:r>
            <a:r>
              <a:rPr sz="2400" dirty="0" err="1">
                <a:solidFill>
                  <a:srgbClr val="2B3648"/>
                </a:solidFill>
                <a:latin typeface="Times New Roman"/>
              </a:rPr>
              <a:t>được</a:t>
            </a:r>
            <a:r>
              <a:rPr sz="2400" dirty="0">
                <a:solidFill>
                  <a:srgbClr val="2B3648"/>
                </a:solidFill>
                <a:latin typeface="Times New Roman"/>
              </a:rPr>
              <a:t> </a:t>
            </a:r>
            <a:r>
              <a:rPr sz="2400" dirty="0" err="1">
                <a:solidFill>
                  <a:srgbClr val="2B3648"/>
                </a:solidFill>
                <a:latin typeface="Times New Roman"/>
              </a:rPr>
              <a:t>phép</a:t>
            </a:r>
            <a:r>
              <a:rPr sz="2400" dirty="0">
                <a:solidFill>
                  <a:srgbClr val="2B3648"/>
                </a:solidFill>
                <a:latin typeface="Times New Roman"/>
              </a:rPr>
              <a:t> hay </a:t>
            </a:r>
            <a:r>
              <a:rPr sz="2400" dirty="0" err="1">
                <a:solidFill>
                  <a:srgbClr val="2B3648"/>
                </a:solidFill>
                <a:latin typeface="Times New Roman"/>
              </a:rPr>
              <a:t>bị</a:t>
            </a:r>
            <a:r>
              <a:rPr sz="2400" dirty="0">
                <a:solidFill>
                  <a:srgbClr val="2B3648"/>
                </a:solidFill>
                <a:latin typeface="Times New Roman"/>
              </a:rPr>
              <a:t> </a:t>
            </a:r>
            <a:r>
              <a:rPr sz="2400" dirty="0" err="1">
                <a:solidFill>
                  <a:srgbClr val="2B3648"/>
                </a:solidFill>
                <a:latin typeface="Times New Roman"/>
              </a:rPr>
              <a:t>từ</a:t>
            </a:r>
            <a:r>
              <a:rPr sz="2400" dirty="0">
                <a:solidFill>
                  <a:srgbClr val="2B3648"/>
                </a:solidFill>
                <a:latin typeface="Times New Roman"/>
              </a:rPr>
              <a:t> </a:t>
            </a:r>
            <a:r>
              <a:rPr sz="2400" dirty="0" err="1">
                <a:solidFill>
                  <a:srgbClr val="2B3648"/>
                </a:solidFill>
                <a:latin typeface="Times New Roman"/>
              </a:rPr>
              <a:t>chối</a:t>
            </a:r>
            <a:r>
              <a:rPr sz="2400" dirty="0">
                <a:solidFill>
                  <a:srgbClr val="2B3648"/>
                </a:solidFill>
                <a:latin typeface="Times New Roman"/>
              </a:rPr>
              <a:t>.</a:t>
            </a:r>
          </a:p>
          <a:p>
            <a:pPr>
              <a:spcAft>
                <a:spcPts val="1100"/>
              </a:spcAft>
            </a:pPr>
            <a:r>
              <a:rPr sz="2400" dirty="0">
                <a:solidFill>
                  <a:srgbClr val="2B3648"/>
                </a:solidFill>
                <a:latin typeface="Times New Roman"/>
              </a:rPr>
              <a:t>•  </a:t>
            </a:r>
            <a:r>
              <a:rPr sz="2400" dirty="0" err="1">
                <a:solidFill>
                  <a:srgbClr val="2B3648"/>
                </a:solidFill>
                <a:latin typeface="Times New Roman"/>
              </a:rPr>
              <a:t>Trả</a:t>
            </a:r>
            <a:r>
              <a:rPr sz="2400" dirty="0">
                <a:solidFill>
                  <a:srgbClr val="2B3648"/>
                </a:solidFill>
                <a:latin typeface="Times New Roman"/>
              </a:rPr>
              <a:t> </a:t>
            </a:r>
            <a:r>
              <a:rPr sz="2400" dirty="0" err="1">
                <a:solidFill>
                  <a:srgbClr val="2B3648"/>
                </a:solidFill>
                <a:latin typeface="Times New Roman"/>
              </a:rPr>
              <a:t>kết</a:t>
            </a:r>
            <a:r>
              <a:rPr sz="2400" dirty="0">
                <a:solidFill>
                  <a:srgbClr val="2B3648"/>
                </a:solidFill>
                <a:latin typeface="Times New Roman"/>
              </a:rPr>
              <a:t> </a:t>
            </a:r>
            <a:r>
              <a:rPr sz="2400" dirty="0" err="1">
                <a:solidFill>
                  <a:srgbClr val="2B3648"/>
                </a:solidFill>
                <a:latin typeface="Times New Roman"/>
              </a:rPr>
              <a:t>quả</a:t>
            </a:r>
            <a:r>
              <a:rPr sz="2400" dirty="0">
                <a:solidFill>
                  <a:srgbClr val="2B3648"/>
                </a:solidFill>
                <a:latin typeface="Times New Roman"/>
              </a:rPr>
              <a:t> </a:t>
            </a:r>
            <a:r>
              <a:rPr sz="2400" dirty="0" err="1">
                <a:solidFill>
                  <a:srgbClr val="2B3648"/>
                </a:solidFill>
                <a:latin typeface="Times New Roman"/>
              </a:rPr>
              <a:t>hoặc</a:t>
            </a:r>
            <a:r>
              <a:rPr sz="2400" dirty="0">
                <a:solidFill>
                  <a:srgbClr val="2B3648"/>
                </a:solidFill>
                <a:latin typeface="Times New Roman"/>
              </a:rPr>
              <a:t> </a:t>
            </a:r>
            <a:r>
              <a:rPr sz="2400" dirty="0" err="1">
                <a:solidFill>
                  <a:srgbClr val="2B3648"/>
                </a:solidFill>
                <a:latin typeface="Times New Roman"/>
              </a:rPr>
              <a:t>thông</a:t>
            </a:r>
            <a:r>
              <a:rPr sz="2400" dirty="0">
                <a:solidFill>
                  <a:srgbClr val="2B3648"/>
                </a:solidFill>
                <a:latin typeface="Times New Roman"/>
              </a:rPr>
              <a:t> </a:t>
            </a:r>
            <a:r>
              <a:rPr sz="2400" dirty="0" err="1">
                <a:solidFill>
                  <a:srgbClr val="2B3648"/>
                </a:solidFill>
                <a:latin typeface="Times New Roman"/>
              </a:rPr>
              <a:t>báo</a:t>
            </a:r>
            <a:r>
              <a:rPr sz="2400" dirty="0">
                <a:solidFill>
                  <a:srgbClr val="2B3648"/>
                </a:solidFill>
                <a:latin typeface="Times New Roman"/>
              </a:rPr>
              <a:t> </a:t>
            </a:r>
            <a:r>
              <a:rPr sz="2400" dirty="0" err="1">
                <a:solidFill>
                  <a:srgbClr val="2B3648"/>
                </a:solidFill>
                <a:latin typeface="Times New Roman"/>
              </a:rPr>
              <a:t>lỗi</a:t>
            </a:r>
            <a:r>
              <a:rPr sz="2400" dirty="0">
                <a:solidFill>
                  <a:srgbClr val="2B3648"/>
                </a:solidFill>
                <a:latin typeface="Times New Roman"/>
              </a:rPr>
              <a:t> </a:t>
            </a:r>
            <a:r>
              <a:rPr sz="2400" dirty="0" err="1">
                <a:solidFill>
                  <a:srgbClr val="2B3648"/>
                </a:solidFill>
                <a:latin typeface="Times New Roman"/>
              </a:rPr>
              <a:t>cho</a:t>
            </a:r>
            <a:r>
              <a:rPr sz="2400" dirty="0">
                <a:solidFill>
                  <a:srgbClr val="2B3648"/>
                </a:solidFill>
                <a:latin typeface="Times New Roman"/>
              </a:rPr>
              <a:t> Presentation Layer.</a:t>
            </a:r>
          </a:p>
        </p:txBody>
      </p:sp>
      <p:sp>
        <p:nvSpPr>
          <p:cNvPr id="19" name="Rounded Rectangle 18"/>
          <p:cNvSpPr/>
          <p:nvPr/>
        </p:nvSpPr>
        <p:spPr>
          <a:xfrm>
            <a:off x="3886200" y="4892040"/>
            <a:ext cx="6812280" cy="868680"/>
          </a:xfrm>
          <a:prstGeom prst="roundRect">
            <a:avLst/>
          </a:prstGeom>
          <a:solidFill>
            <a:srgbClr val="FFF5DB"/>
          </a:solidFill>
          <a:ln>
            <a:solidFill>
              <a:srgbClr val="FFF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886200" y="4892040"/>
            <a:ext cx="82296" cy="868680"/>
          </a:xfrm>
          <a:prstGeom prst="rect">
            <a:avLst/>
          </a:prstGeom>
          <a:solidFill>
            <a:srgbClr val="F2B134"/>
          </a:solidFill>
          <a:ln>
            <a:solidFill>
              <a:srgbClr val="F2B1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87368" y="5038344"/>
            <a:ext cx="6446520" cy="329184"/>
          </a:xfrm>
          <a:prstGeom prst="rect">
            <a:avLst/>
          </a:prstGeom>
          <a:noFill/>
        </p:spPr>
        <p:txBody>
          <a:bodyPr wrap="square" lIns="54864" tIns="54864" rIns="54864" bIns="54864" anchor="t">
            <a:spAutoFit/>
          </a:bodyPr>
          <a:lstStyle/>
          <a:p>
            <a:pPr algn="l">
              <a:spcAft>
                <a:spcPts val="500"/>
              </a:spcAft>
            </a:pPr>
            <a:r>
              <a:rPr sz="1500" b="1" i="0">
                <a:solidFill>
                  <a:srgbClr val="182A4C"/>
                </a:solidFill>
                <a:latin typeface="Times New Roman"/>
              </a:rPr>
              <a:t>Ví dụ</a:t>
            </a:r>
          </a:p>
        </p:txBody>
      </p:sp>
      <p:sp>
        <p:nvSpPr>
          <p:cNvPr id="22" name="TextBox 21"/>
          <p:cNvSpPr txBox="1"/>
          <p:nvPr/>
        </p:nvSpPr>
        <p:spPr>
          <a:xfrm>
            <a:off x="4087368" y="5449824"/>
            <a:ext cx="6446520" cy="210311"/>
          </a:xfrm>
          <a:prstGeom prst="rect">
            <a:avLst/>
          </a:prstGeom>
          <a:noFill/>
        </p:spPr>
        <p:txBody>
          <a:bodyPr wrap="square" lIns="54864" tIns="54864" rIns="54864" bIns="54864" anchor="t">
            <a:spAutoFit/>
          </a:bodyPr>
          <a:lstStyle/>
          <a:p>
            <a:pPr algn="l">
              <a:spcAft>
                <a:spcPts val="500"/>
              </a:spcAft>
            </a:pPr>
            <a:r>
              <a:rPr sz="1300" b="0" i="0">
                <a:solidFill>
                  <a:srgbClr val="2B3648"/>
                </a:solidFill>
                <a:latin typeface="Times New Roman"/>
              </a:rPr>
              <a:t>Chỉ cho phép lưu sinh viên khi mã không trùng và các trường bắt buộc hợp lệ.</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66928"/>
          </a:xfrm>
          <a:prstGeom prst="rect">
            <a:avLst/>
          </a:prstGeom>
          <a:noFill/>
        </p:spPr>
        <p:txBody>
          <a:bodyPr wrap="square" lIns="54864" tIns="54864" rIns="54864" bIns="54864" anchor="t">
            <a:spAutoFit/>
          </a:bodyPr>
          <a:lstStyle/>
          <a:p>
            <a:pPr algn="l">
              <a:spcAft>
                <a:spcPts val="500"/>
              </a:spcAft>
            </a:pPr>
            <a:r>
              <a:rPr sz="2700" b="1" i="0">
                <a:solidFill>
                  <a:srgbClr val="182A4C"/>
                </a:solidFill>
                <a:latin typeface="Times New Roman"/>
              </a:rPr>
              <a:t>Lớp 3 — Data Access Layer và Database</a:t>
            </a:r>
          </a:p>
        </p:txBody>
      </p:sp>
      <p:sp>
        <p:nvSpPr>
          <p:cNvPr id="3" name="Rectangle 2"/>
          <p:cNvSpPr/>
          <p:nvPr/>
        </p:nvSpPr>
        <p:spPr>
          <a:xfrm>
            <a:off x="612648" y="969264"/>
            <a:ext cx="822960" cy="50292"/>
          </a:xfrm>
          <a:prstGeom prst="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78992"/>
            <a:ext cx="10881360" cy="418576"/>
          </a:xfrm>
          <a:prstGeom prst="rect">
            <a:avLst/>
          </a:prstGeom>
          <a:noFill/>
        </p:spPr>
        <p:txBody>
          <a:bodyPr wrap="square" lIns="54864" tIns="54864" rIns="54864" bIns="54864" anchor="t">
            <a:spAutoFit/>
          </a:bodyPr>
          <a:lstStyle/>
          <a:p>
            <a:pPr algn="l">
              <a:spcAft>
                <a:spcPts val="500"/>
              </a:spcAft>
            </a:pPr>
            <a:r>
              <a:rPr sz="2000" b="0" i="0" dirty="0" err="1">
                <a:solidFill>
                  <a:srgbClr val="667387"/>
                </a:solidFill>
                <a:latin typeface="Times New Roman"/>
              </a:rPr>
              <a:t>Tách</a:t>
            </a:r>
            <a:r>
              <a:rPr sz="2000" b="0" i="0" dirty="0">
                <a:solidFill>
                  <a:srgbClr val="667387"/>
                </a:solidFill>
                <a:latin typeface="Times New Roman"/>
              </a:rPr>
              <a:t> </a:t>
            </a:r>
            <a:r>
              <a:rPr sz="2000" b="0" i="0" dirty="0" err="1">
                <a:solidFill>
                  <a:srgbClr val="667387"/>
                </a:solidFill>
                <a:latin typeface="Times New Roman"/>
              </a:rPr>
              <a:t>cách</a:t>
            </a:r>
            <a:r>
              <a:rPr sz="2000" b="0" i="0" dirty="0">
                <a:solidFill>
                  <a:srgbClr val="667387"/>
                </a:solidFill>
                <a:latin typeface="Times New Roman"/>
              </a:rPr>
              <a:t> </a:t>
            </a:r>
            <a:r>
              <a:rPr sz="2000" b="0" i="0" dirty="0" err="1">
                <a:solidFill>
                  <a:srgbClr val="667387"/>
                </a:solidFill>
                <a:latin typeface="Times New Roman"/>
              </a:rPr>
              <a:t>lưu</a:t>
            </a:r>
            <a:r>
              <a:rPr sz="2000" b="0" i="0" dirty="0">
                <a:solidFill>
                  <a:srgbClr val="667387"/>
                </a:solidFill>
                <a:latin typeface="Times New Roman"/>
              </a:rPr>
              <a:t> </a:t>
            </a:r>
            <a:r>
              <a:rPr sz="2000" b="0" i="0" dirty="0" err="1">
                <a:solidFill>
                  <a:srgbClr val="667387"/>
                </a:solidFill>
                <a:latin typeface="Times New Roman"/>
              </a:rPr>
              <a:t>trữ</a:t>
            </a:r>
            <a:r>
              <a:rPr sz="2000" b="0" i="0" dirty="0">
                <a:solidFill>
                  <a:srgbClr val="667387"/>
                </a:solidFill>
                <a:latin typeface="Times New Roman"/>
              </a:rPr>
              <a:t> </a:t>
            </a:r>
            <a:r>
              <a:rPr sz="2000" b="0" i="0" dirty="0" err="1">
                <a:solidFill>
                  <a:srgbClr val="667387"/>
                </a:solidFill>
                <a:latin typeface="Times New Roman"/>
              </a:rPr>
              <a:t>dữ</a:t>
            </a:r>
            <a:r>
              <a:rPr sz="2000" b="0" i="0" dirty="0">
                <a:solidFill>
                  <a:srgbClr val="667387"/>
                </a:solidFill>
                <a:latin typeface="Times New Roman"/>
              </a:rPr>
              <a:t> </a:t>
            </a:r>
            <a:r>
              <a:rPr sz="2000" b="0" i="0" dirty="0" err="1">
                <a:solidFill>
                  <a:srgbClr val="667387"/>
                </a:solidFill>
                <a:latin typeface="Times New Roman"/>
              </a:rPr>
              <a:t>liệu</a:t>
            </a:r>
            <a:r>
              <a:rPr sz="2000" b="0" i="0" dirty="0">
                <a:solidFill>
                  <a:srgbClr val="667387"/>
                </a:solidFill>
                <a:latin typeface="Times New Roman"/>
              </a:rPr>
              <a:t> </a:t>
            </a:r>
            <a:r>
              <a:rPr sz="2000" b="0" i="0" dirty="0" err="1">
                <a:solidFill>
                  <a:srgbClr val="667387"/>
                </a:solidFill>
                <a:latin typeface="Times New Roman"/>
              </a:rPr>
              <a:t>khỏi</a:t>
            </a:r>
            <a:r>
              <a:rPr sz="2000" b="0" i="0" dirty="0">
                <a:solidFill>
                  <a:srgbClr val="667387"/>
                </a:solidFill>
                <a:latin typeface="Times New Roman"/>
              </a:rPr>
              <a:t> </a:t>
            </a:r>
            <a:r>
              <a:rPr sz="2000" b="0" i="0" dirty="0" err="1">
                <a:solidFill>
                  <a:srgbClr val="667387"/>
                </a:solidFill>
                <a:latin typeface="Times New Roman"/>
              </a:rPr>
              <a:t>quy</a:t>
            </a:r>
            <a:r>
              <a:rPr sz="2000" b="0" i="0" dirty="0">
                <a:solidFill>
                  <a:srgbClr val="667387"/>
                </a:solidFill>
                <a:latin typeface="Times New Roman"/>
              </a:rPr>
              <a:t> </a:t>
            </a:r>
            <a:r>
              <a:rPr sz="2000" b="0" i="0" dirty="0" err="1">
                <a:solidFill>
                  <a:srgbClr val="667387"/>
                </a:solidFill>
                <a:latin typeface="Times New Roman"/>
              </a:rPr>
              <a:t>tắc</a:t>
            </a:r>
            <a:r>
              <a:rPr sz="2000" b="0" i="0" dirty="0">
                <a:solidFill>
                  <a:srgbClr val="667387"/>
                </a:solidFill>
                <a:latin typeface="Times New Roman"/>
              </a:rPr>
              <a:t> </a:t>
            </a:r>
            <a:r>
              <a:rPr sz="2000" b="0" i="0" dirty="0" err="1">
                <a:solidFill>
                  <a:srgbClr val="667387"/>
                </a:solidFill>
                <a:latin typeface="Times New Roman"/>
              </a:rPr>
              <a:t>nghiệp</a:t>
            </a:r>
            <a:r>
              <a:rPr sz="2000" b="0" i="0" dirty="0">
                <a:solidFill>
                  <a:srgbClr val="667387"/>
                </a:solidFill>
                <a:latin typeface="Times New Roman"/>
              </a:rPr>
              <a:t> </a:t>
            </a:r>
            <a:r>
              <a:rPr sz="2000" b="0" i="0" dirty="0" err="1">
                <a:solidFill>
                  <a:srgbClr val="667387"/>
                </a:solidFill>
                <a:latin typeface="Times New Roman"/>
              </a:rPr>
              <a:t>vụ</a:t>
            </a:r>
            <a:r>
              <a:rPr sz="2000" b="0" i="0" dirty="0">
                <a:solidFill>
                  <a:srgbClr val="667387"/>
                </a:solidFill>
                <a:latin typeface="Times New Roman"/>
              </a:rPr>
              <a:t>.</a:t>
            </a:r>
          </a:p>
        </p:txBody>
      </p:sp>
      <p:sp>
        <p:nvSpPr>
          <p:cNvPr id="5" name="TextBox 4"/>
          <p:cNvSpPr txBox="1"/>
          <p:nvPr/>
        </p:nvSpPr>
        <p:spPr>
          <a:xfrm>
            <a:off x="10744200" y="6473952"/>
            <a:ext cx="914400" cy="182880"/>
          </a:xfrm>
          <a:prstGeom prst="rect">
            <a:avLst/>
          </a:prstGeom>
          <a:noFill/>
        </p:spPr>
        <p:txBody>
          <a:bodyPr wrap="square" lIns="54864" tIns="54864" rIns="54864" bIns="54864" anchor="t">
            <a:spAutoFit/>
          </a:bodyPr>
          <a:lstStyle/>
          <a:p>
            <a:pPr algn="r">
              <a:spcAft>
                <a:spcPts val="500"/>
              </a:spcAft>
            </a:pPr>
            <a:r>
              <a:rPr sz="900" b="0" i="0">
                <a:solidFill>
                  <a:srgbClr val="667387"/>
                </a:solidFill>
                <a:latin typeface="Times New Roman"/>
              </a:rPr>
              <a:t>08  /  13</a:t>
            </a:r>
          </a:p>
        </p:txBody>
      </p:sp>
      <p:sp>
        <p:nvSpPr>
          <p:cNvPr id="6" name="Rounded Rectangle 5"/>
          <p:cNvSpPr/>
          <p:nvPr/>
        </p:nvSpPr>
        <p:spPr>
          <a:xfrm>
            <a:off x="731520" y="1828800"/>
            <a:ext cx="4846320" cy="2423160"/>
          </a:xfrm>
          <a:prstGeom prst="roundRect">
            <a:avLst/>
          </a:prstGeom>
          <a:solidFill>
            <a:srgbClr val="F0E9FC"/>
          </a:solidFill>
          <a:ln>
            <a:solidFill>
              <a:srgbClr val="F0E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828800"/>
            <a:ext cx="82296" cy="2423160"/>
          </a:xfrm>
          <a:prstGeom prst="rect">
            <a:avLst/>
          </a:prstGeom>
          <a:solidFill>
            <a:srgbClr val="7E5BBE"/>
          </a:solidFill>
          <a:ln>
            <a:solidFill>
              <a:srgbClr val="7E5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1975104"/>
            <a:ext cx="4480559" cy="329184"/>
          </a:xfrm>
          <a:prstGeom prst="rect">
            <a:avLst/>
          </a:prstGeom>
          <a:noFill/>
        </p:spPr>
        <p:txBody>
          <a:bodyPr wrap="square" lIns="54864" tIns="54864" rIns="54864" bIns="54864" anchor="t">
            <a:spAutoFit/>
          </a:bodyPr>
          <a:lstStyle/>
          <a:p>
            <a:pPr algn="l">
              <a:spcAft>
                <a:spcPts val="500"/>
              </a:spcAft>
            </a:pPr>
            <a:r>
              <a:rPr sz="1800" b="1" i="0">
                <a:solidFill>
                  <a:srgbClr val="182A4C"/>
                </a:solidFill>
                <a:latin typeface="Times New Roman"/>
              </a:rPr>
              <a:t>Data Access Layer (DAL)</a:t>
            </a:r>
          </a:p>
        </p:txBody>
      </p:sp>
      <p:sp>
        <p:nvSpPr>
          <p:cNvPr id="9" name="TextBox 8"/>
          <p:cNvSpPr txBox="1"/>
          <p:nvPr/>
        </p:nvSpPr>
        <p:spPr>
          <a:xfrm>
            <a:off x="932688" y="2386584"/>
            <a:ext cx="4480559" cy="1411156"/>
          </a:xfrm>
          <a:prstGeom prst="rect">
            <a:avLst/>
          </a:prstGeom>
          <a:noFill/>
        </p:spPr>
        <p:txBody>
          <a:bodyPr wrap="square" lIns="54864" tIns="54864" rIns="54864" bIns="54864" anchor="t">
            <a:spAutoFit/>
          </a:bodyPr>
          <a:lstStyle/>
          <a:p>
            <a:pPr algn="l">
              <a:spcAft>
                <a:spcPts val="500"/>
              </a:spcAft>
            </a:pPr>
            <a:r>
              <a:rPr b="0" i="0" dirty="0">
                <a:solidFill>
                  <a:srgbClr val="2B3648"/>
                </a:solidFill>
                <a:latin typeface="Times New Roman"/>
              </a:rPr>
              <a:t>• </a:t>
            </a:r>
            <a:r>
              <a:rPr b="0" i="0" dirty="0" err="1">
                <a:solidFill>
                  <a:srgbClr val="2B3648"/>
                </a:solidFill>
                <a:latin typeface="Times New Roman"/>
              </a:rPr>
              <a:t>Thực</a:t>
            </a:r>
            <a:r>
              <a:rPr b="0" i="0" dirty="0">
                <a:solidFill>
                  <a:srgbClr val="2B3648"/>
                </a:solidFill>
                <a:latin typeface="Times New Roman"/>
              </a:rPr>
              <a:t> </a:t>
            </a:r>
            <a:r>
              <a:rPr b="0" i="0" dirty="0" err="1">
                <a:solidFill>
                  <a:srgbClr val="2B3648"/>
                </a:solidFill>
                <a:latin typeface="Times New Roman"/>
              </a:rPr>
              <a:t>hiện</a:t>
            </a:r>
            <a:r>
              <a:rPr b="0" i="0" dirty="0">
                <a:solidFill>
                  <a:srgbClr val="2B3648"/>
                </a:solidFill>
                <a:latin typeface="Times New Roman"/>
              </a:rPr>
              <a:t> </a:t>
            </a:r>
            <a:r>
              <a:rPr b="0" i="0" dirty="0" err="1">
                <a:solidFill>
                  <a:srgbClr val="2B3648"/>
                </a:solidFill>
                <a:latin typeface="Times New Roman"/>
              </a:rPr>
              <a:t>truy</a:t>
            </a:r>
            <a:r>
              <a:rPr b="0" i="0" dirty="0">
                <a:solidFill>
                  <a:srgbClr val="2B3648"/>
                </a:solidFill>
                <a:latin typeface="Times New Roman"/>
              </a:rPr>
              <a:t> </a:t>
            </a:r>
            <a:r>
              <a:rPr b="0" i="0" dirty="0" err="1">
                <a:solidFill>
                  <a:srgbClr val="2B3648"/>
                </a:solidFill>
                <a:latin typeface="Times New Roman"/>
              </a:rPr>
              <a:t>vấn</a:t>
            </a:r>
            <a:r>
              <a:rPr b="0" i="0" dirty="0">
                <a:solidFill>
                  <a:srgbClr val="2B3648"/>
                </a:solidFill>
                <a:latin typeface="Times New Roman"/>
              </a:rPr>
              <a:t>, </a:t>
            </a:r>
            <a:r>
              <a:rPr b="0" i="0" dirty="0" err="1">
                <a:solidFill>
                  <a:srgbClr val="2B3648"/>
                </a:solidFill>
                <a:latin typeface="Times New Roman"/>
              </a:rPr>
              <a:t>thêm</a:t>
            </a:r>
            <a:r>
              <a:rPr b="0" i="0" dirty="0">
                <a:solidFill>
                  <a:srgbClr val="2B3648"/>
                </a:solidFill>
                <a:latin typeface="Times New Roman"/>
              </a:rPr>
              <a:t>, </a:t>
            </a:r>
            <a:r>
              <a:rPr b="0" i="0" dirty="0" err="1">
                <a:solidFill>
                  <a:srgbClr val="2B3648"/>
                </a:solidFill>
                <a:latin typeface="Times New Roman"/>
              </a:rPr>
              <a:t>sửa</a:t>
            </a:r>
            <a:r>
              <a:rPr b="0" i="0" dirty="0">
                <a:solidFill>
                  <a:srgbClr val="2B3648"/>
                </a:solidFill>
                <a:latin typeface="Times New Roman"/>
              </a:rPr>
              <a:t>, </a:t>
            </a:r>
            <a:r>
              <a:rPr b="0" i="0" dirty="0" err="1">
                <a:solidFill>
                  <a:srgbClr val="2B3648"/>
                </a:solidFill>
                <a:latin typeface="Times New Roman"/>
              </a:rPr>
              <a:t>xóa</a:t>
            </a:r>
            <a:r>
              <a:rPr b="0" i="0" dirty="0">
                <a:solidFill>
                  <a:srgbClr val="2B3648"/>
                </a:solidFill>
                <a:latin typeface="Times New Roman"/>
              </a:rPr>
              <a:t> </a:t>
            </a:r>
            <a:r>
              <a:rPr b="0" i="0" dirty="0" err="1">
                <a:solidFill>
                  <a:srgbClr val="2B3648"/>
                </a:solidFill>
                <a:latin typeface="Times New Roman"/>
              </a:rPr>
              <a:t>dữ</a:t>
            </a:r>
            <a:r>
              <a:rPr b="0" i="0" dirty="0">
                <a:solidFill>
                  <a:srgbClr val="2B3648"/>
                </a:solidFill>
                <a:latin typeface="Times New Roman"/>
              </a:rPr>
              <a:t> </a:t>
            </a:r>
            <a:r>
              <a:rPr b="0" i="0" dirty="0" err="1">
                <a:solidFill>
                  <a:srgbClr val="2B3648"/>
                </a:solidFill>
                <a:latin typeface="Times New Roman"/>
              </a:rPr>
              <a:t>liệu</a:t>
            </a:r>
            <a:r>
              <a:rPr b="0" i="0" dirty="0">
                <a:solidFill>
                  <a:srgbClr val="2B3648"/>
                </a:solidFill>
                <a:latin typeface="Times New Roman"/>
              </a:rPr>
              <a:t>.</a:t>
            </a:r>
          </a:p>
          <a:p>
            <a:pPr algn="l">
              <a:spcAft>
                <a:spcPts val="500"/>
              </a:spcAft>
            </a:pPr>
            <a:r>
              <a:rPr b="0" i="0" dirty="0">
                <a:solidFill>
                  <a:srgbClr val="2B3648"/>
                </a:solidFill>
                <a:latin typeface="Times New Roman"/>
              </a:rPr>
              <a:t>• </a:t>
            </a:r>
            <a:r>
              <a:rPr b="0" i="0" dirty="0" err="1">
                <a:solidFill>
                  <a:srgbClr val="2B3648"/>
                </a:solidFill>
                <a:latin typeface="Times New Roman"/>
              </a:rPr>
              <a:t>Làm</a:t>
            </a:r>
            <a:r>
              <a:rPr b="0" i="0" dirty="0">
                <a:solidFill>
                  <a:srgbClr val="2B3648"/>
                </a:solidFill>
                <a:latin typeface="Times New Roman"/>
              </a:rPr>
              <a:t> </a:t>
            </a:r>
            <a:r>
              <a:rPr b="0" i="0" dirty="0" err="1">
                <a:solidFill>
                  <a:srgbClr val="2B3648"/>
                </a:solidFill>
                <a:latin typeface="Times New Roman"/>
              </a:rPr>
              <a:t>việc</a:t>
            </a:r>
            <a:r>
              <a:rPr b="0" i="0" dirty="0">
                <a:solidFill>
                  <a:srgbClr val="2B3648"/>
                </a:solidFill>
                <a:latin typeface="Times New Roman"/>
              </a:rPr>
              <a:t> </a:t>
            </a:r>
            <a:r>
              <a:rPr b="0" i="0" dirty="0" err="1">
                <a:solidFill>
                  <a:srgbClr val="2B3648"/>
                </a:solidFill>
                <a:latin typeface="Times New Roman"/>
              </a:rPr>
              <a:t>với</a:t>
            </a:r>
            <a:r>
              <a:rPr b="0" i="0" dirty="0">
                <a:solidFill>
                  <a:srgbClr val="2B3648"/>
                </a:solidFill>
                <a:latin typeface="Times New Roman"/>
              </a:rPr>
              <a:t> SQL, ORM </a:t>
            </a:r>
            <a:r>
              <a:rPr b="0" i="0" dirty="0" err="1">
                <a:solidFill>
                  <a:srgbClr val="2B3648"/>
                </a:solidFill>
                <a:latin typeface="Times New Roman"/>
              </a:rPr>
              <a:t>hoặc</a:t>
            </a:r>
            <a:r>
              <a:rPr b="0" i="0" dirty="0">
                <a:solidFill>
                  <a:srgbClr val="2B3648"/>
                </a:solidFill>
                <a:latin typeface="Times New Roman"/>
              </a:rPr>
              <a:t> API </a:t>
            </a:r>
            <a:r>
              <a:rPr b="0" i="0" dirty="0" err="1">
                <a:solidFill>
                  <a:srgbClr val="2B3648"/>
                </a:solidFill>
                <a:latin typeface="Times New Roman"/>
              </a:rPr>
              <a:t>dữ</a:t>
            </a:r>
            <a:r>
              <a:rPr b="0" i="0" dirty="0">
                <a:solidFill>
                  <a:srgbClr val="2B3648"/>
                </a:solidFill>
                <a:latin typeface="Times New Roman"/>
              </a:rPr>
              <a:t> </a:t>
            </a:r>
            <a:r>
              <a:rPr b="0" i="0" dirty="0" err="1">
                <a:solidFill>
                  <a:srgbClr val="2B3648"/>
                </a:solidFill>
                <a:latin typeface="Times New Roman"/>
              </a:rPr>
              <a:t>liệu</a:t>
            </a:r>
            <a:r>
              <a:rPr b="0" i="0" dirty="0">
                <a:solidFill>
                  <a:srgbClr val="2B3648"/>
                </a:solidFill>
                <a:latin typeface="Times New Roman"/>
              </a:rPr>
              <a:t>.</a:t>
            </a:r>
          </a:p>
          <a:p>
            <a:pPr algn="l">
              <a:spcAft>
                <a:spcPts val="500"/>
              </a:spcAft>
            </a:pPr>
            <a:r>
              <a:rPr b="0" i="0" dirty="0">
                <a:solidFill>
                  <a:srgbClr val="2B3648"/>
                </a:solidFill>
                <a:latin typeface="Times New Roman"/>
              </a:rPr>
              <a:t>• </a:t>
            </a:r>
            <a:r>
              <a:rPr b="0" i="0" dirty="0" err="1">
                <a:solidFill>
                  <a:srgbClr val="2B3648"/>
                </a:solidFill>
                <a:latin typeface="Times New Roman"/>
              </a:rPr>
              <a:t>Chuyển</a:t>
            </a:r>
            <a:r>
              <a:rPr b="0" i="0" dirty="0">
                <a:solidFill>
                  <a:srgbClr val="2B3648"/>
                </a:solidFill>
                <a:latin typeface="Times New Roman"/>
              </a:rPr>
              <a:t> </a:t>
            </a:r>
            <a:r>
              <a:rPr b="0" i="0" dirty="0" err="1">
                <a:solidFill>
                  <a:srgbClr val="2B3648"/>
                </a:solidFill>
                <a:latin typeface="Times New Roman"/>
              </a:rPr>
              <a:t>dữ</a:t>
            </a:r>
            <a:r>
              <a:rPr b="0" i="0" dirty="0">
                <a:solidFill>
                  <a:srgbClr val="2B3648"/>
                </a:solidFill>
                <a:latin typeface="Times New Roman"/>
              </a:rPr>
              <a:t> </a:t>
            </a:r>
            <a:r>
              <a:rPr b="0" i="0" dirty="0" err="1">
                <a:solidFill>
                  <a:srgbClr val="2B3648"/>
                </a:solidFill>
                <a:latin typeface="Times New Roman"/>
              </a:rPr>
              <a:t>liệu</a:t>
            </a:r>
            <a:r>
              <a:rPr b="0" i="0" dirty="0">
                <a:solidFill>
                  <a:srgbClr val="2B3648"/>
                </a:solidFill>
                <a:latin typeface="Times New Roman"/>
              </a:rPr>
              <a:t> </a:t>
            </a:r>
            <a:r>
              <a:rPr b="0" i="0" dirty="0" err="1">
                <a:solidFill>
                  <a:srgbClr val="2B3648"/>
                </a:solidFill>
                <a:latin typeface="Times New Roman"/>
              </a:rPr>
              <a:t>giữa</a:t>
            </a:r>
            <a:r>
              <a:rPr b="0" i="0" dirty="0">
                <a:solidFill>
                  <a:srgbClr val="2B3648"/>
                </a:solidFill>
                <a:latin typeface="Times New Roman"/>
              </a:rPr>
              <a:t> </a:t>
            </a:r>
            <a:r>
              <a:rPr b="0" i="0" dirty="0" err="1">
                <a:solidFill>
                  <a:srgbClr val="2B3648"/>
                </a:solidFill>
                <a:latin typeface="Times New Roman"/>
              </a:rPr>
              <a:t>ứng</a:t>
            </a:r>
            <a:r>
              <a:rPr b="0" i="0" dirty="0">
                <a:solidFill>
                  <a:srgbClr val="2B3648"/>
                </a:solidFill>
                <a:latin typeface="Times New Roman"/>
              </a:rPr>
              <a:t> </a:t>
            </a:r>
            <a:r>
              <a:rPr b="0" i="0" dirty="0" err="1">
                <a:solidFill>
                  <a:srgbClr val="2B3648"/>
                </a:solidFill>
                <a:latin typeface="Times New Roman"/>
              </a:rPr>
              <a:t>dụng</a:t>
            </a:r>
            <a:r>
              <a:rPr b="0" i="0" dirty="0">
                <a:solidFill>
                  <a:srgbClr val="2B3648"/>
                </a:solidFill>
                <a:latin typeface="Times New Roman"/>
              </a:rPr>
              <a:t> </a:t>
            </a:r>
            <a:r>
              <a:rPr b="0" i="0" dirty="0" err="1">
                <a:solidFill>
                  <a:srgbClr val="2B3648"/>
                </a:solidFill>
                <a:latin typeface="Times New Roman"/>
              </a:rPr>
              <a:t>và</a:t>
            </a:r>
            <a:r>
              <a:rPr b="0" i="0" dirty="0">
                <a:solidFill>
                  <a:srgbClr val="2B3648"/>
                </a:solidFill>
                <a:latin typeface="Times New Roman"/>
              </a:rPr>
              <a:t> </a:t>
            </a:r>
            <a:r>
              <a:rPr b="0" i="0" dirty="0" err="1">
                <a:solidFill>
                  <a:srgbClr val="2B3648"/>
                </a:solidFill>
                <a:latin typeface="Times New Roman"/>
              </a:rPr>
              <a:t>nơi</a:t>
            </a:r>
            <a:r>
              <a:rPr b="0" i="0" dirty="0">
                <a:solidFill>
                  <a:srgbClr val="2B3648"/>
                </a:solidFill>
                <a:latin typeface="Times New Roman"/>
              </a:rPr>
              <a:t> </a:t>
            </a:r>
            <a:r>
              <a:rPr b="0" i="0" dirty="0" err="1">
                <a:solidFill>
                  <a:srgbClr val="2B3648"/>
                </a:solidFill>
                <a:latin typeface="Times New Roman"/>
              </a:rPr>
              <a:t>lưu</a:t>
            </a:r>
            <a:r>
              <a:rPr b="0" i="0" dirty="0">
                <a:solidFill>
                  <a:srgbClr val="2B3648"/>
                </a:solidFill>
                <a:latin typeface="Times New Roman"/>
              </a:rPr>
              <a:t> </a:t>
            </a:r>
            <a:r>
              <a:rPr b="0" i="0" dirty="0" err="1">
                <a:solidFill>
                  <a:srgbClr val="2B3648"/>
                </a:solidFill>
                <a:latin typeface="Times New Roman"/>
              </a:rPr>
              <a:t>trữ</a:t>
            </a:r>
            <a:r>
              <a:rPr b="0" i="0" dirty="0">
                <a:solidFill>
                  <a:srgbClr val="2B3648"/>
                </a:solidFill>
                <a:latin typeface="Times New Roman"/>
              </a:rPr>
              <a:t>.</a:t>
            </a:r>
          </a:p>
          <a:p>
            <a:pPr algn="l">
              <a:spcAft>
                <a:spcPts val="500"/>
              </a:spcAft>
            </a:pPr>
            <a:r>
              <a:rPr b="0" i="0" dirty="0">
                <a:solidFill>
                  <a:srgbClr val="2B3648"/>
                </a:solidFill>
                <a:latin typeface="Times New Roman"/>
              </a:rPr>
              <a:t>• </a:t>
            </a:r>
            <a:r>
              <a:rPr b="0" i="0" dirty="0" err="1">
                <a:solidFill>
                  <a:srgbClr val="2B3648"/>
                </a:solidFill>
                <a:latin typeface="Times New Roman"/>
              </a:rPr>
              <a:t>Không</a:t>
            </a:r>
            <a:r>
              <a:rPr b="0" i="0" dirty="0">
                <a:solidFill>
                  <a:srgbClr val="2B3648"/>
                </a:solidFill>
                <a:latin typeface="Times New Roman"/>
              </a:rPr>
              <a:t> </a:t>
            </a:r>
            <a:r>
              <a:rPr b="0" i="0" dirty="0" err="1">
                <a:solidFill>
                  <a:srgbClr val="2B3648"/>
                </a:solidFill>
                <a:latin typeface="Times New Roman"/>
              </a:rPr>
              <a:t>quyết</a:t>
            </a:r>
            <a:r>
              <a:rPr b="0" i="0" dirty="0">
                <a:solidFill>
                  <a:srgbClr val="2B3648"/>
                </a:solidFill>
                <a:latin typeface="Times New Roman"/>
              </a:rPr>
              <a:t> </a:t>
            </a:r>
            <a:r>
              <a:rPr b="0" i="0" dirty="0" err="1">
                <a:solidFill>
                  <a:srgbClr val="2B3648"/>
                </a:solidFill>
                <a:latin typeface="Times New Roman"/>
              </a:rPr>
              <a:t>định</a:t>
            </a:r>
            <a:r>
              <a:rPr b="0" i="0" dirty="0">
                <a:solidFill>
                  <a:srgbClr val="2B3648"/>
                </a:solidFill>
                <a:latin typeface="Times New Roman"/>
              </a:rPr>
              <a:t> </a:t>
            </a:r>
            <a:r>
              <a:rPr b="0" i="0" dirty="0" err="1">
                <a:solidFill>
                  <a:srgbClr val="2B3648"/>
                </a:solidFill>
                <a:latin typeface="Times New Roman"/>
              </a:rPr>
              <a:t>quy</a:t>
            </a:r>
            <a:r>
              <a:rPr b="0" i="0" dirty="0">
                <a:solidFill>
                  <a:srgbClr val="2B3648"/>
                </a:solidFill>
                <a:latin typeface="Times New Roman"/>
              </a:rPr>
              <a:t> </a:t>
            </a:r>
            <a:r>
              <a:rPr b="0" i="0" dirty="0" err="1">
                <a:solidFill>
                  <a:srgbClr val="2B3648"/>
                </a:solidFill>
                <a:latin typeface="Times New Roman"/>
              </a:rPr>
              <a:t>tắc</a:t>
            </a:r>
            <a:r>
              <a:rPr b="0" i="0" dirty="0">
                <a:solidFill>
                  <a:srgbClr val="2B3648"/>
                </a:solidFill>
                <a:latin typeface="Times New Roman"/>
              </a:rPr>
              <a:t> </a:t>
            </a:r>
            <a:r>
              <a:rPr b="0" i="0" dirty="0" err="1">
                <a:solidFill>
                  <a:srgbClr val="2B3648"/>
                </a:solidFill>
                <a:latin typeface="Times New Roman"/>
              </a:rPr>
              <a:t>nghiệp</a:t>
            </a:r>
            <a:r>
              <a:rPr b="0" i="0" dirty="0">
                <a:solidFill>
                  <a:srgbClr val="2B3648"/>
                </a:solidFill>
                <a:latin typeface="Times New Roman"/>
              </a:rPr>
              <a:t> </a:t>
            </a:r>
            <a:r>
              <a:rPr b="0" i="0" dirty="0" err="1">
                <a:solidFill>
                  <a:srgbClr val="2B3648"/>
                </a:solidFill>
                <a:latin typeface="Times New Roman"/>
              </a:rPr>
              <a:t>vụ</a:t>
            </a:r>
            <a:r>
              <a:rPr b="0" i="0" dirty="0">
                <a:solidFill>
                  <a:srgbClr val="2B3648"/>
                </a:solidFill>
                <a:latin typeface="Times New Roman"/>
              </a:rPr>
              <a:t>.</a:t>
            </a:r>
          </a:p>
        </p:txBody>
      </p:sp>
      <p:sp>
        <p:nvSpPr>
          <p:cNvPr id="10" name="Rounded Rectangle 9"/>
          <p:cNvSpPr/>
          <p:nvPr/>
        </p:nvSpPr>
        <p:spPr>
          <a:xfrm>
            <a:off x="6537960" y="1828800"/>
            <a:ext cx="4846320" cy="2423160"/>
          </a:xfrm>
          <a:prstGeom prst="roundRect">
            <a:avLst/>
          </a:prstGeom>
          <a:solidFill>
            <a:srgbClr val="FFF5DB"/>
          </a:solidFill>
          <a:ln>
            <a:solidFill>
              <a:srgbClr val="FFF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37960" y="1828800"/>
            <a:ext cx="82296" cy="2423160"/>
          </a:xfrm>
          <a:prstGeom prst="rect">
            <a:avLst/>
          </a:prstGeom>
          <a:solidFill>
            <a:srgbClr val="F2B134"/>
          </a:solidFill>
          <a:ln>
            <a:solidFill>
              <a:srgbClr val="F2B1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9128" y="1975104"/>
            <a:ext cx="4480559" cy="329184"/>
          </a:xfrm>
          <a:prstGeom prst="rect">
            <a:avLst/>
          </a:prstGeom>
          <a:noFill/>
        </p:spPr>
        <p:txBody>
          <a:bodyPr wrap="square" lIns="54864" tIns="54864" rIns="54864" bIns="54864" anchor="t">
            <a:spAutoFit/>
          </a:bodyPr>
          <a:lstStyle/>
          <a:p>
            <a:pPr algn="l">
              <a:spcAft>
                <a:spcPts val="500"/>
              </a:spcAft>
            </a:pPr>
            <a:r>
              <a:rPr sz="1800" b="1" i="0">
                <a:solidFill>
                  <a:srgbClr val="182A4C"/>
                </a:solidFill>
                <a:latin typeface="Times New Roman"/>
              </a:rPr>
              <a:t>Database</a:t>
            </a:r>
          </a:p>
        </p:txBody>
      </p:sp>
      <p:sp>
        <p:nvSpPr>
          <p:cNvPr id="13" name="TextBox 12"/>
          <p:cNvSpPr txBox="1"/>
          <p:nvPr/>
        </p:nvSpPr>
        <p:spPr>
          <a:xfrm>
            <a:off x="6739128" y="2386584"/>
            <a:ext cx="4480559" cy="1411156"/>
          </a:xfrm>
          <a:prstGeom prst="rect">
            <a:avLst/>
          </a:prstGeom>
          <a:noFill/>
        </p:spPr>
        <p:txBody>
          <a:bodyPr wrap="square" lIns="54864" tIns="54864" rIns="54864" bIns="54864" anchor="t">
            <a:spAutoFit/>
          </a:bodyPr>
          <a:lstStyle/>
          <a:p>
            <a:pPr algn="l">
              <a:spcAft>
                <a:spcPts val="500"/>
              </a:spcAft>
            </a:pPr>
            <a:r>
              <a:rPr b="0" i="0" dirty="0">
                <a:solidFill>
                  <a:srgbClr val="2B3648"/>
                </a:solidFill>
                <a:latin typeface="Times New Roman"/>
              </a:rPr>
              <a:t>• </a:t>
            </a:r>
            <a:r>
              <a:rPr b="0" i="0" dirty="0" err="1">
                <a:solidFill>
                  <a:srgbClr val="2B3648"/>
                </a:solidFill>
                <a:latin typeface="Times New Roman"/>
              </a:rPr>
              <a:t>Lưu</a:t>
            </a:r>
            <a:r>
              <a:rPr b="0" i="0" dirty="0">
                <a:solidFill>
                  <a:srgbClr val="2B3648"/>
                </a:solidFill>
                <a:latin typeface="Times New Roman"/>
              </a:rPr>
              <a:t> </a:t>
            </a:r>
            <a:r>
              <a:rPr b="0" i="0" dirty="0" err="1">
                <a:solidFill>
                  <a:srgbClr val="2B3648"/>
                </a:solidFill>
                <a:latin typeface="Times New Roman"/>
              </a:rPr>
              <a:t>trữ</a:t>
            </a:r>
            <a:r>
              <a:rPr b="0" i="0" dirty="0">
                <a:solidFill>
                  <a:srgbClr val="2B3648"/>
                </a:solidFill>
                <a:latin typeface="Times New Roman"/>
              </a:rPr>
              <a:t> </a:t>
            </a:r>
            <a:r>
              <a:rPr b="0" i="0" dirty="0" err="1">
                <a:solidFill>
                  <a:srgbClr val="2B3648"/>
                </a:solidFill>
                <a:latin typeface="Times New Roman"/>
              </a:rPr>
              <a:t>dữ</a:t>
            </a:r>
            <a:r>
              <a:rPr b="0" i="0" dirty="0">
                <a:solidFill>
                  <a:srgbClr val="2B3648"/>
                </a:solidFill>
                <a:latin typeface="Times New Roman"/>
              </a:rPr>
              <a:t> </a:t>
            </a:r>
            <a:r>
              <a:rPr b="0" i="0" dirty="0" err="1">
                <a:solidFill>
                  <a:srgbClr val="2B3648"/>
                </a:solidFill>
                <a:latin typeface="Times New Roman"/>
              </a:rPr>
              <a:t>liệu</a:t>
            </a:r>
            <a:r>
              <a:rPr b="0" i="0" dirty="0">
                <a:solidFill>
                  <a:srgbClr val="2B3648"/>
                </a:solidFill>
                <a:latin typeface="Times New Roman"/>
              </a:rPr>
              <a:t> </a:t>
            </a:r>
            <a:r>
              <a:rPr b="0" i="0" dirty="0" err="1">
                <a:solidFill>
                  <a:srgbClr val="2B3648"/>
                </a:solidFill>
                <a:latin typeface="Times New Roman"/>
              </a:rPr>
              <a:t>bền</a:t>
            </a:r>
            <a:r>
              <a:rPr b="0" i="0" dirty="0">
                <a:solidFill>
                  <a:srgbClr val="2B3648"/>
                </a:solidFill>
                <a:latin typeface="Times New Roman"/>
              </a:rPr>
              <a:t> </a:t>
            </a:r>
            <a:r>
              <a:rPr b="0" i="0" dirty="0" err="1">
                <a:solidFill>
                  <a:srgbClr val="2B3648"/>
                </a:solidFill>
                <a:latin typeface="Times New Roman"/>
              </a:rPr>
              <a:t>vững</a:t>
            </a:r>
            <a:r>
              <a:rPr b="0" i="0" dirty="0">
                <a:solidFill>
                  <a:srgbClr val="2B3648"/>
                </a:solidFill>
                <a:latin typeface="Times New Roman"/>
              </a:rPr>
              <a:t>.</a:t>
            </a:r>
          </a:p>
          <a:p>
            <a:pPr algn="l">
              <a:spcAft>
                <a:spcPts val="500"/>
              </a:spcAft>
            </a:pPr>
            <a:r>
              <a:rPr b="0" i="0" dirty="0">
                <a:solidFill>
                  <a:srgbClr val="2B3648"/>
                </a:solidFill>
                <a:latin typeface="Times New Roman"/>
              </a:rPr>
              <a:t>• </a:t>
            </a:r>
            <a:r>
              <a:rPr b="0" i="0" dirty="0" err="1">
                <a:solidFill>
                  <a:srgbClr val="2B3648"/>
                </a:solidFill>
                <a:latin typeface="Times New Roman"/>
              </a:rPr>
              <a:t>Tổ</a:t>
            </a:r>
            <a:r>
              <a:rPr b="0" i="0" dirty="0">
                <a:solidFill>
                  <a:srgbClr val="2B3648"/>
                </a:solidFill>
                <a:latin typeface="Times New Roman"/>
              </a:rPr>
              <a:t> </a:t>
            </a:r>
            <a:r>
              <a:rPr b="0" i="0" dirty="0" err="1">
                <a:solidFill>
                  <a:srgbClr val="2B3648"/>
                </a:solidFill>
                <a:latin typeface="Times New Roman"/>
              </a:rPr>
              <a:t>chức</a:t>
            </a:r>
            <a:r>
              <a:rPr b="0" i="0" dirty="0">
                <a:solidFill>
                  <a:srgbClr val="2B3648"/>
                </a:solidFill>
                <a:latin typeface="Times New Roman"/>
              </a:rPr>
              <a:t> </a:t>
            </a:r>
            <a:r>
              <a:rPr b="0" i="0" dirty="0" err="1">
                <a:solidFill>
                  <a:srgbClr val="2B3648"/>
                </a:solidFill>
                <a:latin typeface="Times New Roman"/>
              </a:rPr>
              <a:t>dữ</a:t>
            </a:r>
            <a:r>
              <a:rPr b="0" i="0" dirty="0">
                <a:solidFill>
                  <a:srgbClr val="2B3648"/>
                </a:solidFill>
                <a:latin typeface="Times New Roman"/>
              </a:rPr>
              <a:t> </a:t>
            </a:r>
            <a:r>
              <a:rPr b="0" i="0" dirty="0" err="1">
                <a:solidFill>
                  <a:srgbClr val="2B3648"/>
                </a:solidFill>
                <a:latin typeface="Times New Roman"/>
              </a:rPr>
              <a:t>liệu</a:t>
            </a:r>
            <a:r>
              <a:rPr b="0" i="0" dirty="0">
                <a:solidFill>
                  <a:srgbClr val="2B3648"/>
                </a:solidFill>
                <a:latin typeface="Times New Roman"/>
              </a:rPr>
              <a:t> </a:t>
            </a:r>
            <a:r>
              <a:rPr b="0" i="0" dirty="0" err="1">
                <a:solidFill>
                  <a:srgbClr val="2B3648"/>
                </a:solidFill>
                <a:latin typeface="Times New Roman"/>
              </a:rPr>
              <a:t>trong</a:t>
            </a:r>
            <a:r>
              <a:rPr b="0" i="0" dirty="0">
                <a:solidFill>
                  <a:srgbClr val="2B3648"/>
                </a:solidFill>
                <a:latin typeface="Times New Roman"/>
              </a:rPr>
              <a:t> </a:t>
            </a:r>
            <a:r>
              <a:rPr b="0" i="0" dirty="0" err="1">
                <a:solidFill>
                  <a:srgbClr val="2B3648"/>
                </a:solidFill>
                <a:latin typeface="Times New Roman"/>
              </a:rPr>
              <a:t>bảng</a:t>
            </a:r>
            <a:r>
              <a:rPr b="0" i="0" dirty="0">
                <a:solidFill>
                  <a:srgbClr val="2B3648"/>
                </a:solidFill>
                <a:latin typeface="Times New Roman"/>
              </a:rPr>
              <a:t>, </a:t>
            </a:r>
            <a:r>
              <a:rPr b="0" i="0" dirty="0" err="1">
                <a:solidFill>
                  <a:srgbClr val="2B3648"/>
                </a:solidFill>
                <a:latin typeface="Times New Roman"/>
              </a:rPr>
              <a:t>khóa</a:t>
            </a:r>
            <a:r>
              <a:rPr b="0" i="0" dirty="0">
                <a:solidFill>
                  <a:srgbClr val="2B3648"/>
                </a:solidFill>
                <a:latin typeface="Times New Roman"/>
              </a:rPr>
              <a:t> </a:t>
            </a:r>
            <a:r>
              <a:rPr b="0" i="0" dirty="0" err="1">
                <a:solidFill>
                  <a:srgbClr val="2B3648"/>
                </a:solidFill>
                <a:latin typeface="Times New Roman"/>
              </a:rPr>
              <a:t>và</a:t>
            </a:r>
            <a:r>
              <a:rPr b="0" i="0" dirty="0">
                <a:solidFill>
                  <a:srgbClr val="2B3648"/>
                </a:solidFill>
                <a:latin typeface="Times New Roman"/>
              </a:rPr>
              <a:t> </a:t>
            </a:r>
            <a:r>
              <a:rPr b="0" i="0" dirty="0" err="1">
                <a:solidFill>
                  <a:srgbClr val="2B3648"/>
                </a:solidFill>
                <a:latin typeface="Times New Roman"/>
              </a:rPr>
              <a:t>quan</a:t>
            </a:r>
            <a:r>
              <a:rPr b="0" i="0" dirty="0">
                <a:solidFill>
                  <a:srgbClr val="2B3648"/>
                </a:solidFill>
                <a:latin typeface="Times New Roman"/>
              </a:rPr>
              <a:t> </a:t>
            </a:r>
            <a:r>
              <a:rPr b="0" i="0" dirty="0" err="1">
                <a:solidFill>
                  <a:srgbClr val="2B3648"/>
                </a:solidFill>
                <a:latin typeface="Times New Roman"/>
              </a:rPr>
              <a:t>hệ</a:t>
            </a:r>
            <a:r>
              <a:rPr b="0" i="0" dirty="0">
                <a:solidFill>
                  <a:srgbClr val="2B3648"/>
                </a:solidFill>
                <a:latin typeface="Times New Roman"/>
              </a:rPr>
              <a:t>.</a:t>
            </a:r>
          </a:p>
          <a:p>
            <a:pPr algn="l">
              <a:spcAft>
                <a:spcPts val="500"/>
              </a:spcAft>
            </a:pPr>
            <a:r>
              <a:rPr b="0" i="0" dirty="0">
                <a:solidFill>
                  <a:srgbClr val="2B3648"/>
                </a:solidFill>
                <a:latin typeface="Times New Roman"/>
              </a:rPr>
              <a:t>• </a:t>
            </a:r>
            <a:r>
              <a:rPr b="0" i="0" dirty="0" err="1">
                <a:solidFill>
                  <a:srgbClr val="2B3648"/>
                </a:solidFill>
                <a:latin typeface="Times New Roman"/>
              </a:rPr>
              <a:t>Ví</a:t>
            </a:r>
            <a:r>
              <a:rPr b="0" i="0" dirty="0">
                <a:solidFill>
                  <a:srgbClr val="2B3648"/>
                </a:solidFill>
                <a:latin typeface="Times New Roman"/>
              </a:rPr>
              <a:t> </a:t>
            </a:r>
            <a:r>
              <a:rPr b="0" i="0" dirty="0" err="1">
                <a:solidFill>
                  <a:srgbClr val="2B3648"/>
                </a:solidFill>
                <a:latin typeface="Times New Roman"/>
              </a:rPr>
              <a:t>dụ</a:t>
            </a:r>
            <a:r>
              <a:rPr b="0" i="0" dirty="0">
                <a:solidFill>
                  <a:srgbClr val="2B3648"/>
                </a:solidFill>
                <a:latin typeface="Times New Roman"/>
              </a:rPr>
              <a:t>: SQL Server, MySQL, PostgreSQL.</a:t>
            </a:r>
          </a:p>
          <a:p>
            <a:pPr algn="l">
              <a:spcAft>
                <a:spcPts val="500"/>
              </a:spcAft>
            </a:pPr>
            <a:r>
              <a:rPr b="0" i="0" dirty="0">
                <a:solidFill>
                  <a:srgbClr val="2B3648"/>
                </a:solidFill>
                <a:latin typeface="Times New Roman"/>
              </a:rPr>
              <a:t>• </a:t>
            </a:r>
            <a:r>
              <a:rPr b="0" i="0" dirty="0" err="1">
                <a:solidFill>
                  <a:srgbClr val="2B3648"/>
                </a:solidFill>
                <a:latin typeface="Times New Roman"/>
              </a:rPr>
              <a:t>Hỗ</a:t>
            </a:r>
            <a:r>
              <a:rPr b="0" i="0" dirty="0">
                <a:solidFill>
                  <a:srgbClr val="2B3648"/>
                </a:solidFill>
                <a:latin typeface="Times New Roman"/>
              </a:rPr>
              <a:t> </a:t>
            </a:r>
            <a:r>
              <a:rPr b="0" i="0" dirty="0" err="1">
                <a:solidFill>
                  <a:srgbClr val="2B3648"/>
                </a:solidFill>
                <a:latin typeface="Times New Roman"/>
              </a:rPr>
              <a:t>trợ</a:t>
            </a:r>
            <a:r>
              <a:rPr b="0" i="0" dirty="0">
                <a:solidFill>
                  <a:srgbClr val="2B3648"/>
                </a:solidFill>
                <a:latin typeface="Times New Roman"/>
              </a:rPr>
              <a:t> </a:t>
            </a:r>
            <a:r>
              <a:rPr b="0" i="0" dirty="0" err="1">
                <a:solidFill>
                  <a:srgbClr val="2B3648"/>
                </a:solidFill>
                <a:latin typeface="Times New Roman"/>
              </a:rPr>
              <a:t>truy</a:t>
            </a:r>
            <a:r>
              <a:rPr b="0" i="0" dirty="0">
                <a:solidFill>
                  <a:srgbClr val="2B3648"/>
                </a:solidFill>
                <a:latin typeface="Times New Roman"/>
              </a:rPr>
              <a:t> </a:t>
            </a:r>
            <a:r>
              <a:rPr b="0" i="0" dirty="0" err="1">
                <a:solidFill>
                  <a:srgbClr val="2B3648"/>
                </a:solidFill>
                <a:latin typeface="Times New Roman"/>
              </a:rPr>
              <a:t>vấn</a:t>
            </a:r>
            <a:r>
              <a:rPr b="0" i="0" dirty="0">
                <a:solidFill>
                  <a:srgbClr val="2B3648"/>
                </a:solidFill>
                <a:latin typeface="Times New Roman"/>
              </a:rPr>
              <a:t> </a:t>
            </a:r>
            <a:r>
              <a:rPr b="0" i="0" dirty="0" err="1">
                <a:solidFill>
                  <a:srgbClr val="2B3648"/>
                </a:solidFill>
                <a:latin typeface="Times New Roman"/>
              </a:rPr>
              <a:t>và</a:t>
            </a:r>
            <a:r>
              <a:rPr b="0" i="0" dirty="0">
                <a:solidFill>
                  <a:srgbClr val="2B3648"/>
                </a:solidFill>
                <a:latin typeface="Times New Roman"/>
              </a:rPr>
              <a:t> </a:t>
            </a:r>
            <a:r>
              <a:rPr b="0" i="0" dirty="0" err="1">
                <a:solidFill>
                  <a:srgbClr val="2B3648"/>
                </a:solidFill>
                <a:latin typeface="Times New Roman"/>
              </a:rPr>
              <a:t>bảo</a:t>
            </a:r>
            <a:r>
              <a:rPr b="0" i="0" dirty="0">
                <a:solidFill>
                  <a:srgbClr val="2B3648"/>
                </a:solidFill>
                <a:latin typeface="Times New Roman"/>
              </a:rPr>
              <a:t> </a:t>
            </a:r>
            <a:r>
              <a:rPr b="0" i="0" dirty="0" err="1">
                <a:solidFill>
                  <a:srgbClr val="2B3648"/>
                </a:solidFill>
                <a:latin typeface="Times New Roman"/>
              </a:rPr>
              <a:t>đảm</a:t>
            </a:r>
            <a:r>
              <a:rPr b="0" i="0" dirty="0">
                <a:solidFill>
                  <a:srgbClr val="2B3648"/>
                </a:solidFill>
                <a:latin typeface="Times New Roman"/>
              </a:rPr>
              <a:t> </a:t>
            </a:r>
            <a:r>
              <a:rPr b="0" i="0" dirty="0" err="1">
                <a:solidFill>
                  <a:srgbClr val="2B3648"/>
                </a:solidFill>
                <a:latin typeface="Times New Roman"/>
              </a:rPr>
              <a:t>tính</a:t>
            </a:r>
            <a:r>
              <a:rPr b="0" i="0" dirty="0">
                <a:solidFill>
                  <a:srgbClr val="2B3648"/>
                </a:solidFill>
                <a:latin typeface="Times New Roman"/>
              </a:rPr>
              <a:t> </a:t>
            </a:r>
            <a:r>
              <a:rPr b="0" i="0" dirty="0" err="1">
                <a:solidFill>
                  <a:srgbClr val="2B3648"/>
                </a:solidFill>
                <a:latin typeface="Times New Roman"/>
              </a:rPr>
              <a:t>toàn</a:t>
            </a:r>
            <a:r>
              <a:rPr b="0" i="0" dirty="0">
                <a:solidFill>
                  <a:srgbClr val="2B3648"/>
                </a:solidFill>
                <a:latin typeface="Times New Roman"/>
              </a:rPr>
              <a:t> </a:t>
            </a:r>
            <a:r>
              <a:rPr b="0" i="0" dirty="0" err="1">
                <a:solidFill>
                  <a:srgbClr val="2B3648"/>
                </a:solidFill>
                <a:latin typeface="Times New Roman"/>
              </a:rPr>
              <a:t>vẹn</a:t>
            </a:r>
            <a:r>
              <a:rPr b="0" i="0" dirty="0">
                <a:solidFill>
                  <a:srgbClr val="2B3648"/>
                </a:solidFill>
                <a:latin typeface="Times New Roman"/>
              </a:rPr>
              <a:t>.</a:t>
            </a:r>
          </a:p>
        </p:txBody>
      </p:sp>
      <p:cxnSp>
        <p:nvCxnSpPr>
          <p:cNvPr id="14" name="Connector 13"/>
          <p:cNvCxnSpPr/>
          <p:nvPr/>
        </p:nvCxnSpPr>
        <p:spPr>
          <a:xfrm>
            <a:off x="5623560" y="2834640"/>
            <a:ext cx="777240" cy="0"/>
          </a:xfrm>
          <a:prstGeom prst="line">
            <a:avLst/>
          </a:prstGeom>
          <a:ln w="38100">
            <a:solidFill>
              <a:srgbClr val="22969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97280" y="4983480"/>
            <a:ext cx="9875520" cy="502920"/>
          </a:xfrm>
          <a:prstGeom prst="rect">
            <a:avLst/>
          </a:prstGeom>
          <a:noFill/>
        </p:spPr>
        <p:txBody>
          <a:bodyPr wrap="square" lIns="54864" tIns="54864" rIns="54864" bIns="54864" anchor="t">
            <a:spAutoFit/>
          </a:bodyPr>
          <a:lstStyle/>
          <a:p>
            <a:pPr algn="ctr">
              <a:spcAft>
                <a:spcPts val="500"/>
              </a:spcAft>
            </a:pPr>
            <a:r>
              <a:rPr sz="1600" b="1" i="0">
                <a:solidFill>
                  <a:srgbClr val="182A4C"/>
                </a:solidFill>
                <a:latin typeface="Times New Roman"/>
              </a:rPr>
              <a:t>Business Logic gọi DAL → DAL truy vấn Database → dữ liệu trả về theo chiều ngược lại.</a:t>
            </a:r>
          </a:p>
        </p:txBody>
      </p:sp>
      <p:sp>
        <p:nvSpPr>
          <p:cNvPr id="16" name="Rounded Rectangle 15"/>
          <p:cNvSpPr/>
          <p:nvPr/>
        </p:nvSpPr>
        <p:spPr>
          <a:xfrm>
            <a:off x="3108960" y="5669280"/>
            <a:ext cx="5943600" cy="347472"/>
          </a:xfrm>
          <a:prstGeom prst="roundRect">
            <a:avLst/>
          </a:prstGeom>
          <a:solidFill>
            <a:srgbClr val="E5EEFD"/>
          </a:solidFill>
          <a:ln>
            <a:solidFill>
              <a:srgbClr val="E5E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154679" y="5696712"/>
            <a:ext cx="5852160" cy="256032"/>
          </a:xfrm>
          <a:prstGeom prst="rect">
            <a:avLst/>
          </a:prstGeom>
          <a:noFill/>
        </p:spPr>
        <p:txBody>
          <a:bodyPr wrap="square" lIns="54864" tIns="54864" rIns="54864" bIns="54864" anchor="ctr">
            <a:spAutoFit/>
          </a:bodyPr>
          <a:lstStyle/>
          <a:p>
            <a:pPr algn="ctr">
              <a:spcAft>
                <a:spcPts val="500"/>
              </a:spcAft>
            </a:pPr>
            <a:r>
              <a:rPr sz="1200" b="1" i="0">
                <a:solidFill>
                  <a:srgbClr val="3669C9"/>
                </a:solidFill>
                <a:latin typeface="Times New Roman"/>
              </a:rPr>
              <a:t>LỢI ÍCH: DỄ ĐỔI CÁCH LƯU TRỮ HƠN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66928"/>
          </a:xfrm>
          <a:prstGeom prst="rect">
            <a:avLst/>
          </a:prstGeom>
          <a:noFill/>
        </p:spPr>
        <p:txBody>
          <a:bodyPr wrap="square" lIns="54864" tIns="54864" rIns="54864" bIns="54864" anchor="t">
            <a:spAutoFit/>
          </a:bodyPr>
          <a:lstStyle/>
          <a:p>
            <a:pPr algn="l">
              <a:spcAft>
                <a:spcPts val="500"/>
              </a:spcAft>
            </a:pPr>
            <a:r>
              <a:rPr sz="2700" b="1" i="0">
                <a:solidFill>
                  <a:srgbClr val="182A4C"/>
                </a:solidFill>
                <a:latin typeface="Times New Roman"/>
              </a:rPr>
              <a:t>Luồng xử lý: thêm một sinh viên mới</a:t>
            </a:r>
          </a:p>
        </p:txBody>
      </p:sp>
      <p:sp>
        <p:nvSpPr>
          <p:cNvPr id="3" name="Rectangle 2"/>
          <p:cNvSpPr/>
          <p:nvPr/>
        </p:nvSpPr>
        <p:spPr>
          <a:xfrm>
            <a:off x="612648" y="969264"/>
            <a:ext cx="822960" cy="50292"/>
          </a:xfrm>
          <a:prstGeom prst="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78992"/>
            <a:ext cx="10881360" cy="384048"/>
          </a:xfrm>
          <a:prstGeom prst="rect">
            <a:avLst/>
          </a:prstGeom>
          <a:noFill/>
        </p:spPr>
        <p:txBody>
          <a:bodyPr wrap="square" lIns="54864" tIns="54864" rIns="54864" bIns="54864" anchor="t">
            <a:spAutoFit/>
          </a:bodyPr>
          <a:lstStyle/>
          <a:p>
            <a:pPr algn="l">
              <a:spcAft>
                <a:spcPts val="500"/>
              </a:spcAft>
            </a:pPr>
            <a:r>
              <a:rPr sz="1300" b="0" i="0" dirty="0" err="1">
                <a:solidFill>
                  <a:srgbClr val="667387"/>
                </a:solidFill>
                <a:latin typeface="Times New Roman"/>
              </a:rPr>
              <a:t>Ví</a:t>
            </a:r>
            <a:r>
              <a:rPr sz="1300" b="0" i="0" dirty="0">
                <a:solidFill>
                  <a:srgbClr val="667387"/>
                </a:solidFill>
                <a:latin typeface="Times New Roman"/>
              </a:rPr>
              <a:t> </a:t>
            </a:r>
            <a:r>
              <a:rPr sz="1300" b="0" i="0" dirty="0" err="1">
                <a:solidFill>
                  <a:srgbClr val="667387"/>
                </a:solidFill>
                <a:latin typeface="Times New Roman"/>
              </a:rPr>
              <a:t>dụ</a:t>
            </a:r>
            <a:r>
              <a:rPr sz="1300" b="0" i="0" dirty="0">
                <a:solidFill>
                  <a:srgbClr val="667387"/>
                </a:solidFill>
                <a:latin typeface="Times New Roman"/>
              </a:rPr>
              <a:t> </a:t>
            </a:r>
            <a:r>
              <a:rPr sz="1300" b="0" i="0" dirty="0" err="1">
                <a:solidFill>
                  <a:srgbClr val="667387"/>
                </a:solidFill>
                <a:latin typeface="Times New Roman"/>
              </a:rPr>
              <a:t>minh</a:t>
            </a:r>
            <a:r>
              <a:rPr sz="1300" b="0" i="0" dirty="0">
                <a:solidFill>
                  <a:srgbClr val="667387"/>
                </a:solidFill>
                <a:latin typeface="Times New Roman"/>
              </a:rPr>
              <a:t> </a:t>
            </a:r>
            <a:r>
              <a:rPr sz="1300" b="0" i="0" dirty="0" err="1">
                <a:solidFill>
                  <a:srgbClr val="667387"/>
                </a:solidFill>
                <a:latin typeface="Times New Roman"/>
              </a:rPr>
              <a:t>họa</a:t>
            </a:r>
            <a:r>
              <a:rPr sz="1300" b="0" i="0" dirty="0">
                <a:solidFill>
                  <a:srgbClr val="667387"/>
                </a:solidFill>
                <a:latin typeface="Times New Roman"/>
              </a:rPr>
              <a:t> </a:t>
            </a:r>
            <a:r>
              <a:rPr sz="1300" b="0" i="0" dirty="0" err="1">
                <a:solidFill>
                  <a:srgbClr val="667387"/>
                </a:solidFill>
                <a:latin typeface="Times New Roman"/>
              </a:rPr>
              <a:t>cách</a:t>
            </a:r>
            <a:r>
              <a:rPr sz="1300" b="0" i="0" dirty="0">
                <a:solidFill>
                  <a:srgbClr val="667387"/>
                </a:solidFill>
                <a:latin typeface="Times New Roman"/>
              </a:rPr>
              <a:t> </a:t>
            </a:r>
            <a:r>
              <a:rPr sz="1300" b="0" i="0" dirty="0" err="1">
                <a:solidFill>
                  <a:srgbClr val="667387"/>
                </a:solidFill>
                <a:latin typeface="Times New Roman"/>
              </a:rPr>
              <a:t>các</a:t>
            </a:r>
            <a:r>
              <a:rPr sz="1300" b="0" i="0" dirty="0">
                <a:solidFill>
                  <a:srgbClr val="667387"/>
                </a:solidFill>
                <a:latin typeface="Times New Roman"/>
              </a:rPr>
              <a:t> </a:t>
            </a:r>
            <a:r>
              <a:rPr sz="1300" b="0" i="0" dirty="0" err="1">
                <a:solidFill>
                  <a:srgbClr val="667387"/>
                </a:solidFill>
                <a:latin typeface="Times New Roman"/>
              </a:rPr>
              <a:t>lớp</a:t>
            </a:r>
            <a:r>
              <a:rPr sz="1300" b="0" i="0" dirty="0">
                <a:solidFill>
                  <a:srgbClr val="667387"/>
                </a:solidFill>
                <a:latin typeface="Times New Roman"/>
              </a:rPr>
              <a:t> </a:t>
            </a:r>
            <a:r>
              <a:rPr sz="1300" b="0" i="0" dirty="0" err="1">
                <a:solidFill>
                  <a:srgbClr val="667387"/>
                </a:solidFill>
                <a:latin typeface="Times New Roman"/>
              </a:rPr>
              <a:t>phối</a:t>
            </a:r>
            <a:r>
              <a:rPr sz="1300" b="0" i="0" dirty="0">
                <a:solidFill>
                  <a:srgbClr val="667387"/>
                </a:solidFill>
                <a:latin typeface="Times New Roman"/>
              </a:rPr>
              <a:t> </a:t>
            </a:r>
            <a:r>
              <a:rPr sz="1300" b="0" i="0" dirty="0" err="1">
                <a:solidFill>
                  <a:srgbClr val="667387"/>
                </a:solidFill>
                <a:latin typeface="Times New Roman"/>
              </a:rPr>
              <a:t>hợp</a:t>
            </a:r>
            <a:r>
              <a:rPr sz="1300" b="0" i="0" dirty="0">
                <a:solidFill>
                  <a:srgbClr val="667387"/>
                </a:solidFill>
                <a:latin typeface="Times New Roman"/>
              </a:rPr>
              <a:t> </a:t>
            </a:r>
            <a:r>
              <a:rPr sz="1300" b="0" i="0" dirty="0" err="1">
                <a:solidFill>
                  <a:srgbClr val="667387"/>
                </a:solidFill>
                <a:latin typeface="Times New Roman"/>
              </a:rPr>
              <a:t>với</a:t>
            </a:r>
            <a:r>
              <a:rPr sz="1300" b="0" i="0" dirty="0">
                <a:solidFill>
                  <a:srgbClr val="667387"/>
                </a:solidFill>
                <a:latin typeface="Times New Roman"/>
              </a:rPr>
              <a:t> </a:t>
            </a:r>
            <a:r>
              <a:rPr sz="1300" b="0" i="0" dirty="0" err="1">
                <a:solidFill>
                  <a:srgbClr val="667387"/>
                </a:solidFill>
                <a:latin typeface="Times New Roman"/>
              </a:rPr>
              <a:t>nhau</a:t>
            </a:r>
            <a:r>
              <a:rPr sz="1300" b="0" i="0" dirty="0">
                <a:solidFill>
                  <a:srgbClr val="667387"/>
                </a:solidFill>
                <a:latin typeface="Times New Roman"/>
              </a:rPr>
              <a:t> </a:t>
            </a:r>
            <a:r>
              <a:rPr sz="1300" b="0" i="0" dirty="0" err="1">
                <a:solidFill>
                  <a:srgbClr val="667387"/>
                </a:solidFill>
                <a:latin typeface="Times New Roman"/>
              </a:rPr>
              <a:t>trong</a:t>
            </a:r>
            <a:r>
              <a:rPr sz="1300" b="0" i="0" dirty="0">
                <a:solidFill>
                  <a:srgbClr val="667387"/>
                </a:solidFill>
                <a:latin typeface="Times New Roman"/>
              </a:rPr>
              <a:t> </a:t>
            </a:r>
            <a:r>
              <a:rPr sz="1300" b="0" i="0" dirty="0" err="1">
                <a:solidFill>
                  <a:srgbClr val="667387"/>
                </a:solidFill>
                <a:latin typeface="Times New Roman"/>
              </a:rPr>
              <a:t>một</a:t>
            </a:r>
            <a:r>
              <a:rPr sz="1300" b="0" i="0" dirty="0">
                <a:solidFill>
                  <a:srgbClr val="667387"/>
                </a:solidFill>
                <a:latin typeface="Times New Roman"/>
              </a:rPr>
              <a:t> </a:t>
            </a:r>
            <a:r>
              <a:rPr sz="1300" b="0" i="0" dirty="0" err="1">
                <a:solidFill>
                  <a:srgbClr val="667387"/>
                </a:solidFill>
                <a:latin typeface="Times New Roman"/>
              </a:rPr>
              <a:t>chức</a:t>
            </a:r>
            <a:r>
              <a:rPr sz="1300" b="0" i="0" dirty="0">
                <a:solidFill>
                  <a:srgbClr val="667387"/>
                </a:solidFill>
                <a:latin typeface="Times New Roman"/>
              </a:rPr>
              <a:t> </a:t>
            </a:r>
            <a:r>
              <a:rPr sz="1300" b="0" i="0" dirty="0" err="1">
                <a:solidFill>
                  <a:srgbClr val="667387"/>
                </a:solidFill>
                <a:latin typeface="Times New Roman"/>
              </a:rPr>
              <a:t>năng</a:t>
            </a:r>
            <a:r>
              <a:rPr sz="1300" b="0" i="0" dirty="0">
                <a:solidFill>
                  <a:srgbClr val="667387"/>
                </a:solidFill>
                <a:latin typeface="Times New Roman"/>
              </a:rPr>
              <a:t>.</a:t>
            </a:r>
          </a:p>
        </p:txBody>
      </p:sp>
      <p:sp>
        <p:nvSpPr>
          <p:cNvPr id="5" name="TextBox 4"/>
          <p:cNvSpPr txBox="1"/>
          <p:nvPr/>
        </p:nvSpPr>
        <p:spPr>
          <a:xfrm>
            <a:off x="10744200" y="6473952"/>
            <a:ext cx="914400" cy="182880"/>
          </a:xfrm>
          <a:prstGeom prst="rect">
            <a:avLst/>
          </a:prstGeom>
          <a:noFill/>
        </p:spPr>
        <p:txBody>
          <a:bodyPr wrap="square" lIns="54864" tIns="54864" rIns="54864" bIns="54864" anchor="t">
            <a:spAutoFit/>
          </a:bodyPr>
          <a:lstStyle/>
          <a:p>
            <a:pPr algn="r">
              <a:spcAft>
                <a:spcPts val="500"/>
              </a:spcAft>
            </a:pPr>
            <a:r>
              <a:rPr sz="900" b="0" i="0">
                <a:solidFill>
                  <a:srgbClr val="667387"/>
                </a:solidFill>
                <a:latin typeface="Times New Roman"/>
              </a:rPr>
              <a:t>09  /  13</a:t>
            </a:r>
          </a:p>
        </p:txBody>
      </p:sp>
      <p:sp>
        <p:nvSpPr>
          <p:cNvPr id="6" name="Rounded Rectangle 5"/>
          <p:cNvSpPr/>
          <p:nvPr/>
        </p:nvSpPr>
        <p:spPr>
          <a:xfrm>
            <a:off x="731520" y="1828800"/>
            <a:ext cx="3246120" cy="1325880"/>
          </a:xfrm>
          <a:prstGeom prst="roundRect">
            <a:avLst/>
          </a:prstGeom>
          <a:solidFill>
            <a:srgbClr val="E5EEFD"/>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96112" y="1993392"/>
            <a:ext cx="438912" cy="438912"/>
          </a:xfrm>
          <a:prstGeom prst="ellipse">
            <a:avLst/>
          </a:prstGeom>
          <a:solidFill>
            <a:srgbClr val="3669C9"/>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2039112"/>
            <a:ext cx="438912" cy="256032"/>
          </a:xfrm>
          <a:prstGeom prst="rect">
            <a:avLst/>
          </a:prstGeom>
          <a:noFill/>
        </p:spPr>
        <p:txBody>
          <a:bodyPr wrap="square" lIns="54864" tIns="54864" rIns="54864" bIns="54864" anchor="t">
            <a:spAutoFit/>
          </a:bodyPr>
          <a:lstStyle/>
          <a:p>
            <a:pPr algn="ctr">
              <a:spcAft>
                <a:spcPts val="500"/>
              </a:spcAft>
            </a:pPr>
            <a:r>
              <a:rPr sz="1300" b="1" i="0">
                <a:solidFill>
                  <a:srgbClr val="FFFFFF"/>
                </a:solidFill>
                <a:latin typeface="Times New Roman"/>
              </a:rPr>
              <a:t>1</a:t>
            </a:r>
          </a:p>
        </p:txBody>
      </p:sp>
      <p:sp>
        <p:nvSpPr>
          <p:cNvPr id="9" name="TextBox 8"/>
          <p:cNvSpPr txBox="1"/>
          <p:nvPr/>
        </p:nvSpPr>
        <p:spPr>
          <a:xfrm>
            <a:off x="1481328" y="1993392"/>
            <a:ext cx="2286000" cy="320040"/>
          </a:xfrm>
          <a:prstGeom prst="rect">
            <a:avLst/>
          </a:prstGeom>
          <a:noFill/>
        </p:spPr>
        <p:txBody>
          <a:bodyPr wrap="square" lIns="54864" tIns="54864" rIns="54864" bIns="54864" anchor="t">
            <a:spAutoFit/>
          </a:bodyPr>
          <a:lstStyle/>
          <a:p>
            <a:pPr algn="l">
              <a:spcAft>
                <a:spcPts val="500"/>
              </a:spcAft>
            </a:pPr>
            <a:r>
              <a:rPr sz="1500" b="1" i="0">
                <a:solidFill>
                  <a:srgbClr val="182A4C"/>
                </a:solidFill>
                <a:latin typeface="Times New Roman"/>
              </a:rPr>
              <a:t>Người dùng nhập</a:t>
            </a:r>
          </a:p>
        </p:txBody>
      </p:sp>
      <p:sp>
        <p:nvSpPr>
          <p:cNvPr id="10" name="TextBox 9"/>
          <p:cNvSpPr txBox="1"/>
          <p:nvPr/>
        </p:nvSpPr>
        <p:spPr>
          <a:xfrm>
            <a:off x="914400" y="2542032"/>
            <a:ext cx="2834640" cy="357021"/>
          </a:xfrm>
          <a:prstGeom prst="rect">
            <a:avLst/>
          </a:prstGeom>
          <a:noFill/>
        </p:spPr>
        <p:txBody>
          <a:bodyPr wrap="square" lIns="54864" tIns="54864" rIns="54864" bIns="54864" anchor="t">
            <a:spAutoFit/>
          </a:bodyPr>
          <a:lstStyle/>
          <a:p>
            <a:pPr algn="l">
              <a:spcAft>
                <a:spcPts val="500"/>
              </a:spcAft>
            </a:pPr>
            <a:r>
              <a:rPr sz="1600" b="0" i="0" dirty="0" err="1">
                <a:solidFill>
                  <a:srgbClr val="2B3648"/>
                </a:solidFill>
                <a:latin typeface="Times New Roman"/>
              </a:rPr>
              <a:t>Điền</a:t>
            </a:r>
            <a:r>
              <a:rPr sz="1600" b="0" i="0" dirty="0">
                <a:solidFill>
                  <a:srgbClr val="2B3648"/>
                </a:solidFill>
                <a:latin typeface="Times New Roman"/>
              </a:rPr>
              <a:t> </a:t>
            </a:r>
            <a:r>
              <a:rPr sz="1600" b="0" i="0" dirty="0" err="1">
                <a:solidFill>
                  <a:srgbClr val="2B3648"/>
                </a:solidFill>
                <a:latin typeface="Times New Roman"/>
              </a:rPr>
              <a:t>mã</a:t>
            </a:r>
            <a:r>
              <a:rPr sz="1600" b="0" i="0" dirty="0">
                <a:solidFill>
                  <a:srgbClr val="2B3648"/>
                </a:solidFill>
                <a:latin typeface="Times New Roman"/>
              </a:rPr>
              <a:t>, </a:t>
            </a:r>
            <a:r>
              <a:rPr sz="1600" b="0" i="0" dirty="0" err="1">
                <a:solidFill>
                  <a:srgbClr val="2B3648"/>
                </a:solidFill>
                <a:latin typeface="Times New Roman"/>
              </a:rPr>
              <a:t>tên</a:t>
            </a:r>
            <a:r>
              <a:rPr sz="1600" b="0" i="0" dirty="0">
                <a:solidFill>
                  <a:srgbClr val="2B3648"/>
                </a:solidFill>
                <a:latin typeface="Times New Roman"/>
              </a:rPr>
              <a:t>, </a:t>
            </a:r>
            <a:r>
              <a:rPr sz="1600" b="0" i="0" dirty="0" err="1">
                <a:solidFill>
                  <a:srgbClr val="2B3648"/>
                </a:solidFill>
                <a:latin typeface="Times New Roman"/>
              </a:rPr>
              <a:t>lớp</a:t>
            </a:r>
            <a:r>
              <a:rPr sz="1600" b="0" i="0" dirty="0">
                <a:solidFill>
                  <a:srgbClr val="2B3648"/>
                </a:solidFill>
                <a:latin typeface="Times New Roman"/>
              </a:rPr>
              <a:t> </a:t>
            </a:r>
            <a:r>
              <a:rPr sz="1600" b="0" i="0" dirty="0" err="1">
                <a:solidFill>
                  <a:srgbClr val="2B3648"/>
                </a:solidFill>
                <a:latin typeface="Times New Roman"/>
              </a:rPr>
              <a:t>trên</a:t>
            </a:r>
            <a:r>
              <a:rPr sz="1600" b="0" i="0" dirty="0">
                <a:solidFill>
                  <a:srgbClr val="2B3648"/>
                </a:solidFill>
                <a:latin typeface="Times New Roman"/>
              </a:rPr>
              <a:t> </a:t>
            </a:r>
            <a:r>
              <a:rPr sz="1600" b="0" i="0" dirty="0" err="1">
                <a:solidFill>
                  <a:srgbClr val="2B3648"/>
                </a:solidFill>
                <a:latin typeface="Times New Roman"/>
              </a:rPr>
              <a:t>giao</a:t>
            </a:r>
            <a:r>
              <a:rPr sz="1600" b="0" i="0" dirty="0">
                <a:solidFill>
                  <a:srgbClr val="2B3648"/>
                </a:solidFill>
                <a:latin typeface="Times New Roman"/>
              </a:rPr>
              <a:t> </a:t>
            </a:r>
            <a:r>
              <a:rPr sz="1600" b="0" i="0" dirty="0" err="1">
                <a:solidFill>
                  <a:srgbClr val="2B3648"/>
                </a:solidFill>
                <a:latin typeface="Times New Roman"/>
              </a:rPr>
              <a:t>diện</a:t>
            </a:r>
            <a:r>
              <a:rPr sz="1600" b="0" i="0" dirty="0">
                <a:solidFill>
                  <a:srgbClr val="2B3648"/>
                </a:solidFill>
                <a:latin typeface="Times New Roman"/>
              </a:rPr>
              <a:t>.</a:t>
            </a:r>
          </a:p>
        </p:txBody>
      </p:sp>
      <p:sp>
        <p:nvSpPr>
          <p:cNvPr id="11" name="Rounded Rectangle 10"/>
          <p:cNvSpPr/>
          <p:nvPr/>
        </p:nvSpPr>
        <p:spPr>
          <a:xfrm>
            <a:off x="4526280" y="1828800"/>
            <a:ext cx="3246120" cy="1325880"/>
          </a:xfrm>
          <a:prstGeom prst="roundRect">
            <a:avLst/>
          </a:prstGeom>
          <a:solidFill>
            <a:srgbClr val="E0F5F2"/>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690872" y="1993392"/>
            <a:ext cx="438912" cy="438912"/>
          </a:xfrm>
          <a:prstGeom prst="ellipse">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90872" y="2039112"/>
            <a:ext cx="438912" cy="256032"/>
          </a:xfrm>
          <a:prstGeom prst="rect">
            <a:avLst/>
          </a:prstGeom>
          <a:noFill/>
        </p:spPr>
        <p:txBody>
          <a:bodyPr wrap="square" lIns="54864" tIns="54864" rIns="54864" bIns="54864" anchor="t">
            <a:spAutoFit/>
          </a:bodyPr>
          <a:lstStyle/>
          <a:p>
            <a:pPr algn="ctr">
              <a:spcAft>
                <a:spcPts val="500"/>
              </a:spcAft>
            </a:pPr>
            <a:r>
              <a:rPr sz="1300" b="1" i="0">
                <a:solidFill>
                  <a:srgbClr val="FFFFFF"/>
                </a:solidFill>
                <a:latin typeface="Times New Roman"/>
              </a:rPr>
              <a:t>2</a:t>
            </a:r>
          </a:p>
        </p:txBody>
      </p:sp>
      <p:sp>
        <p:nvSpPr>
          <p:cNvPr id="14" name="TextBox 13"/>
          <p:cNvSpPr txBox="1"/>
          <p:nvPr/>
        </p:nvSpPr>
        <p:spPr>
          <a:xfrm>
            <a:off x="5276088" y="1993392"/>
            <a:ext cx="2286000" cy="320040"/>
          </a:xfrm>
          <a:prstGeom prst="rect">
            <a:avLst/>
          </a:prstGeom>
          <a:noFill/>
        </p:spPr>
        <p:txBody>
          <a:bodyPr wrap="square" lIns="54864" tIns="54864" rIns="54864" bIns="54864" anchor="t">
            <a:spAutoFit/>
          </a:bodyPr>
          <a:lstStyle/>
          <a:p>
            <a:pPr algn="l">
              <a:spcAft>
                <a:spcPts val="500"/>
              </a:spcAft>
            </a:pPr>
            <a:r>
              <a:rPr sz="1500" b="1" i="0">
                <a:solidFill>
                  <a:srgbClr val="182A4C"/>
                </a:solidFill>
                <a:latin typeface="Times New Roman"/>
              </a:rPr>
              <a:t>Presentation</a:t>
            </a:r>
          </a:p>
        </p:txBody>
      </p:sp>
      <p:sp>
        <p:nvSpPr>
          <p:cNvPr id="15" name="TextBox 14"/>
          <p:cNvSpPr txBox="1"/>
          <p:nvPr/>
        </p:nvSpPr>
        <p:spPr>
          <a:xfrm>
            <a:off x="4709160" y="2542032"/>
            <a:ext cx="2834640" cy="603242"/>
          </a:xfrm>
          <a:prstGeom prst="rect">
            <a:avLst/>
          </a:prstGeom>
          <a:noFill/>
        </p:spPr>
        <p:txBody>
          <a:bodyPr wrap="square" lIns="54864" tIns="54864" rIns="54864" bIns="54864" anchor="t">
            <a:spAutoFit/>
          </a:bodyPr>
          <a:lstStyle/>
          <a:p>
            <a:pPr algn="l">
              <a:spcAft>
                <a:spcPts val="500"/>
              </a:spcAft>
            </a:pPr>
            <a:r>
              <a:rPr sz="1600" b="0" i="0" dirty="0" err="1">
                <a:solidFill>
                  <a:srgbClr val="2B3648"/>
                </a:solidFill>
                <a:latin typeface="Times New Roman"/>
              </a:rPr>
              <a:t>Kiểm</a:t>
            </a:r>
            <a:r>
              <a:rPr sz="1600" b="0" i="0" dirty="0">
                <a:solidFill>
                  <a:srgbClr val="2B3648"/>
                </a:solidFill>
                <a:latin typeface="Times New Roman"/>
              </a:rPr>
              <a:t> </a:t>
            </a:r>
            <a:r>
              <a:rPr sz="1600" b="0" i="0" dirty="0" err="1">
                <a:solidFill>
                  <a:srgbClr val="2B3648"/>
                </a:solidFill>
                <a:latin typeface="Times New Roman"/>
              </a:rPr>
              <a:t>tra</a:t>
            </a:r>
            <a:r>
              <a:rPr sz="1600" b="0" i="0" dirty="0">
                <a:solidFill>
                  <a:srgbClr val="2B3648"/>
                </a:solidFill>
                <a:latin typeface="Times New Roman"/>
              </a:rPr>
              <a:t> </a:t>
            </a:r>
            <a:r>
              <a:rPr sz="1600" b="0" i="0" dirty="0" err="1">
                <a:solidFill>
                  <a:srgbClr val="2B3648"/>
                </a:solidFill>
                <a:latin typeface="Times New Roman"/>
              </a:rPr>
              <a:t>trường</a:t>
            </a:r>
            <a:r>
              <a:rPr sz="1600" b="0" i="0" dirty="0">
                <a:solidFill>
                  <a:srgbClr val="2B3648"/>
                </a:solidFill>
                <a:latin typeface="Times New Roman"/>
              </a:rPr>
              <a:t> </a:t>
            </a:r>
            <a:r>
              <a:rPr sz="1600" b="0" i="0" dirty="0" err="1">
                <a:solidFill>
                  <a:srgbClr val="2B3648"/>
                </a:solidFill>
                <a:latin typeface="Times New Roman"/>
              </a:rPr>
              <a:t>bắt</a:t>
            </a:r>
            <a:r>
              <a:rPr sz="1600" b="0" i="0" dirty="0">
                <a:solidFill>
                  <a:srgbClr val="2B3648"/>
                </a:solidFill>
                <a:latin typeface="Times New Roman"/>
              </a:rPr>
              <a:t> </a:t>
            </a:r>
            <a:r>
              <a:rPr sz="1600" b="0" i="0" dirty="0" err="1">
                <a:solidFill>
                  <a:srgbClr val="2B3648"/>
                </a:solidFill>
                <a:latin typeface="Times New Roman"/>
              </a:rPr>
              <a:t>buộc</a:t>
            </a:r>
            <a:r>
              <a:rPr sz="1600" b="0" i="0" dirty="0">
                <a:solidFill>
                  <a:srgbClr val="2B3648"/>
                </a:solidFill>
                <a:latin typeface="Times New Roman"/>
              </a:rPr>
              <a:t>, </a:t>
            </a:r>
            <a:r>
              <a:rPr sz="1600" b="0" i="0" dirty="0" err="1">
                <a:solidFill>
                  <a:srgbClr val="2B3648"/>
                </a:solidFill>
                <a:latin typeface="Times New Roman"/>
              </a:rPr>
              <a:t>gửi</a:t>
            </a:r>
            <a:r>
              <a:rPr sz="1600" b="0" i="0" dirty="0">
                <a:solidFill>
                  <a:srgbClr val="2B3648"/>
                </a:solidFill>
                <a:latin typeface="Times New Roman"/>
              </a:rPr>
              <a:t> </a:t>
            </a:r>
            <a:r>
              <a:rPr sz="1600" b="0" i="0" dirty="0" err="1">
                <a:solidFill>
                  <a:srgbClr val="2B3648"/>
                </a:solidFill>
                <a:latin typeface="Times New Roman"/>
              </a:rPr>
              <a:t>yêu</a:t>
            </a:r>
            <a:r>
              <a:rPr sz="1600" b="0" i="0" dirty="0">
                <a:solidFill>
                  <a:srgbClr val="2B3648"/>
                </a:solidFill>
                <a:latin typeface="Times New Roman"/>
              </a:rPr>
              <a:t> </a:t>
            </a:r>
            <a:r>
              <a:rPr sz="1600" b="0" i="0" dirty="0" err="1">
                <a:solidFill>
                  <a:srgbClr val="2B3648"/>
                </a:solidFill>
                <a:latin typeface="Times New Roman"/>
              </a:rPr>
              <a:t>cầu</a:t>
            </a:r>
            <a:r>
              <a:rPr sz="1600" b="0" i="0" dirty="0">
                <a:solidFill>
                  <a:srgbClr val="2B3648"/>
                </a:solidFill>
                <a:latin typeface="Times New Roman"/>
              </a:rPr>
              <a:t>.</a:t>
            </a:r>
          </a:p>
        </p:txBody>
      </p:sp>
      <p:sp>
        <p:nvSpPr>
          <p:cNvPr id="16" name="Rounded Rectangle 15"/>
          <p:cNvSpPr/>
          <p:nvPr/>
        </p:nvSpPr>
        <p:spPr>
          <a:xfrm>
            <a:off x="8321040" y="1828800"/>
            <a:ext cx="3246120" cy="1325880"/>
          </a:xfrm>
          <a:prstGeom prst="roundRect">
            <a:avLst/>
          </a:prstGeom>
          <a:solidFill>
            <a:srgbClr val="F0E9FC"/>
          </a:solidFill>
          <a:ln>
            <a:solidFill>
              <a:srgbClr val="7E5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85632" y="1993392"/>
            <a:ext cx="438912" cy="438912"/>
          </a:xfrm>
          <a:prstGeom prst="ellipse">
            <a:avLst/>
          </a:prstGeom>
          <a:solidFill>
            <a:srgbClr val="7E5BBE"/>
          </a:solidFill>
          <a:ln>
            <a:solidFill>
              <a:srgbClr val="7E5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85632" y="2039112"/>
            <a:ext cx="438912" cy="256032"/>
          </a:xfrm>
          <a:prstGeom prst="rect">
            <a:avLst/>
          </a:prstGeom>
          <a:noFill/>
        </p:spPr>
        <p:txBody>
          <a:bodyPr wrap="square" lIns="54864" tIns="54864" rIns="54864" bIns="54864" anchor="t">
            <a:spAutoFit/>
          </a:bodyPr>
          <a:lstStyle/>
          <a:p>
            <a:pPr algn="ctr">
              <a:spcAft>
                <a:spcPts val="500"/>
              </a:spcAft>
            </a:pPr>
            <a:r>
              <a:rPr sz="1300" b="1" i="0">
                <a:solidFill>
                  <a:srgbClr val="FFFFFF"/>
                </a:solidFill>
                <a:latin typeface="Times New Roman"/>
              </a:rPr>
              <a:t>3</a:t>
            </a:r>
          </a:p>
        </p:txBody>
      </p:sp>
      <p:sp>
        <p:nvSpPr>
          <p:cNvPr id="19" name="TextBox 18"/>
          <p:cNvSpPr txBox="1"/>
          <p:nvPr/>
        </p:nvSpPr>
        <p:spPr>
          <a:xfrm>
            <a:off x="9070848" y="1993392"/>
            <a:ext cx="2286000" cy="320040"/>
          </a:xfrm>
          <a:prstGeom prst="rect">
            <a:avLst/>
          </a:prstGeom>
          <a:noFill/>
        </p:spPr>
        <p:txBody>
          <a:bodyPr wrap="square" lIns="54864" tIns="54864" rIns="54864" bIns="54864" anchor="t">
            <a:spAutoFit/>
          </a:bodyPr>
          <a:lstStyle/>
          <a:p>
            <a:pPr algn="l">
              <a:spcAft>
                <a:spcPts val="500"/>
              </a:spcAft>
            </a:pPr>
            <a:r>
              <a:rPr sz="1500" b="1" i="0">
                <a:solidFill>
                  <a:srgbClr val="182A4C"/>
                </a:solidFill>
                <a:latin typeface="Times New Roman"/>
              </a:rPr>
              <a:t>Business Logic</a:t>
            </a:r>
          </a:p>
        </p:txBody>
      </p:sp>
      <p:sp>
        <p:nvSpPr>
          <p:cNvPr id="20" name="TextBox 19"/>
          <p:cNvSpPr txBox="1"/>
          <p:nvPr/>
        </p:nvSpPr>
        <p:spPr>
          <a:xfrm>
            <a:off x="8503920" y="2542032"/>
            <a:ext cx="2834640" cy="603242"/>
          </a:xfrm>
          <a:prstGeom prst="rect">
            <a:avLst/>
          </a:prstGeom>
          <a:noFill/>
        </p:spPr>
        <p:txBody>
          <a:bodyPr wrap="square" lIns="54864" tIns="54864" rIns="54864" bIns="54864" anchor="t">
            <a:spAutoFit/>
          </a:bodyPr>
          <a:lstStyle/>
          <a:p>
            <a:pPr algn="l">
              <a:spcAft>
                <a:spcPts val="500"/>
              </a:spcAft>
            </a:pPr>
            <a:r>
              <a:rPr sz="1600" b="0" i="0" dirty="0" err="1">
                <a:solidFill>
                  <a:srgbClr val="2B3648"/>
                </a:solidFill>
                <a:latin typeface="Times New Roman"/>
              </a:rPr>
              <a:t>Kiểm</a:t>
            </a:r>
            <a:r>
              <a:rPr sz="1600" b="0" i="0" dirty="0">
                <a:solidFill>
                  <a:srgbClr val="2B3648"/>
                </a:solidFill>
                <a:latin typeface="Times New Roman"/>
              </a:rPr>
              <a:t> </a:t>
            </a:r>
            <a:r>
              <a:rPr sz="1600" b="0" i="0" dirty="0" err="1">
                <a:solidFill>
                  <a:srgbClr val="2B3648"/>
                </a:solidFill>
                <a:latin typeface="Times New Roman"/>
              </a:rPr>
              <a:t>tra</a:t>
            </a:r>
            <a:r>
              <a:rPr sz="1600" b="0" i="0" dirty="0">
                <a:solidFill>
                  <a:srgbClr val="2B3648"/>
                </a:solidFill>
                <a:latin typeface="Times New Roman"/>
              </a:rPr>
              <a:t> </a:t>
            </a:r>
            <a:r>
              <a:rPr sz="1600" b="0" i="0" dirty="0" err="1">
                <a:solidFill>
                  <a:srgbClr val="2B3648"/>
                </a:solidFill>
                <a:latin typeface="Times New Roman"/>
              </a:rPr>
              <a:t>mã</a:t>
            </a:r>
            <a:r>
              <a:rPr sz="1600" b="0" i="0" dirty="0">
                <a:solidFill>
                  <a:srgbClr val="2B3648"/>
                </a:solidFill>
                <a:latin typeface="Times New Roman"/>
              </a:rPr>
              <a:t> </a:t>
            </a:r>
            <a:r>
              <a:rPr sz="1600" b="0" i="0" dirty="0" err="1">
                <a:solidFill>
                  <a:srgbClr val="2B3648"/>
                </a:solidFill>
                <a:latin typeface="Times New Roman"/>
              </a:rPr>
              <a:t>trùng</a:t>
            </a:r>
            <a:r>
              <a:rPr sz="1600" b="0" i="0" dirty="0">
                <a:solidFill>
                  <a:srgbClr val="2B3648"/>
                </a:solidFill>
                <a:latin typeface="Times New Roman"/>
              </a:rPr>
              <a:t> </a:t>
            </a:r>
            <a:r>
              <a:rPr sz="1600" b="0" i="0" dirty="0" err="1">
                <a:solidFill>
                  <a:srgbClr val="2B3648"/>
                </a:solidFill>
                <a:latin typeface="Times New Roman"/>
              </a:rPr>
              <a:t>và</a:t>
            </a:r>
            <a:r>
              <a:rPr sz="1600" b="0" i="0" dirty="0">
                <a:solidFill>
                  <a:srgbClr val="2B3648"/>
                </a:solidFill>
                <a:latin typeface="Times New Roman"/>
              </a:rPr>
              <a:t> </a:t>
            </a:r>
            <a:r>
              <a:rPr sz="1600" b="0" i="0" dirty="0" err="1">
                <a:solidFill>
                  <a:srgbClr val="2B3648"/>
                </a:solidFill>
                <a:latin typeface="Times New Roman"/>
              </a:rPr>
              <a:t>quy</a:t>
            </a:r>
            <a:r>
              <a:rPr sz="1600" b="0" i="0" dirty="0">
                <a:solidFill>
                  <a:srgbClr val="2B3648"/>
                </a:solidFill>
                <a:latin typeface="Times New Roman"/>
              </a:rPr>
              <a:t> </a:t>
            </a:r>
            <a:r>
              <a:rPr sz="1600" b="0" i="0" dirty="0" err="1">
                <a:solidFill>
                  <a:srgbClr val="2B3648"/>
                </a:solidFill>
                <a:latin typeface="Times New Roman"/>
              </a:rPr>
              <a:t>tắc</a:t>
            </a:r>
            <a:r>
              <a:rPr sz="1600" b="0" i="0" dirty="0">
                <a:solidFill>
                  <a:srgbClr val="2B3648"/>
                </a:solidFill>
                <a:latin typeface="Times New Roman"/>
              </a:rPr>
              <a:t> </a:t>
            </a:r>
            <a:r>
              <a:rPr sz="1600" b="0" i="0" dirty="0" err="1">
                <a:solidFill>
                  <a:srgbClr val="2B3648"/>
                </a:solidFill>
                <a:latin typeface="Times New Roman"/>
              </a:rPr>
              <a:t>hợp</a:t>
            </a:r>
            <a:r>
              <a:rPr sz="1600" b="0" i="0" dirty="0">
                <a:solidFill>
                  <a:srgbClr val="2B3648"/>
                </a:solidFill>
                <a:latin typeface="Times New Roman"/>
              </a:rPr>
              <a:t> </a:t>
            </a:r>
            <a:r>
              <a:rPr sz="1600" b="0" i="0" dirty="0" err="1">
                <a:solidFill>
                  <a:srgbClr val="2B3648"/>
                </a:solidFill>
                <a:latin typeface="Times New Roman"/>
              </a:rPr>
              <a:t>lệ</a:t>
            </a:r>
            <a:r>
              <a:rPr sz="1600" b="0" i="0" dirty="0">
                <a:solidFill>
                  <a:srgbClr val="2B3648"/>
                </a:solidFill>
                <a:latin typeface="Times New Roman"/>
              </a:rPr>
              <a:t>.</a:t>
            </a:r>
          </a:p>
        </p:txBody>
      </p:sp>
      <p:sp>
        <p:nvSpPr>
          <p:cNvPr id="21" name="Rounded Rectangle 20"/>
          <p:cNvSpPr/>
          <p:nvPr/>
        </p:nvSpPr>
        <p:spPr>
          <a:xfrm>
            <a:off x="731520" y="3794760"/>
            <a:ext cx="3246120" cy="1325880"/>
          </a:xfrm>
          <a:prstGeom prst="roundRect">
            <a:avLst/>
          </a:prstGeom>
          <a:solidFill>
            <a:srgbClr val="FFF5DB"/>
          </a:solidFill>
          <a:ln>
            <a:solidFill>
              <a:srgbClr val="F2B1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96112" y="3959352"/>
            <a:ext cx="438912" cy="438912"/>
          </a:xfrm>
          <a:prstGeom prst="ellipse">
            <a:avLst/>
          </a:prstGeom>
          <a:solidFill>
            <a:srgbClr val="F2B134"/>
          </a:solidFill>
          <a:ln>
            <a:solidFill>
              <a:srgbClr val="F2B1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6112" y="4005072"/>
            <a:ext cx="438912" cy="256032"/>
          </a:xfrm>
          <a:prstGeom prst="rect">
            <a:avLst/>
          </a:prstGeom>
          <a:noFill/>
        </p:spPr>
        <p:txBody>
          <a:bodyPr wrap="square" lIns="54864" tIns="54864" rIns="54864" bIns="54864" anchor="t">
            <a:spAutoFit/>
          </a:bodyPr>
          <a:lstStyle/>
          <a:p>
            <a:pPr algn="ctr">
              <a:spcAft>
                <a:spcPts val="500"/>
              </a:spcAft>
            </a:pPr>
            <a:r>
              <a:rPr sz="1300" b="1" i="0">
                <a:solidFill>
                  <a:srgbClr val="FFFFFF"/>
                </a:solidFill>
                <a:latin typeface="Times New Roman"/>
              </a:rPr>
              <a:t>4</a:t>
            </a:r>
          </a:p>
        </p:txBody>
      </p:sp>
      <p:sp>
        <p:nvSpPr>
          <p:cNvPr id="24" name="TextBox 23"/>
          <p:cNvSpPr txBox="1"/>
          <p:nvPr/>
        </p:nvSpPr>
        <p:spPr>
          <a:xfrm>
            <a:off x="1481328" y="3959352"/>
            <a:ext cx="2286000" cy="320040"/>
          </a:xfrm>
          <a:prstGeom prst="rect">
            <a:avLst/>
          </a:prstGeom>
          <a:noFill/>
        </p:spPr>
        <p:txBody>
          <a:bodyPr wrap="square" lIns="54864" tIns="54864" rIns="54864" bIns="54864" anchor="t">
            <a:spAutoFit/>
          </a:bodyPr>
          <a:lstStyle/>
          <a:p>
            <a:pPr algn="l">
              <a:spcAft>
                <a:spcPts val="500"/>
              </a:spcAft>
            </a:pPr>
            <a:r>
              <a:rPr sz="1500" b="1" i="0">
                <a:solidFill>
                  <a:srgbClr val="182A4C"/>
                </a:solidFill>
                <a:latin typeface="Times New Roman"/>
              </a:rPr>
              <a:t>Data Access</a:t>
            </a:r>
          </a:p>
        </p:txBody>
      </p:sp>
      <p:sp>
        <p:nvSpPr>
          <p:cNvPr id="25" name="TextBox 24"/>
          <p:cNvSpPr txBox="1"/>
          <p:nvPr/>
        </p:nvSpPr>
        <p:spPr>
          <a:xfrm>
            <a:off x="914400" y="4507992"/>
            <a:ext cx="2834640" cy="603242"/>
          </a:xfrm>
          <a:prstGeom prst="rect">
            <a:avLst/>
          </a:prstGeom>
          <a:noFill/>
        </p:spPr>
        <p:txBody>
          <a:bodyPr wrap="square" lIns="54864" tIns="54864" rIns="54864" bIns="54864" anchor="t">
            <a:spAutoFit/>
          </a:bodyPr>
          <a:lstStyle/>
          <a:p>
            <a:pPr algn="l">
              <a:spcAft>
                <a:spcPts val="500"/>
              </a:spcAft>
            </a:pPr>
            <a:r>
              <a:rPr sz="1600" b="0" i="0" dirty="0" err="1">
                <a:solidFill>
                  <a:srgbClr val="2B3648"/>
                </a:solidFill>
                <a:latin typeface="Times New Roman"/>
              </a:rPr>
              <a:t>Tạo</a:t>
            </a:r>
            <a:r>
              <a:rPr sz="1600" b="0" i="0" dirty="0">
                <a:solidFill>
                  <a:srgbClr val="2B3648"/>
                </a:solidFill>
                <a:latin typeface="Times New Roman"/>
              </a:rPr>
              <a:t> </a:t>
            </a:r>
            <a:r>
              <a:rPr sz="1600" b="0" i="0" dirty="0" err="1">
                <a:solidFill>
                  <a:srgbClr val="2B3648"/>
                </a:solidFill>
                <a:latin typeface="Times New Roman"/>
              </a:rPr>
              <a:t>lệnh</a:t>
            </a:r>
            <a:r>
              <a:rPr sz="1600" b="0" i="0" dirty="0">
                <a:solidFill>
                  <a:srgbClr val="2B3648"/>
                </a:solidFill>
                <a:latin typeface="Times New Roman"/>
              </a:rPr>
              <a:t> </a:t>
            </a:r>
            <a:r>
              <a:rPr sz="1600" b="0" i="0" dirty="0" err="1">
                <a:solidFill>
                  <a:srgbClr val="2B3648"/>
                </a:solidFill>
                <a:latin typeface="Times New Roman"/>
              </a:rPr>
              <a:t>thêm</a:t>
            </a:r>
            <a:r>
              <a:rPr sz="1600" b="0" i="0" dirty="0">
                <a:solidFill>
                  <a:srgbClr val="2B3648"/>
                </a:solidFill>
                <a:latin typeface="Times New Roman"/>
              </a:rPr>
              <a:t> </a:t>
            </a:r>
            <a:r>
              <a:rPr sz="1600" b="0" i="0" dirty="0" err="1">
                <a:solidFill>
                  <a:srgbClr val="2B3648"/>
                </a:solidFill>
                <a:latin typeface="Times New Roman"/>
              </a:rPr>
              <a:t>dữ</a:t>
            </a:r>
            <a:r>
              <a:rPr sz="1600" b="0" i="0" dirty="0">
                <a:solidFill>
                  <a:srgbClr val="2B3648"/>
                </a:solidFill>
                <a:latin typeface="Times New Roman"/>
              </a:rPr>
              <a:t> </a:t>
            </a:r>
            <a:r>
              <a:rPr sz="1600" b="0" i="0" dirty="0" err="1">
                <a:solidFill>
                  <a:srgbClr val="2B3648"/>
                </a:solidFill>
                <a:latin typeface="Times New Roman"/>
              </a:rPr>
              <a:t>liệu</a:t>
            </a:r>
            <a:r>
              <a:rPr sz="1600" b="0" i="0" dirty="0">
                <a:solidFill>
                  <a:srgbClr val="2B3648"/>
                </a:solidFill>
                <a:latin typeface="Times New Roman"/>
              </a:rPr>
              <a:t>, </a:t>
            </a:r>
            <a:r>
              <a:rPr sz="1600" b="0" i="0" dirty="0" err="1">
                <a:solidFill>
                  <a:srgbClr val="2B3648"/>
                </a:solidFill>
                <a:latin typeface="Times New Roman"/>
              </a:rPr>
              <a:t>thực</a:t>
            </a:r>
            <a:r>
              <a:rPr sz="1600" b="0" i="0" dirty="0">
                <a:solidFill>
                  <a:srgbClr val="2B3648"/>
                </a:solidFill>
                <a:latin typeface="Times New Roman"/>
              </a:rPr>
              <a:t> </a:t>
            </a:r>
            <a:r>
              <a:rPr sz="1600" b="0" i="0" dirty="0" err="1">
                <a:solidFill>
                  <a:srgbClr val="2B3648"/>
                </a:solidFill>
                <a:latin typeface="Times New Roman"/>
              </a:rPr>
              <a:t>thi</a:t>
            </a:r>
            <a:r>
              <a:rPr sz="1600" b="0" i="0" dirty="0">
                <a:solidFill>
                  <a:srgbClr val="2B3648"/>
                </a:solidFill>
                <a:latin typeface="Times New Roman"/>
              </a:rPr>
              <a:t> </a:t>
            </a:r>
            <a:r>
              <a:rPr sz="1600" b="0" i="0" dirty="0" err="1">
                <a:solidFill>
                  <a:srgbClr val="2B3648"/>
                </a:solidFill>
                <a:latin typeface="Times New Roman"/>
              </a:rPr>
              <a:t>truy</a:t>
            </a:r>
            <a:r>
              <a:rPr sz="1600" b="0" i="0" dirty="0">
                <a:solidFill>
                  <a:srgbClr val="2B3648"/>
                </a:solidFill>
                <a:latin typeface="Times New Roman"/>
              </a:rPr>
              <a:t> </a:t>
            </a:r>
            <a:r>
              <a:rPr sz="1600" b="0" i="0" dirty="0" err="1">
                <a:solidFill>
                  <a:srgbClr val="2B3648"/>
                </a:solidFill>
                <a:latin typeface="Times New Roman"/>
              </a:rPr>
              <a:t>vấn</a:t>
            </a:r>
            <a:r>
              <a:rPr sz="1600" b="0" i="0" dirty="0">
                <a:solidFill>
                  <a:srgbClr val="2B3648"/>
                </a:solidFill>
                <a:latin typeface="Times New Roman"/>
              </a:rPr>
              <a:t>.</a:t>
            </a:r>
          </a:p>
        </p:txBody>
      </p:sp>
      <p:sp>
        <p:nvSpPr>
          <p:cNvPr id="26" name="Rounded Rectangle 25"/>
          <p:cNvSpPr/>
          <p:nvPr/>
        </p:nvSpPr>
        <p:spPr>
          <a:xfrm>
            <a:off x="4526280" y="3794760"/>
            <a:ext cx="3246120" cy="1325880"/>
          </a:xfrm>
          <a:prstGeom prst="roundRect">
            <a:avLst/>
          </a:prstGeom>
          <a:solidFill>
            <a:srgbClr val="E5EEFD"/>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690872" y="3959352"/>
            <a:ext cx="438912" cy="438912"/>
          </a:xfrm>
          <a:prstGeom prst="ellipse">
            <a:avLst/>
          </a:prstGeom>
          <a:solidFill>
            <a:srgbClr val="3669C9"/>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690872" y="4005072"/>
            <a:ext cx="438912" cy="256032"/>
          </a:xfrm>
          <a:prstGeom prst="rect">
            <a:avLst/>
          </a:prstGeom>
          <a:noFill/>
        </p:spPr>
        <p:txBody>
          <a:bodyPr wrap="square" lIns="54864" tIns="54864" rIns="54864" bIns="54864" anchor="t">
            <a:spAutoFit/>
          </a:bodyPr>
          <a:lstStyle/>
          <a:p>
            <a:pPr algn="ctr">
              <a:spcAft>
                <a:spcPts val="500"/>
              </a:spcAft>
            </a:pPr>
            <a:r>
              <a:rPr sz="1300" b="1" i="0">
                <a:solidFill>
                  <a:srgbClr val="FFFFFF"/>
                </a:solidFill>
                <a:latin typeface="Times New Roman"/>
              </a:rPr>
              <a:t>5</a:t>
            </a:r>
          </a:p>
        </p:txBody>
      </p:sp>
      <p:sp>
        <p:nvSpPr>
          <p:cNvPr id="29" name="TextBox 28"/>
          <p:cNvSpPr txBox="1"/>
          <p:nvPr/>
        </p:nvSpPr>
        <p:spPr>
          <a:xfrm>
            <a:off x="5276088" y="3959352"/>
            <a:ext cx="2286000" cy="320040"/>
          </a:xfrm>
          <a:prstGeom prst="rect">
            <a:avLst/>
          </a:prstGeom>
          <a:noFill/>
        </p:spPr>
        <p:txBody>
          <a:bodyPr wrap="square" lIns="54864" tIns="54864" rIns="54864" bIns="54864" anchor="t">
            <a:spAutoFit/>
          </a:bodyPr>
          <a:lstStyle/>
          <a:p>
            <a:pPr algn="l">
              <a:spcAft>
                <a:spcPts val="500"/>
              </a:spcAft>
            </a:pPr>
            <a:r>
              <a:rPr sz="1500" b="1" i="0">
                <a:solidFill>
                  <a:srgbClr val="182A4C"/>
                </a:solidFill>
                <a:latin typeface="Times New Roman"/>
              </a:rPr>
              <a:t>Database</a:t>
            </a:r>
          </a:p>
        </p:txBody>
      </p:sp>
      <p:sp>
        <p:nvSpPr>
          <p:cNvPr id="30" name="TextBox 29"/>
          <p:cNvSpPr txBox="1"/>
          <p:nvPr/>
        </p:nvSpPr>
        <p:spPr>
          <a:xfrm>
            <a:off x="4709160" y="4507992"/>
            <a:ext cx="2834640" cy="357021"/>
          </a:xfrm>
          <a:prstGeom prst="rect">
            <a:avLst/>
          </a:prstGeom>
          <a:noFill/>
        </p:spPr>
        <p:txBody>
          <a:bodyPr wrap="square" lIns="54864" tIns="54864" rIns="54864" bIns="54864" anchor="t">
            <a:spAutoFit/>
          </a:bodyPr>
          <a:lstStyle/>
          <a:p>
            <a:pPr algn="l">
              <a:spcAft>
                <a:spcPts val="500"/>
              </a:spcAft>
            </a:pPr>
            <a:r>
              <a:rPr sz="1600" b="0" i="0" dirty="0" err="1">
                <a:solidFill>
                  <a:srgbClr val="2B3648"/>
                </a:solidFill>
                <a:latin typeface="Times New Roman"/>
              </a:rPr>
              <a:t>Lưu</a:t>
            </a:r>
            <a:r>
              <a:rPr sz="1600" b="0" i="0" dirty="0">
                <a:solidFill>
                  <a:srgbClr val="2B3648"/>
                </a:solidFill>
                <a:latin typeface="Times New Roman"/>
              </a:rPr>
              <a:t> </a:t>
            </a:r>
            <a:r>
              <a:rPr sz="1600" b="0" i="0" dirty="0" err="1">
                <a:solidFill>
                  <a:srgbClr val="2B3648"/>
                </a:solidFill>
                <a:latin typeface="Times New Roman"/>
              </a:rPr>
              <a:t>bản</a:t>
            </a:r>
            <a:r>
              <a:rPr sz="1600" b="0" i="0" dirty="0">
                <a:solidFill>
                  <a:srgbClr val="2B3648"/>
                </a:solidFill>
                <a:latin typeface="Times New Roman"/>
              </a:rPr>
              <a:t> </a:t>
            </a:r>
            <a:r>
              <a:rPr sz="1600" b="0" i="0" dirty="0" err="1">
                <a:solidFill>
                  <a:srgbClr val="2B3648"/>
                </a:solidFill>
                <a:latin typeface="Times New Roman"/>
              </a:rPr>
              <a:t>ghi</a:t>
            </a:r>
            <a:r>
              <a:rPr sz="1600" b="0" i="0" dirty="0">
                <a:solidFill>
                  <a:srgbClr val="2B3648"/>
                </a:solidFill>
                <a:latin typeface="Times New Roman"/>
              </a:rPr>
              <a:t> </a:t>
            </a:r>
            <a:r>
              <a:rPr sz="1600" b="0" i="0" dirty="0" err="1">
                <a:solidFill>
                  <a:srgbClr val="2B3648"/>
                </a:solidFill>
                <a:latin typeface="Times New Roman"/>
              </a:rPr>
              <a:t>và</a:t>
            </a:r>
            <a:r>
              <a:rPr sz="1600" b="0" i="0" dirty="0">
                <a:solidFill>
                  <a:srgbClr val="2B3648"/>
                </a:solidFill>
                <a:latin typeface="Times New Roman"/>
              </a:rPr>
              <a:t> </a:t>
            </a:r>
            <a:r>
              <a:rPr sz="1600" b="0" i="0" dirty="0" err="1">
                <a:solidFill>
                  <a:srgbClr val="2B3648"/>
                </a:solidFill>
                <a:latin typeface="Times New Roman"/>
              </a:rPr>
              <a:t>trả</a:t>
            </a:r>
            <a:r>
              <a:rPr sz="1600" b="0" i="0" dirty="0">
                <a:solidFill>
                  <a:srgbClr val="2B3648"/>
                </a:solidFill>
                <a:latin typeface="Times New Roman"/>
              </a:rPr>
              <a:t> </a:t>
            </a:r>
            <a:r>
              <a:rPr sz="1600" b="0" i="0" dirty="0" err="1">
                <a:solidFill>
                  <a:srgbClr val="2B3648"/>
                </a:solidFill>
                <a:latin typeface="Times New Roman"/>
              </a:rPr>
              <a:t>trạng</a:t>
            </a:r>
            <a:r>
              <a:rPr sz="1600" b="0" i="0" dirty="0">
                <a:solidFill>
                  <a:srgbClr val="2B3648"/>
                </a:solidFill>
                <a:latin typeface="Times New Roman"/>
              </a:rPr>
              <a:t> </a:t>
            </a:r>
            <a:r>
              <a:rPr sz="1600" b="0" i="0" dirty="0" err="1">
                <a:solidFill>
                  <a:srgbClr val="2B3648"/>
                </a:solidFill>
                <a:latin typeface="Times New Roman"/>
              </a:rPr>
              <a:t>thái</a:t>
            </a:r>
            <a:r>
              <a:rPr sz="1600" b="0" i="0" dirty="0">
                <a:solidFill>
                  <a:srgbClr val="2B3648"/>
                </a:solidFill>
                <a:latin typeface="Times New Roman"/>
              </a:rPr>
              <a:t>.</a:t>
            </a:r>
          </a:p>
        </p:txBody>
      </p:sp>
      <p:sp>
        <p:nvSpPr>
          <p:cNvPr id="31" name="Rounded Rectangle 30"/>
          <p:cNvSpPr/>
          <p:nvPr/>
        </p:nvSpPr>
        <p:spPr>
          <a:xfrm>
            <a:off x="8321040" y="3794760"/>
            <a:ext cx="3246120" cy="1325880"/>
          </a:xfrm>
          <a:prstGeom prst="roundRect">
            <a:avLst/>
          </a:prstGeom>
          <a:solidFill>
            <a:srgbClr val="E0F5F2"/>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485632" y="3959352"/>
            <a:ext cx="438912" cy="438912"/>
          </a:xfrm>
          <a:prstGeom prst="ellipse">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85632" y="4005072"/>
            <a:ext cx="438912" cy="256032"/>
          </a:xfrm>
          <a:prstGeom prst="rect">
            <a:avLst/>
          </a:prstGeom>
          <a:noFill/>
        </p:spPr>
        <p:txBody>
          <a:bodyPr wrap="square" lIns="54864" tIns="54864" rIns="54864" bIns="54864" anchor="t">
            <a:spAutoFit/>
          </a:bodyPr>
          <a:lstStyle/>
          <a:p>
            <a:pPr algn="ctr">
              <a:spcAft>
                <a:spcPts val="500"/>
              </a:spcAft>
            </a:pPr>
            <a:r>
              <a:rPr sz="1300" b="1" i="0">
                <a:solidFill>
                  <a:srgbClr val="FFFFFF"/>
                </a:solidFill>
                <a:latin typeface="Times New Roman"/>
              </a:rPr>
              <a:t>6</a:t>
            </a:r>
          </a:p>
        </p:txBody>
      </p:sp>
      <p:sp>
        <p:nvSpPr>
          <p:cNvPr id="34" name="TextBox 33"/>
          <p:cNvSpPr txBox="1"/>
          <p:nvPr/>
        </p:nvSpPr>
        <p:spPr>
          <a:xfrm>
            <a:off x="9070848" y="3959352"/>
            <a:ext cx="2286000" cy="320040"/>
          </a:xfrm>
          <a:prstGeom prst="rect">
            <a:avLst/>
          </a:prstGeom>
          <a:noFill/>
        </p:spPr>
        <p:txBody>
          <a:bodyPr wrap="square" lIns="54864" tIns="54864" rIns="54864" bIns="54864" anchor="t">
            <a:spAutoFit/>
          </a:bodyPr>
          <a:lstStyle/>
          <a:p>
            <a:pPr algn="l">
              <a:spcAft>
                <a:spcPts val="500"/>
              </a:spcAft>
            </a:pPr>
            <a:r>
              <a:rPr sz="1500" b="1" i="0">
                <a:solidFill>
                  <a:srgbClr val="182A4C"/>
                </a:solidFill>
                <a:latin typeface="Times New Roman"/>
              </a:rPr>
              <a:t>Hiển thị kết quả</a:t>
            </a:r>
          </a:p>
        </p:txBody>
      </p:sp>
      <p:sp>
        <p:nvSpPr>
          <p:cNvPr id="35" name="TextBox 34"/>
          <p:cNvSpPr txBox="1"/>
          <p:nvPr/>
        </p:nvSpPr>
        <p:spPr>
          <a:xfrm>
            <a:off x="8503920" y="4507992"/>
            <a:ext cx="2834640" cy="357021"/>
          </a:xfrm>
          <a:prstGeom prst="rect">
            <a:avLst/>
          </a:prstGeom>
          <a:noFill/>
        </p:spPr>
        <p:txBody>
          <a:bodyPr wrap="square" lIns="54864" tIns="54864" rIns="54864" bIns="54864" anchor="t">
            <a:spAutoFit/>
          </a:bodyPr>
          <a:lstStyle/>
          <a:p>
            <a:pPr algn="l">
              <a:spcAft>
                <a:spcPts val="500"/>
              </a:spcAft>
            </a:pPr>
            <a:r>
              <a:rPr sz="1600" b="0" i="0" dirty="0">
                <a:solidFill>
                  <a:srgbClr val="2B3648"/>
                </a:solidFill>
                <a:latin typeface="Times New Roman"/>
              </a:rPr>
              <a:t>Thông </a:t>
            </a:r>
            <a:r>
              <a:rPr sz="1600" b="0" i="0" dirty="0" err="1">
                <a:solidFill>
                  <a:srgbClr val="2B3648"/>
                </a:solidFill>
                <a:latin typeface="Times New Roman"/>
              </a:rPr>
              <a:t>báo</a:t>
            </a:r>
            <a:r>
              <a:rPr sz="1600" b="0" i="0" dirty="0">
                <a:solidFill>
                  <a:srgbClr val="2B3648"/>
                </a:solidFill>
                <a:latin typeface="Times New Roman"/>
              </a:rPr>
              <a:t> </a:t>
            </a:r>
            <a:r>
              <a:rPr sz="1600" b="0" i="0" dirty="0" err="1">
                <a:solidFill>
                  <a:srgbClr val="2B3648"/>
                </a:solidFill>
                <a:latin typeface="Times New Roman"/>
              </a:rPr>
              <a:t>thành</a:t>
            </a:r>
            <a:r>
              <a:rPr sz="1600" b="0" i="0" dirty="0">
                <a:solidFill>
                  <a:srgbClr val="2B3648"/>
                </a:solidFill>
                <a:latin typeface="Times New Roman"/>
              </a:rPr>
              <a:t> </a:t>
            </a:r>
            <a:r>
              <a:rPr sz="1600" b="0" i="0" dirty="0" err="1">
                <a:solidFill>
                  <a:srgbClr val="2B3648"/>
                </a:solidFill>
                <a:latin typeface="Times New Roman"/>
              </a:rPr>
              <a:t>công</a:t>
            </a:r>
            <a:r>
              <a:rPr sz="1600" b="0" i="0" dirty="0">
                <a:solidFill>
                  <a:srgbClr val="2B3648"/>
                </a:solidFill>
                <a:latin typeface="Times New Roman"/>
              </a:rPr>
              <a:t> </a:t>
            </a:r>
            <a:r>
              <a:rPr sz="1600" b="0" i="0" dirty="0" err="1">
                <a:solidFill>
                  <a:srgbClr val="2B3648"/>
                </a:solidFill>
                <a:latin typeface="Times New Roman"/>
              </a:rPr>
              <a:t>hoặc</a:t>
            </a:r>
            <a:r>
              <a:rPr sz="1600" b="0" i="0" dirty="0">
                <a:solidFill>
                  <a:srgbClr val="2B3648"/>
                </a:solidFill>
                <a:latin typeface="Times New Roman"/>
              </a:rPr>
              <a:t> </a:t>
            </a:r>
            <a:r>
              <a:rPr sz="1600" b="0" i="0" dirty="0" err="1">
                <a:solidFill>
                  <a:srgbClr val="2B3648"/>
                </a:solidFill>
                <a:latin typeface="Times New Roman"/>
              </a:rPr>
              <a:t>lỗi</a:t>
            </a:r>
            <a:r>
              <a:rPr sz="1600" b="0" i="0" dirty="0">
                <a:solidFill>
                  <a:srgbClr val="2B3648"/>
                </a:solidFill>
                <a:latin typeface="Times New Roman"/>
              </a:rPr>
              <a:t>.</a:t>
            </a:r>
          </a:p>
        </p:txBody>
      </p:sp>
      <p:cxnSp>
        <p:nvCxnSpPr>
          <p:cNvPr id="36" name="Connector 35"/>
          <p:cNvCxnSpPr/>
          <p:nvPr/>
        </p:nvCxnSpPr>
        <p:spPr>
          <a:xfrm>
            <a:off x="4023360" y="2468880"/>
            <a:ext cx="411480" cy="0"/>
          </a:xfrm>
          <a:prstGeom prst="line">
            <a:avLst/>
          </a:prstGeom>
          <a:ln w="19050">
            <a:solidFill>
              <a:srgbClr val="66738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818120" y="2468880"/>
            <a:ext cx="365759" cy="0"/>
          </a:xfrm>
          <a:prstGeom prst="line">
            <a:avLst/>
          </a:prstGeom>
          <a:ln w="19050">
            <a:solidFill>
              <a:srgbClr val="66738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875520" y="3246120"/>
            <a:ext cx="0" cy="411480"/>
          </a:xfrm>
          <a:prstGeom prst="line">
            <a:avLst/>
          </a:prstGeom>
          <a:ln w="19050">
            <a:solidFill>
              <a:srgbClr val="66738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7818120" y="4343400"/>
            <a:ext cx="365759" cy="0"/>
          </a:xfrm>
          <a:prstGeom prst="line">
            <a:avLst/>
          </a:prstGeom>
          <a:ln w="19050">
            <a:solidFill>
              <a:srgbClr val="66738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4023360" y="4343400"/>
            <a:ext cx="411480" cy="0"/>
          </a:xfrm>
          <a:prstGeom prst="line">
            <a:avLst/>
          </a:prstGeom>
          <a:ln w="19050">
            <a:solidFill>
              <a:srgbClr val="667387"/>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103120" y="6080760"/>
            <a:ext cx="8046720" cy="274320"/>
          </a:xfrm>
          <a:prstGeom prst="rect">
            <a:avLst/>
          </a:prstGeom>
          <a:noFill/>
        </p:spPr>
        <p:txBody>
          <a:bodyPr wrap="square" lIns="54864" tIns="54864" rIns="54864" bIns="54864" anchor="t">
            <a:spAutoFit/>
          </a:bodyPr>
          <a:lstStyle/>
          <a:p>
            <a:pPr algn="ctr">
              <a:spcAft>
                <a:spcPts val="500"/>
              </a:spcAft>
            </a:pPr>
            <a:r>
              <a:rPr sz="1400" b="1" i="0" dirty="0" err="1">
                <a:solidFill>
                  <a:srgbClr val="D45353"/>
                </a:solidFill>
                <a:latin typeface="Times New Roman"/>
              </a:rPr>
              <a:t>Điểm</a:t>
            </a:r>
            <a:r>
              <a:rPr sz="1400" b="1" i="0" dirty="0">
                <a:solidFill>
                  <a:srgbClr val="D45353"/>
                </a:solidFill>
                <a:latin typeface="Times New Roman"/>
              </a:rPr>
              <a:t> </a:t>
            </a:r>
            <a:r>
              <a:rPr sz="1400" b="1" i="0" dirty="0" err="1">
                <a:solidFill>
                  <a:srgbClr val="D45353"/>
                </a:solidFill>
                <a:latin typeface="Times New Roman"/>
              </a:rPr>
              <a:t>quan</a:t>
            </a:r>
            <a:r>
              <a:rPr sz="1400" b="1" i="0" dirty="0">
                <a:solidFill>
                  <a:srgbClr val="D45353"/>
                </a:solidFill>
                <a:latin typeface="Times New Roman"/>
              </a:rPr>
              <a:t> </a:t>
            </a:r>
            <a:r>
              <a:rPr sz="1400" b="1" i="0" dirty="0" err="1">
                <a:solidFill>
                  <a:srgbClr val="D45353"/>
                </a:solidFill>
                <a:latin typeface="Times New Roman"/>
              </a:rPr>
              <a:t>trọng</a:t>
            </a:r>
            <a:r>
              <a:rPr sz="1400" b="1" i="0" dirty="0">
                <a:solidFill>
                  <a:srgbClr val="D45353"/>
                </a:solidFill>
                <a:latin typeface="Times New Roman"/>
              </a:rPr>
              <a:t>: </a:t>
            </a:r>
            <a:r>
              <a:rPr sz="1400" b="1" i="0" dirty="0" err="1">
                <a:solidFill>
                  <a:srgbClr val="D45353"/>
                </a:solidFill>
                <a:latin typeface="Times New Roman"/>
              </a:rPr>
              <a:t>giao</a:t>
            </a:r>
            <a:r>
              <a:rPr sz="1400" b="1" i="0" dirty="0">
                <a:solidFill>
                  <a:srgbClr val="D45353"/>
                </a:solidFill>
                <a:latin typeface="Times New Roman"/>
              </a:rPr>
              <a:t> </a:t>
            </a:r>
            <a:r>
              <a:rPr sz="1400" b="1" i="0" dirty="0" err="1">
                <a:solidFill>
                  <a:srgbClr val="D45353"/>
                </a:solidFill>
                <a:latin typeface="Times New Roman"/>
              </a:rPr>
              <a:t>diện</a:t>
            </a:r>
            <a:r>
              <a:rPr sz="1400" b="1" i="0" dirty="0">
                <a:solidFill>
                  <a:srgbClr val="D45353"/>
                </a:solidFill>
                <a:latin typeface="Times New Roman"/>
              </a:rPr>
              <a:t> </a:t>
            </a:r>
            <a:r>
              <a:rPr sz="1400" b="1" i="0" dirty="0" err="1">
                <a:solidFill>
                  <a:srgbClr val="D45353"/>
                </a:solidFill>
                <a:latin typeface="Times New Roman"/>
              </a:rPr>
              <a:t>không</a:t>
            </a:r>
            <a:r>
              <a:rPr sz="1400" b="1" i="0" dirty="0">
                <a:solidFill>
                  <a:srgbClr val="D45353"/>
                </a:solidFill>
                <a:latin typeface="Times New Roman"/>
              </a:rPr>
              <a:t> </a:t>
            </a:r>
            <a:r>
              <a:rPr sz="1400" b="1" i="0" dirty="0" err="1">
                <a:solidFill>
                  <a:srgbClr val="D45353"/>
                </a:solidFill>
                <a:latin typeface="Times New Roman"/>
              </a:rPr>
              <a:t>tự</a:t>
            </a:r>
            <a:r>
              <a:rPr sz="1400" b="1" i="0" dirty="0">
                <a:solidFill>
                  <a:srgbClr val="D45353"/>
                </a:solidFill>
                <a:latin typeface="Times New Roman"/>
              </a:rPr>
              <a:t> </a:t>
            </a:r>
            <a:r>
              <a:rPr sz="1400" b="1" i="0" dirty="0" err="1">
                <a:solidFill>
                  <a:srgbClr val="D45353"/>
                </a:solidFill>
                <a:latin typeface="Times New Roman"/>
              </a:rPr>
              <a:t>ghi</a:t>
            </a:r>
            <a:r>
              <a:rPr sz="1400" b="1" i="0" dirty="0">
                <a:solidFill>
                  <a:srgbClr val="D45353"/>
                </a:solidFill>
                <a:latin typeface="Times New Roman"/>
              </a:rPr>
              <a:t> </a:t>
            </a:r>
            <a:r>
              <a:rPr sz="1400" b="1" i="0" dirty="0" err="1">
                <a:solidFill>
                  <a:srgbClr val="D45353"/>
                </a:solidFill>
                <a:latin typeface="Times New Roman"/>
              </a:rPr>
              <a:t>dữ</a:t>
            </a:r>
            <a:r>
              <a:rPr sz="1400" b="1" i="0" dirty="0">
                <a:solidFill>
                  <a:srgbClr val="D45353"/>
                </a:solidFill>
                <a:latin typeface="Times New Roman"/>
              </a:rPr>
              <a:t> </a:t>
            </a:r>
            <a:r>
              <a:rPr sz="1400" b="1" i="0" dirty="0" err="1">
                <a:solidFill>
                  <a:srgbClr val="D45353"/>
                </a:solidFill>
                <a:latin typeface="Times New Roman"/>
              </a:rPr>
              <a:t>liệu</a:t>
            </a:r>
            <a:r>
              <a:rPr sz="1400" b="1" i="0" dirty="0">
                <a:solidFill>
                  <a:srgbClr val="D45353"/>
                </a:solidFill>
                <a:latin typeface="Times New Roman"/>
              </a:rPr>
              <a:t> </a:t>
            </a:r>
            <a:r>
              <a:rPr sz="1400" b="1" i="0" dirty="0" err="1">
                <a:solidFill>
                  <a:srgbClr val="D45353"/>
                </a:solidFill>
                <a:latin typeface="Times New Roman"/>
              </a:rPr>
              <a:t>vào</a:t>
            </a:r>
            <a:r>
              <a:rPr sz="1400" b="1" i="0" dirty="0">
                <a:solidFill>
                  <a:srgbClr val="D45353"/>
                </a:solidFill>
                <a:latin typeface="Times New Roman"/>
              </a:rPr>
              <a:t> </a:t>
            </a:r>
            <a:r>
              <a:rPr sz="1400" b="1" i="0" dirty="0" err="1">
                <a:solidFill>
                  <a:srgbClr val="D45353"/>
                </a:solidFill>
                <a:latin typeface="Times New Roman"/>
              </a:rPr>
              <a:t>cơ</a:t>
            </a:r>
            <a:r>
              <a:rPr sz="1400" b="1" i="0" dirty="0">
                <a:solidFill>
                  <a:srgbClr val="D45353"/>
                </a:solidFill>
                <a:latin typeface="Times New Roman"/>
              </a:rPr>
              <a:t> </a:t>
            </a:r>
            <a:r>
              <a:rPr sz="1400" b="1" i="0" dirty="0" err="1">
                <a:solidFill>
                  <a:srgbClr val="D45353"/>
                </a:solidFill>
                <a:latin typeface="Times New Roman"/>
              </a:rPr>
              <a:t>sở</a:t>
            </a:r>
            <a:r>
              <a:rPr sz="1400" b="1" i="0" dirty="0">
                <a:solidFill>
                  <a:srgbClr val="D45353"/>
                </a:solidFill>
                <a:latin typeface="Times New Roman"/>
              </a:rPr>
              <a:t> </a:t>
            </a:r>
            <a:r>
              <a:rPr sz="1400" b="1" i="0" dirty="0" err="1">
                <a:solidFill>
                  <a:srgbClr val="D45353"/>
                </a:solidFill>
                <a:latin typeface="Times New Roman"/>
              </a:rPr>
              <a:t>dữ</a:t>
            </a:r>
            <a:r>
              <a:rPr sz="1400" b="1" i="0" dirty="0">
                <a:solidFill>
                  <a:srgbClr val="D45353"/>
                </a:solidFill>
                <a:latin typeface="Times New Roman"/>
              </a:rPr>
              <a:t> </a:t>
            </a:r>
            <a:r>
              <a:rPr sz="1400" b="1" i="0" dirty="0" err="1">
                <a:solidFill>
                  <a:srgbClr val="D45353"/>
                </a:solidFill>
                <a:latin typeface="Times New Roman"/>
              </a:rPr>
              <a:t>liệu</a:t>
            </a:r>
            <a:r>
              <a:rPr sz="1400" b="1" i="0" dirty="0">
                <a:solidFill>
                  <a:srgbClr val="D45353"/>
                </a:solidFill>
                <a:latin typeface="Times New Roman"/>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66928"/>
          </a:xfrm>
          <a:prstGeom prst="rect">
            <a:avLst/>
          </a:prstGeom>
          <a:noFill/>
        </p:spPr>
        <p:txBody>
          <a:bodyPr wrap="square" lIns="54864" tIns="54864" rIns="54864" bIns="54864" anchor="t">
            <a:spAutoFit/>
          </a:bodyPr>
          <a:lstStyle/>
          <a:p>
            <a:pPr algn="l">
              <a:spcAft>
                <a:spcPts val="500"/>
              </a:spcAft>
            </a:pPr>
            <a:r>
              <a:rPr sz="2700" b="1" i="0">
                <a:solidFill>
                  <a:srgbClr val="182A4C"/>
                </a:solidFill>
                <a:latin typeface="Times New Roman"/>
              </a:rPr>
              <a:t>Kiến trúc 3 lớp liên quan gì đến OOP?</a:t>
            </a:r>
          </a:p>
        </p:txBody>
      </p:sp>
      <p:sp>
        <p:nvSpPr>
          <p:cNvPr id="3" name="Rectangle 2"/>
          <p:cNvSpPr/>
          <p:nvPr/>
        </p:nvSpPr>
        <p:spPr>
          <a:xfrm>
            <a:off x="612648" y="969264"/>
            <a:ext cx="822960" cy="50292"/>
          </a:xfrm>
          <a:prstGeom prst="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78992"/>
            <a:ext cx="10881360" cy="357021"/>
          </a:xfrm>
          <a:prstGeom prst="rect">
            <a:avLst/>
          </a:prstGeom>
          <a:noFill/>
        </p:spPr>
        <p:txBody>
          <a:bodyPr wrap="square" lIns="54864" tIns="54864" rIns="54864" bIns="54864" anchor="t">
            <a:spAutoFit/>
          </a:bodyPr>
          <a:lstStyle/>
          <a:p>
            <a:pPr algn="l">
              <a:spcAft>
                <a:spcPts val="500"/>
              </a:spcAft>
            </a:pPr>
            <a:r>
              <a:rPr sz="1600" b="0" i="0" dirty="0">
                <a:solidFill>
                  <a:srgbClr val="667387"/>
                </a:solidFill>
                <a:latin typeface="Times New Roman"/>
              </a:rPr>
              <a:t>OOP </a:t>
            </a:r>
            <a:r>
              <a:rPr sz="1600" b="0" i="0" dirty="0" err="1">
                <a:solidFill>
                  <a:srgbClr val="667387"/>
                </a:solidFill>
                <a:latin typeface="Times New Roman"/>
              </a:rPr>
              <a:t>giúp</a:t>
            </a:r>
            <a:r>
              <a:rPr sz="1600" b="0" i="0" dirty="0">
                <a:solidFill>
                  <a:srgbClr val="667387"/>
                </a:solidFill>
                <a:latin typeface="Times New Roman"/>
              </a:rPr>
              <a:t> </a:t>
            </a:r>
            <a:r>
              <a:rPr sz="1600" b="0" i="0" dirty="0" err="1">
                <a:solidFill>
                  <a:srgbClr val="667387"/>
                </a:solidFill>
                <a:latin typeface="Times New Roman"/>
              </a:rPr>
              <a:t>thiết</a:t>
            </a:r>
            <a:r>
              <a:rPr sz="1600" b="0" i="0" dirty="0">
                <a:solidFill>
                  <a:srgbClr val="667387"/>
                </a:solidFill>
                <a:latin typeface="Times New Roman"/>
              </a:rPr>
              <a:t> </a:t>
            </a:r>
            <a:r>
              <a:rPr sz="1600" b="0" i="0" dirty="0" err="1">
                <a:solidFill>
                  <a:srgbClr val="667387"/>
                </a:solidFill>
                <a:latin typeface="Times New Roman"/>
              </a:rPr>
              <a:t>kế</a:t>
            </a:r>
            <a:r>
              <a:rPr sz="1600" b="0" i="0" dirty="0">
                <a:solidFill>
                  <a:srgbClr val="667387"/>
                </a:solidFill>
                <a:latin typeface="Times New Roman"/>
              </a:rPr>
              <a:t> </a:t>
            </a:r>
            <a:r>
              <a:rPr sz="1600" b="0" i="0" dirty="0" err="1">
                <a:solidFill>
                  <a:srgbClr val="667387"/>
                </a:solidFill>
                <a:latin typeface="Times New Roman"/>
              </a:rPr>
              <a:t>các</a:t>
            </a:r>
            <a:r>
              <a:rPr sz="1600" b="0" i="0" dirty="0">
                <a:solidFill>
                  <a:srgbClr val="667387"/>
                </a:solidFill>
                <a:latin typeface="Times New Roman"/>
              </a:rPr>
              <a:t> </a:t>
            </a:r>
            <a:r>
              <a:rPr sz="1600" b="0" i="0" dirty="0" err="1">
                <a:solidFill>
                  <a:srgbClr val="667387"/>
                </a:solidFill>
                <a:latin typeface="Times New Roman"/>
              </a:rPr>
              <a:t>thành</a:t>
            </a:r>
            <a:r>
              <a:rPr sz="1600" b="0" i="0" dirty="0">
                <a:solidFill>
                  <a:srgbClr val="667387"/>
                </a:solidFill>
                <a:latin typeface="Times New Roman"/>
              </a:rPr>
              <a:t> </a:t>
            </a:r>
            <a:r>
              <a:rPr sz="1600" b="0" i="0" dirty="0" err="1">
                <a:solidFill>
                  <a:srgbClr val="667387"/>
                </a:solidFill>
                <a:latin typeface="Times New Roman"/>
              </a:rPr>
              <a:t>phần</a:t>
            </a:r>
            <a:r>
              <a:rPr sz="1600" b="0" i="0" dirty="0">
                <a:solidFill>
                  <a:srgbClr val="667387"/>
                </a:solidFill>
                <a:latin typeface="Times New Roman"/>
              </a:rPr>
              <a:t> </a:t>
            </a:r>
            <a:r>
              <a:rPr sz="1600" b="0" i="0" dirty="0" err="1">
                <a:solidFill>
                  <a:srgbClr val="667387"/>
                </a:solidFill>
                <a:latin typeface="Times New Roman"/>
              </a:rPr>
              <a:t>trong</a:t>
            </a:r>
            <a:r>
              <a:rPr sz="1600" b="0" i="0" dirty="0">
                <a:solidFill>
                  <a:srgbClr val="667387"/>
                </a:solidFill>
                <a:latin typeface="Times New Roman"/>
              </a:rPr>
              <a:t> </a:t>
            </a:r>
            <a:r>
              <a:rPr sz="1600" b="0" i="0" dirty="0" err="1">
                <a:solidFill>
                  <a:srgbClr val="667387"/>
                </a:solidFill>
                <a:latin typeface="Times New Roman"/>
              </a:rPr>
              <a:t>từng</a:t>
            </a:r>
            <a:r>
              <a:rPr sz="1600" b="0" i="0" dirty="0">
                <a:solidFill>
                  <a:srgbClr val="667387"/>
                </a:solidFill>
                <a:latin typeface="Times New Roman"/>
              </a:rPr>
              <a:t> </a:t>
            </a:r>
            <a:r>
              <a:rPr sz="1600" b="0" i="0" dirty="0" err="1">
                <a:solidFill>
                  <a:srgbClr val="667387"/>
                </a:solidFill>
                <a:latin typeface="Times New Roman"/>
              </a:rPr>
              <a:t>lớp</a:t>
            </a:r>
            <a:r>
              <a:rPr sz="1600" b="0" i="0" dirty="0">
                <a:solidFill>
                  <a:srgbClr val="667387"/>
                </a:solidFill>
                <a:latin typeface="Times New Roman"/>
              </a:rPr>
              <a:t> </a:t>
            </a:r>
            <a:r>
              <a:rPr sz="1600" b="0" i="0" dirty="0" err="1">
                <a:solidFill>
                  <a:srgbClr val="667387"/>
                </a:solidFill>
                <a:latin typeface="Times New Roman"/>
              </a:rPr>
              <a:t>thành</a:t>
            </a:r>
            <a:r>
              <a:rPr sz="1600" b="0" i="0" dirty="0">
                <a:solidFill>
                  <a:srgbClr val="667387"/>
                </a:solidFill>
                <a:latin typeface="Times New Roman"/>
              </a:rPr>
              <a:t> </a:t>
            </a:r>
            <a:r>
              <a:rPr sz="1600" b="0" i="0" dirty="0" err="1">
                <a:solidFill>
                  <a:srgbClr val="667387"/>
                </a:solidFill>
                <a:latin typeface="Times New Roman"/>
              </a:rPr>
              <a:t>những</a:t>
            </a:r>
            <a:r>
              <a:rPr sz="1600" b="0" i="0" dirty="0">
                <a:solidFill>
                  <a:srgbClr val="667387"/>
                </a:solidFill>
                <a:latin typeface="Times New Roman"/>
              </a:rPr>
              <a:t> </a:t>
            </a:r>
            <a:r>
              <a:rPr sz="1600" b="0" i="0" dirty="0" err="1">
                <a:solidFill>
                  <a:srgbClr val="667387"/>
                </a:solidFill>
                <a:latin typeface="Times New Roman"/>
              </a:rPr>
              <a:t>đối</a:t>
            </a:r>
            <a:r>
              <a:rPr sz="1600" b="0" i="0" dirty="0">
                <a:solidFill>
                  <a:srgbClr val="667387"/>
                </a:solidFill>
                <a:latin typeface="Times New Roman"/>
              </a:rPr>
              <a:t> </a:t>
            </a:r>
            <a:r>
              <a:rPr sz="1600" b="0" i="0" dirty="0" err="1">
                <a:solidFill>
                  <a:srgbClr val="667387"/>
                </a:solidFill>
                <a:latin typeface="Times New Roman"/>
              </a:rPr>
              <a:t>tượng</a:t>
            </a:r>
            <a:r>
              <a:rPr sz="1600" b="0" i="0" dirty="0">
                <a:solidFill>
                  <a:srgbClr val="667387"/>
                </a:solidFill>
                <a:latin typeface="Times New Roman"/>
              </a:rPr>
              <a:t> </a:t>
            </a:r>
            <a:r>
              <a:rPr sz="1600" b="0" i="0" dirty="0" err="1">
                <a:solidFill>
                  <a:srgbClr val="667387"/>
                </a:solidFill>
                <a:latin typeface="Times New Roman"/>
              </a:rPr>
              <a:t>có</a:t>
            </a:r>
            <a:r>
              <a:rPr sz="1600" b="0" i="0" dirty="0">
                <a:solidFill>
                  <a:srgbClr val="667387"/>
                </a:solidFill>
                <a:latin typeface="Times New Roman"/>
              </a:rPr>
              <a:t> </a:t>
            </a:r>
            <a:r>
              <a:rPr sz="1600" b="0" i="0" dirty="0" err="1">
                <a:solidFill>
                  <a:srgbClr val="667387"/>
                </a:solidFill>
                <a:latin typeface="Times New Roman"/>
              </a:rPr>
              <a:t>trách</a:t>
            </a:r>
            <a:r>
              <a:rPr sz="1600" b="0" i="0" dirty="0">
                <a:solidFill>
                  <a:srgbClr val="667387"/>
                </a:solidFill>
                <a:latin typeface="Times New Roman"/>
              </a:rPr>
              <a:t> </a:t>
            </a:r>
            <a:r>
              <a:rPr sz="1600" b="0" i="0" dirty="0" err="1">
                <a:solidFill>
                  <a:srgbClr val="667387"/>
                </a:solidFill>
                <a:latin typeface="Times New Roman"/>
              </a:rPr>
              <a:t>nhiệm</a:t>
            </a:r>
            <a:r>
              <a:rPr sz="1600" b="0" i="0" dirty="0">
                <a:solidFill>
                  <a:srgbClr val="667387"/>
                </a:solidFill>
                <a:latin typeface="Times New Roman"/>
              </a:rPr>
              <a:t> </a:t>
            </a:r>
            <a:r>
              <a:rPr sz="1600" b="0" i="0" dirty="0" err="1">
                <a:solidFill>
                  <a:srgbClr val="667387"/>
                </a:solidFill>
                <a:latin typeface="Times New Roman"/>
              </a:rPr>
              <a:t>rõ</a:t>
            </a:r>
            <a:r>
              <a:rPr sz="1600" b="0" i="0" dirty="0">
                <a:solidFill>
                  <a:srgbClr val="667387"/>
                </a:solidFill>
                <a:latin typeface="Times New Roman"/>
              </a:rPr>
              <a:t> </a:t>
            </a:r>
            <a:r>
              <a:rPr sz="1600" b="0" i="0" dirty="0" err="1">
                <a:solidFill>
                  <a:srgbClr val="667387"/>
                </a:solidFill>
                <a:latin typeface="Times New Roman"/>
              </a:rPr>
              <a:t>ràng</a:t>
            </a:r>
            <a:r>
              <a:rPr sz="1600" b="0" i="0" dirty="0">
                <a:solidFill>
                  <a:srgbClr val="667387"/>
                </a:solidFill>
                <a:latin typeface="Times New Roman"/>
              </a:rPr>
              <a:t>.</a:t>
            </a:r>
          </a:p>
        </p:txBody>
      </p:sp>
      <p:sp>
        <p:nvSpPr>
          <p:cNvPr id="5" name="TextBox 4"/>
          <p:cNvSpPr txBox="1"/>
          <p:nvPr/>
        </p:nvSpPr>
        <p:spPr>
          <a:xfrm>
            <a:off x="10744200" y="6473952"/>
            <a:ext cx="914400" cy="182880"/>
          </a:xfrm>
          <a:prstGeom prst="rect">
            <a:avLst/>
          </a:prstGeom>
          <a:noFill/>
        </p:spPr>
        <p:txBody>
          <a:bodyPr wrap="square" lIns="54864" tIns="54864" rIns="54864" bIns="54864" anchor="t">
            <a:spAutoFit/>
          </a:bodyPr>
          <a:lstStyle/>
          <a:p>
            <a:pPr algn="r">
              <a:spcAft>
                <a:spcPts val="500"/>
              </a:spcAft>
            </a:pPr>
            <a:r>
              <a:rPr sz="900" b="0" i="0">
                <a:solidFill>
                  <a:srgbClr val="667387"/>
                </a:solidFill>
                <a:latin typeface="Times New Roman"/>
              </a:rPr>
              <a:t>10  /  13</a:t>
            </a:r>
          </a:p>
        </p:txBody>
      </p:sp>
      <p:sp>
        <p:nvSpPr>
          <p:cNvPr id="6" name="Rounded Rectangle 5"/>
          <p:cNvSpPr/>
          <p:nvPr/>
        </p:nvSpPr>
        <p:spPr>
          <a:xfrm>
            <a:off x="731520" y="1828800"/>
            <a:ext cx="3429000" cy="2103120"/>
          </a:xfrm>
          <a:prstGeom prst="roundRect">
            <a:avLst/>
          </a:prstGeom>
          <a:solidFill>
            <a:srgbClr val="E5EEFD"/>
          </a:solidFill>
          <a:ln>
            <a:solidFill>
              <a:srgbClr val="E5E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828800"/>
            <a:ext cx="82296" cy="2103120"/>
          </a:xfrm>
          <a:prstGeom prst="rect">
            <a:avLst/>
          </a:prstGeom>
          <a:solidFill>
            <a:srgbClr val="3669C9"/>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1975104"/>
            <a:ext cx="3063240" cy="329184"/>
          </a:xfrm>
          <a:prstGeom prst="rect">
            <a:avLst/>
          </a:prstGeom>
          <a:noFill/>
        </p:spPr>
        <p:txBody>
          <a:bodyPr wrap="square" lIns="54864" tIns="54864" rIns="54864" bIns="54864" anchor="t">
            <a:spAutoFit/>
          </a:bodyPr>
          <a:lstStyle/>
          <a:p>
            <a:pPr algn="l">
              <a:spcAft>
                <a:spcPts val="500"/>
              </a:spcAft>
            </a:pPr>
            <a:r>
              <a:rPr sz="1700" b="1" i="0">
                <a:solidFill>
                  <a:srgbClr val="182A4C"/>
                </a:solidFill>
                <a:latin typeface="Times New Roman"/>
              </a:rPr>
              <a:t>Đóng gói</a:t>
            </a:r>
          </a:p>
        </p:txBody>
      </p:sp>
      <p:sp>
        <p:nvSpPr>
          <p:cNvPr id="9" name="TextBox 8"/>
          <p:cNvSpPr txBox="1"/>
          <p:nvPr/>
        </p:nvSpPr>
        <p:spPr>
          <a:xfrm>
            <a:off x="932688" y="2386584"/>
            <a:ext cx="3063240" cy="1034129"/>
          </a:xfrm>
          <a:prstGeom prst="rect">
            <a:avLst/>
          </a:prstGeom>
          <a:noFill/>
        </p:spPr>
        <p:txBody>
          <a:bodyPr wrap="square" lIns="54864" tIns="54864" rIns="54864" bIns="54864" anchor="t">
            <a:spAutoFit/>
          </a:bodyPr>
          <a:lstStyle/>
          <a:p>
            <a:pPr algn="l">
              <a:spcAft>
                <a:spcPts val="500"/>
              </a:spcAft>
            </a:pPr>
            <a:r>
              <a:rPr sz="2000" b="0" i="0" dirty="0" err="1">
                <a:solidFill>
                  <a:srgbClr val="2B3648"/>
                </a:solidFill>
                <a:latin typeface="Times New Roman"/>
              </a:rPr>
              <a:t>Ẩn</a:t>
            </a:r>
            <a:r>
              <a:rPr sz="2000" b="0" i="0" dirty="0">
                <a:solidFill>
                  <a:srgbClr val="2B3648"/>
                </a:solidFill>
                <a:latin typeface="Times New Roman"/>
              </a:rPr>
              <a:t> chi </a:t>
            </a:r>
            <a:r>
              <a:rPr sz="2000" b="0" i="0" dirty="0" err="1">
                <a:solidFill>
                  <a:srgbClr val="2B3648"/>
                </a:solidFill>
                <a:latin typeface="Times New Roman"/>
              </a:rPr>
              <a:t>tiết</a:t>
            </a:r>
            <a:r>
              <a:rPr sz="2000" b="0" i="0" dirty="0">
                <a:solidFill>
                  <a:srgbClr val="2B3648"/>
                </a:solidFill>
                <a:latin typeface="Times New Roman"/>
              </a:rPr>
              <a:t> </a:t>
            </a:r>
            <a:r>
              <a:rPr sz="2000" b="0" i="0" dirty="0" err="1">
                <a:solidFill>
                  <a:srgbClr val="2B3648"/>
                </a:solidFill>
                <a:latin typeface="Times New Roman"/>
              </a:rPr>
              <a:t>bên</a:t>
            </a:r>
            <a:r>
              <a:rPr sz="2000" b="0" i="0" dirty="0">
                <a:solidFill>
                  <a:srgbClr val="2B3648"/>
                </a:solidFill>
                <a:latin typeface="Times New Roman"/>
              </a:rPr>
              <a:t> </a:t>
            </a:r>
            <a:r>
              <a:rPr sz="2000" b="0" i="0" dirty="0" err="1">
                <a:solidFill>
                  <a:srgbClr val="2B3648"/>
                </a:solidFill>
                <a:latin typeface="Times New Roman"/>
              </a:rPr>
              <a:t>trong</a:t>
            </a:r>
            <a:r>
              <a:rPr sz="2000" b="0" i="0" dirty="0">
                <a:solidFill>
                  <a:srgbClr val="2B3648"/>
                </a:solidFill>
                <a:latin typeface="Times New Roman"/>
              </a:rPr>
              <a:t> </a:t>
            </a:r>
            <a:r>
              <a:rPr sz="2000" b="0" i="0" dirty="0" err="1">
                <a:solidFill>
                  <a:srgbClr val="2B3648"/>
                </a:solidFill>
                <a:latin typeface="Times New Roman"/>
              </a:rPr>
              <a:t>đối</a:t>
            </a:r>
            <a:r>
              <a:rPr sz="2000" b="0" i="0" dirty="0">
                <a:solidFill>
                  <a:srgbClr val="2B3648"/>
                </a:solidFill>
                <a:latin typeface="Times New Roman"/>
              </a:rPr>
              <a:t> </a:t>
            </a:r>
            <a:r>
              <a:rPr sz="2000" b="0" i="0" dirty="0" err="1">
                <a:solidFill>
                  <a:srgbClr val="2B3648"/>
                </a:solidFill>
                <a:latin typeface="Times New Roman"/>
              </a:rPr>
              <a:t>tượng</a:t>
            </a:r>
            <a:r>
              <a:rPr sz="2000" b="0" i="0" dirty="0">
                <a:solidFill>
                  <a:srgbClr val="2B3648"/>
                </a:solidFill>
                <a:latin typeface="Times New Roman"/>
              </a:rPr>
              <a:t>; </a:t>
            </a:r>
            <a:r>
              <a:rPr sz="2000" b="0" i="0" dirty="0" err="1">
                <a:solidFill>
                  <a:srgbClr val="2B3648"/>
                </a:solidFill>
                <a:latin typeface="Times New Roman"/>
              </a:rPr>
              <a:t>cung</a:t>
            </a:r>
            <a:r>
              <a:rPr sz="2000" b="0" i="0" dirty="0">
                <a:solidFill>
                  <a:srgbClr val="2B3648"/>
                </a:solidFill>
                <a:latin typeface="Times New Roman"/>
              </a:rPr>
              <a:t> </a:t>
            </a:r>
            <a:r>
              <a:rPr sz="2000" b="0" i="0" dirty="0" err="1">
                <a:solidFill>
                  <a:srgbClr val="2B3648"/>
                </a:solidFill>
                <a:latin typeface="Times New Roman"/>
              </a:rPr>
              <a:t>cấp</a:t>
            </a:r>
            <a:r>
              <a:rPr sz="2000" b="0" i="0" dirty="0">
                <a:solidFill>
                  <a:srgbClr val="2B3648"/>
                </a:solidFill>
                <a:latin typeface="Times New Roman"/>
              </a:rPr>
              <a:t> </a:t>
            </a:r>
            <a:r>
              <a:rPr sz="2000" b="0" i="0" dirty="0" err="1">
                <a:solidFill>
                  <a:srgbClr val="2B3648"/>
                </a:solidFill>
                <a:latin typeface="Times New Roman"/>
              </a:rPr>
              <a:t>phương</a:t>
            </a:r>
            <a:r>
              <a:rPr sz="2000" b="0" i="0" dirty="0">
                <a:solidFill>
                  <a:srgbClr val="2B3648"/>
                </a:solidFill>
                <a:latin typeface="Times New Roman"/>
              </a:rPr>
              <a:t> </a:t>
            </a:r>
            <a:r>
              <a:rPr sz="2000" b="0" i="0" dirty="0" err="1">
                <a:solidFill>
                  <a:srgbClr val="2B3648"/>
                </a:solidFill>
                <a:latin typeface="Times New Roman"/>
              </a:rPr>
              <a:t>thức</a:t>
            </a:r>
            <a:r>
              <a:rPr sz="2000" b="0" i="0" dirty="0">
                <a:solidFill>
                  <a:srgbClr val="2B3648"/>
                </a:solidFill>
                <a:latin typeface="Times New Roman"/>
              </a:rPr>
              <a:t> </a:t>
            </a:r>
            <a:r>
              <a:rPr sz="2000" b="0" i="0" dirty="0" err="1">
                <a:solidFill>
                  <a:srgbClr val="2B3648"/>
                </a:solidFill>
                <a:latin typeface="Times New Roman"/>
              </a:rPr>
              <a:t>cần</a:t>
            </a:r>
            <a:r>
              <a:rPr sz="2000" b="0" i="0" dirty="0">
                <a:solidFill>
                  <a:srgbClr val="2B3648"/>
                </a:solidFill>
                <a:latin typeface="Times New Roman"/>
              </a:rPr>
              <a:t> </a:t>
            </a:r>
            <a:r>
              <a:rPr sz="2000" b="0" i="0" dirty="0" err="1">
                <a:solidFill>
                  <a:srgbClr val="2B3648"/>
                </a:solidFill>
                <a:latin typeface="Times New Roman"/>
              </a:rPr>
              <a:t>thiết</a:t>
            </a:r>
            <a:r>
              <a:rPr sz="2000" b="0" i="0" dirty="0">
                <a:solidFill>
                  <a:srgbClr val="2B3648"/>
                </a:solidFill>
                <a:latin typeface="Times New Roman"/>
              </a:rPr>
              <a:t>.</a:t>
            </a:r>
          </a:p>
        </p:txBody>
      </p:sp>
      <p:sp>
        <p:nvSpPr>
          <p:cNvPr id="10" name="Rounded Rectangle 9"/>
          <p:cNvSpPr/>
          <p:nvPr/>
        </p:nvSpPr>
        <p:spPr>
          <a:xfrm>
            <a:off x="4389120" y="1828800"/>
            <a:ext cx="3429000" cy="2103120"/>
          </a:xfrm>
          <a:prstGeom prst="roundRect">
            <a:avLst/>
          </a:prstGeom>
          <a:solidFill>
            <a:srgbClr val="E0F5F2"/>
          </a:solidFill>
          <a:ln>
            <a:solidFill>
              <a:srgbClr val="E0F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828800"/>
            <a:ext cx="82296" cy="2103120"/>
          </a:xfrm>
          <a:prstGeom prst="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975104"/>
            <a:ext cx="3063240" cy="329184"/>
          </a:xfrm>
          <a:prstGeom prst="rect">
            <a:avLst/>
          </a:prstGeom>
          <a:noFill/>
        </p:spPr>
        <p:txBody>
          <a:bodyPr wrap="square" lIns="54864" tIns="54864" rIns="54864" bIns="54864" anchor="t">
            <a:spAutoFit/>
          </a:bodyPr>
          <a:lstStyle/>
          <a:p>
            <a:pPr algn="l">
              <a:spcAft>
                <a:spcPts val="500"/>
              </a:spcAft>
            </a:pPr>
            <a:r>
              <a:rPr sz="1700" b="1" i="0">
                <a:solidFill>
                  <a:srgbClr val="182A4C"/>
                </a:solidFill>
                <a:latin typeface="Times New Roman"/>
              </a:rPr>
              <a:t>Trừu tượng</a:t>
            </a:r>
          </a:p>
        </p:txBody>
      </p:sp>
      <p:sp>
        <p:nvSpPr>
          <p:cNvPr id="13" name="TextBox 12"/>
          <p:cNvSpPr txBox="1"/>
          <p:nvPr/>
        </p:nvSpPr>
        <p:spPr>
          <a:xfrm>
            <a:off x="4590288" y="2386584"/>
            <a:ext cx="3063240" cy="1341906"/>
          </a:xfrm>
          <a:prstGeom prst="rect">
            <a:avLst/>
          </a:prstGeom>
          <a:noFill/>
        </p:spPr>
        <p:txBody>
          <a:bodyPr wrap="square" lIns="54864" tIns="54864" rIns="54864" bIns="54864" anchor="t">
            <a:spAutoFit/>
          </a:bodyPr>
          <a:lstStyle/>
          <a:p>
            <a:pPr algn="l">
              <a:spcAft>
                <a:spcPts val="500"/>
              </a:spcAft>
            </a:pPr>
            <a:r>
              <a:rPr sz="2000" b="0" i="0" dirty="0">
                <a:solidFill>
                  <a:srgbClr val="2B3648"/>
                </a:solidFill>
                <a:latin typeface="Times New Roman"/>
              </a:rPr>
              <a:t>Presentation </a:t>
            </a:r>
            <a:r>
              <a:rPr sz="2000" b="0" i="0" dirty="0" err="1">
                <a:solidFill>
                  <a:srgbClr val="2B3648"/>
                </a:solidFill>
                <a:latin typeface="Times New Roman"/>
              </a:rPr>
              <a:t>gọi</a:t>
            </a:r>
            <a:r>
              <a:rPr sz="2000" b="0" i="0" dirty="0">
                <a:solidFill>
                  <a:srgbClr val="2B3648"/>
                </a:solidFill>
                <a:latin typeface="Times New Roman"/>
              </a:rPr>
              <a:t> </a:t>
            </a:r>
            <a:r>
              <a:rPr sz="2000" b="0" i="0" dirty="0" err="1">
                <a:solidFill>
                  <a:srgbClr val="2B3648"/>
                </a:solidFill>
                <a:latin typeface="Times New Roman"/>
              </a:rPr>
              <a:t>phương</a:t>
            </a:r>
            <a:r>
              <a:rPr sz="2000" b="0" i="0" dirty="0">
                <a:solidFill>
                  <a:srgbClr val="2B3648"/>
                </a:solidFill>
                <a:latin typeface="Times New Roman"/>
              </a:rPr>
              <a:t> </a:t>
            </a:r>
            <a:r>
              <a:rPr sz="2000" b="0" i="0" dirty="0" err="1">
                <a:solidFill>
                  <a:srgbClr val="2B3648"/>
                </a:solidFill>
                <a:latin typeface="Times New Roman"/>
              </a:rPr>
              <a:t>thức</a:t>
            </a:r>
            <a:r>
              <a:rPr sz="2000" b="0" i="0" dirty="0">
                <a:solidFill>
                  <a:srgbClr val="2B3648"/>
                </a:solidFill>
                <a:latin typeface="Times New Roman"/>
              </a:rPr>
              <a:t> </a:t>
            </a:r>
            <a:r>
              <a:rPr sz="2000" b="0" i="0" dirty="0" err="1">
                <a:solidFill>
                  <a:srgbClr val="2B3648"/>
                </a:solidFill>
                <a:latin typeface="Times New Roman"/>
              </a:rPr>
              <a:t>nghiệp</a:t>
            </a:r>
            <a:r>
              <a:rPr sz="2000" b="0" i="0" dirty="0">
                <a:solidFill>
                  <a:srgbClr val="2B3648"/>
                </a:solidFill>
                <a:latin typeface="Times New Roman"/>
              </a:rPr>
              <a:t> </a:t>
            </a:r>
            <a:r>
              <a:rPr sz="2000" b="0" i="0" dirty="0" err="1">
                <a:solidFill>
                  <a:srgbClr val="2B3648"/>
                </a:solidFill>
                <a:latin typeface="Times New Roman"/>
              </a:rPr>
              <a:t>vụ</a:t>
            </a:r>
            <a:r>
              <a:rPr sz="2000" b="0" i="0" dirty="0">
                <a:solidFill>
                  <a:srgbClr val="2B3648"/>
                </a:solidFill>
                <a:latin typeface="Times New Roman"/>
              </a:rPr>
              <a:t> </a:t>
            </a:r>
            <a:r>
              <a:rPr sz="2000" b="0" i="0" dirty="0" err="1">
                <a:solidFill>
                  <a:srgbClr val="2B3648"/>
                </a:solidFill>
                <a:latin typeface="Times New Roman"/>
              </a:rPr>
              <a:t>mà</a:t>
            </a:r>
            <a:r>
              <a:rPr sz="2000" b="0" i="0" dirty="0">
                <a:solidFill>
                  <a:srgbClr val="2B3648"/>
                </a:solidFill>
                <a:latin typeface="Times New Roman"/>
              </a:rPr>
              <a:t> </a:t>
            </a:r>
            <a:r>
              <a:rPr sz="2000" b="0" i="0" dirty="0" err="1">
                <a:solidFill>
                  <a:srgbClr val="2B3648"/>
                </a:solidFill>
                <a:latin typeface="Times New Roman"/>
              </a:rPr>
              <a:t>không</a:t>
            </a:r>
            <a:r>
              <a:rPr sz="2000" b="0" i="0" dirty="0">
                <a:solidFill>
                  <a:srgbClr val="2B3648"/>
                </a:solidFill>
                <a:latin typeface="Times New Roman"/>
              </a:rPr>
              <a:t> </a:t>
            </a:r>
            <a:r>
              <a:rPr sz="2000" b="0" i="0" dirty="0" err="1">
                <a:solidFill>
                  <a:srgbClr val="2B3648"/>
                </a:solidFill>
                <a:latin typeface="Times New Roman"/>
              </a:rPr>
              <a:t>cần</a:t>
            </a:r>
            <a:r>
              <a:rPr sz="2000" b="0" i="0" dirty="0">
                <a:solidFill>
                  <a:srgbClr val="2B3648"/>
                </a:solidFill>
                <a:latin typeface="Times New Roman"/>
              </a:rPr>
              <a:t> </a:t>
            </a:r>
            <a:r>
              <a:rPr sz="2000" b="0" i="0" dirty="0" err="1">
                <a:solidFill>
                  <a:srgbClr val="2B3648"/>
                </a:solidFill>
                <a:latin typeface="Times New Roman"/>
              </a:rPr>
              <a:t>biết</a:t>
            </a:r>
            <a:r>
              <a:rPr sz="2000" b="0" i="0" dirty="0">
                <a:solidFill>
                  <a:srgbClr val="2B3648"/>
                </a:solidFill>
                <a:latin typeface="Times New Roman"/>
              </a:rPr>
              <a:t> SQL </a:t>
            </a:r>
            <a:r>
              <a:rPr sz="2000" b="0" i="0" dirty="0" err="1">
                <a:solidFill>
                  <a:srgbClr val="2B3648"/>
                </a:solidFill>
                <a:latin typeface="Times New Roman"/>
              </a:rPr>
              <a:t>hoạt</a:t>
            </a:r>
            <a:r>
              <a:rPr sz="2000" b="0" i="0" dirty="0">
                <a:solidFill>
                  <a:srgbClr val="2B3648"/>
                </a:solidFill>
                <a:latin typeface="Times New Roman"/>
              </a:rPr>
              <a:t> </a:t>
            </a:r>
            <a:r>
              <a:rPr sz="2000" b="0" i="0" dirty="0" err="1">
                <a:solidFill>
                  <a:srgbClr val="2B3648"/>
                </a:solidFill>
                <a:latin typeface="Times New Roman"/>
              </a:rPr>
              <a:t>động</a:t>
            </a:r>
            <a:r>
              <a:rPr sz="2000" b="0" i="0" dirty="0">
                <a:solidFill>
                  <a:srgbClr val="2B3648"/>
                </a:solidFill>
                <a:latin typeface="Times New Roman"/>
              </a:rPr>
              <a:t> </a:t>
            </a:r>
            <a:r>
              <a:rPr sz="2000" b="0" i="0" dirty="0" err="1">
                <a:solidFill>
                  <a:srgbClr val="2B3648"/>
                </a:solidFill>
                <a:latin typeface="Times New Roman"/>
              </a:rPr>
              <a:t>ra</a:t>
            </a:r>
            <a:r>
              <a:rPr sz="2000" b="0" i="0" dirty="0">
                <a:solidFill>
                  <a:srgbClr val="2B3648"/>
                </a:solidFill>
                <a:latin typeface="Times New Roman"/>
              </a:rPr>
              <a:t> </a:t>
            </a:r>
            <a:r>
              <a:rPr sz="2000" b="0" i="0" dirty="0" err="1">
                <a:solidFill>
                  <a:srgbClr val="2B3648"/>
                </a:solidFill>
                <a:latin typeface="Times New Roman"/>
              </a:rPr>
              <a:t>sao</a:t>
            </a:r>
            <a:r>
              <a:rPr sz="2000" b="0" i="0" dirty="0">
                <a:solidFill>
                  <a:srgbClr val="2B3648"/>
                </a:solidFill>
                <a:latin typeface="Times New Roman"/>
              </a:rPr>
              <a:t>.</a:t>
            </a:r>
          </a:p>
        </p:txBody>
      </p:sp>
      <p:sp>
        <p:nvSpPr>
          <p:cNvPr id="14" name="Rounded Rectangle 13"/>
          <p:cNvSpPr/>
          <p:nvPr/>
        </p:nvSpPr>
        <p:spPr>
          <a:xfrm>
            <a:off x="8046720" y="1828800"/>
            <a:ext cx="3429000" cy="2103120"/>
          </a:xfrm>
          <a:prstGeom prst="roundRect">
            <a:avLst/>
          </a:prstGeom>
          <a:solidFill>
            <a:srgbClr val="F0E9FC"/>
          </a:solidFill>
          <a:ln>
            <a:solidFill>
              <a:srgbClr val="F0E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1828800"/>
            <a:ext cx="82296" cy="2103120"/>
          </a:xfrm>
          <a:prstGeom prst="rect">
            <a:avLst/>
          </a:prstGeom>
          <a:solidFill>
            <a:srgbClr val="7E5BBE"/>
          </a:solidFill>
          <a:ln>
            <a:solidFill>
              <a:srgbClr val="7E5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47888" y="1975104"/>
            <a:ext cx="3063240" cy="329184"/>
          </a:xfrm>
          <a:prstGeom prst="rect">
            <a:avLst/>
          </a:prstGeom>
          <a:noFill/>
        </p:spPr>
        <p:txBody>
          <a:bodyPr wrap="square" lIns="54864" tIns="54864" rIns="54864" bIns="54864" anchor="t">
            <a:spAutoFit/>
          </a:bodyPr>
          <a:lstStyle/>
          <a:p>
            <a:pPr algn="l">
              <a:spcAft>
                <a:spcPts val="500"/>
              </a:spcAft>
            </a:pPr>
            <a:r>
              <a:rPr sz="1700" b="1" i="0">
                <a:solidFill>
                  <a:srgbClr val="182A4C"/>
                </a:solidFill>
                <a:latin typeface="Times New Roman"/>
              </a:rPr>
              <a:t>Đa hình / interface</a:t>
            </a:r>
          </a:p>
        </p:txBody>
      </p:sp>
      <p:sp>
        <p:nvSpPr>
          <p:cNvPr id="17" name="TextBox 16"/>
          <p:cNvSpPr txBox="1"/>
          <p:nvPr/>
        </p:nvSpPr>
        <p:spPr>
          <a:xfrm>
            <a:off x="8247888" y="2386584"/>
            <a:ext cx="3063240" cy="1341906"/>
          </a:xfrm>
          <a:prstGeom prst="rect">
            <a:avLst/>
          </a:prstGeom>
          <a:noFill/>
        </p:spPr>
        <p:txBody>
          <a:bodyPr wrap="square" lIns="54864" tIns="54864" rIns="54864" bIns="54864" anchor="t">
            <a:spAutoFit/>
          </a:bodyPr>
          <a:lstStyle/>
          <a:p>
            <a:pPr algn="l">
              <a:spcAft>
                <a:spcPts val="500"/>
              </a:spcAft>
            </a:pPr>
            <a:r>
              <a:rPr sz="2000" b="0" i="0" dirty="0" err="1">
                <a:solidFill>
                  <a:srgbClr val="2B3648"/>
                </a:solidFill>
                <a:latin typeface="Times New Roman"/>
              </a:rPr>
              <a:t>Có</a:t>
            </a:r>
            <a:r>
              <a:rPr sz="2000" b="0" i="0" dirty="0">
                <a:solidFill>
                  <a:srgbClr val="2B3648"/>
                </a:solidFill>
                <a:latin typeface="Times New Roman"/>
              </a:rPr>
              <a:t> </a:t>
            </a:r>
            <a:r>
              <a:rPr sz="2000" b="0" i="0" dirty="0" err="1">
                <a:solidFill>
                  <a:srgbClr val="2B3648"/>
                </a:solidFill>
                <a:latin typeface="Times New Roman"/>
              </a:rPr>
              <a:t>thể</a:t>
            </a:r>
            <a:r>
              <a:rPr sz="2000" b="0" i="0" dirty="0">
                <a:solidFill>
                  <a:srgbClr val="2B3648"/>
                </a:solidFill>
                <a:latin typeface="Times New Roman"/>
              </a:rPr>
              <a:t> </a:t>
            </a:r>
            <a:r>
              <a:rPr sz="2000" b="0" i="0" dirty="0" err="1">
                <a:solidFill>
                  <a:srgbClr val="2B3648"/>
                </a:solidFill>
                <a:latin typeface="Times New Roman"/>
              </a:rPr>
              <a:t>thay</a:t>
            </a:r>
            <a:r>
              <a:rPr sz="2000" b="0" i="0" dirty="0">
                <a:solidFill>
                  <a:srgbClr val="2B3648"/>
                </a:solidFill>
                <a:latin typeface="Times New Roman"/>
              </a:rPr>
              <a:t> </a:t>
            </a:r>
            <a:r>
              <a:rPr sz="2000" b="0" i="0" dirty="0" err="1">
                <a:solidFill>
                  <a:srgbClr val="2B3648"/>
                </a:solidFill>
                <a:latin typeface="Times New Roman"/>
              </a:rPr>
              <a:t>thế</a:t>
            </a:r>
            <a:r>
              <a:rPr sz="2000" b="0" i="0" dirty="0">
                <a:solidFill>
                  <a:srgbClr val="2B3648"/>
                </a:solidFill>
                <a:latin typeface="Times New Roman"/>
              </a:rPr>
              <a:t> </a:t>
            </a:r>
            <a:r>
              <a:rPr sz="2000" b="0" i="0" dirty="0" err="1">
                <a:solidFill>
                  <a:srgbClr val="2B3648"/>
                </a:solidFill>
                <a:latin typeface="Times New Roman"/>
              </a:rPr>
              <a:t>cách</a:t>
            </a:r>
            <a:r>
              <a:rPr sz="2000" b="0" i="0" dirty="0">
                <a:solidFill>
                  <a:srgbClr val="2B3648"/>
                </a:solidFill>
                <a:latin typeface="Times New Roman"/>
              </a:rPr>
              <a:t> </a:t>
            </a:r>
            <a:r>
              <a:rPr sz="2000" b="0" i="0" dirty="0" err="1">
                <a:solidFill>
                  <a:srgbClr val="2B3648"/>
                </a:solidFill>
                <a:latin typeface="Times New Roman"/>
              </a:rPr>
              <a:t>lưu</a:t>
            </a:r>
            <a:r>
              <a:rPr sz="2000" b="0" i="0" dirty="0">
                <a:solidFill>
                  <a:srgbClr val="2B3648"/>
                </a:solidFill>
                <a:latin typeface="Times New Roman"/>
              </a:rPr>
              <a:t> </a:t>
            </a:r>
            <a:r>
              <a:rPr sz="2000" b="0" i="0" dirty="0" err="1">
                <a:solidFill>
                  <a:srgbClr val="2B3648"/>
                </a:solidFill>
                <a:latin typeface="Times New Roman"/>
              </a:rPr>
              <a:t>dữ</a:t>
            </a:r>
            <a:r>
              <a:rPr sz="2000" b="0" i="0" dirty="0">
                <a:solidFill>
                  <a:srgbClr val="2B3648"/>
                </a:solidFill>
                <a:latin typeface="Times New Roman"/>
              </a:rPr>
              <a:t> </a:t>
            </a:r>
            <a:r>
              <a:rPr sz="2000" b="0" i="0" dirty="0" err="1">
                <a:solidFill>
                  <a:srgbClr val="2B3648"/>
                </a:solidFill>
                <a:latin typeface="Times New Roman"/>
              </a:rPr>
              <a:t>liệu</a:t>
            </a:r>
            <a:r>
              <a:rPr sz="2000" b="0" i="0" dirty="0">
                <a:solidFill>
                  <a:srgbClr val="2B3648"/>
                </a:solidFill>
                <a:latin typeface="Times New Roman"/>
              </a:rPr>
              <a:t> </a:t>
            </a:r>
            <a:r>
              <a:rPr sz="2000" b="0" i="0" dirty="0" err="1">
                <a:solidFill>
                  <a:srgbClr val="2B3648"/>
                </a:solidFill>
                <a:latin typeface="Times New Roman"/>
              </a:rPr>
              <a:t>bằng</a:t>
            </a:r>
            <a:r>
              <a:rPr sz="2000" b="0" i="0" dirty="0">
                <a:solidFill>
                  <a:srgbClr val="2B3648"/>
                </a:solidFill>
                <a:latin typeface="Times New Roman"/>
              </a:rPr>
              <a:t> </a:t>
            </a:r>
            <a:r>
              <a:rPr sz="2000" b="0" i="0" dirty="0" err="1">
                <a:solidFill>
                  <a:srgbClr val="2B3648"/>
                </a:solidFill>
                <a:latin typeface="Times New Roman"/>
              </a:rPr>
              <a:t>các</a:t>
            </a:r>
            <a:r>
              <a:rPr sz="2000" b="0" i="0" dirty="0">
                <a:solidFill>
                  <a:srgbClr val="2B3648"/>
                </a:solidFill>
                <a:latin typeface="Times New Roman"/>
              </a:rPr>
              <a:t> </a:t>
            </a:r>
            <a:r>
              <a:rPr sz="2000" b="0" i="0" dirty="0" err="1">
                <a:solidFill>
                  <a:srgbClr val="2B3648"/>
                </a:solidFill>
                <a:latin typeface="Times New Roman"/>
              </a:rPr>
              <a:t>triển</a:t>
            </a:r>
            <a:r>
              <a:rPr sz="2000" b="0" i="0" dirty="0">
                <a:solidFill>
                  <a:srgbClr val="2B3648"/>
                </a:solidFill>
                <a:latin typeface="Times New Roman"/>
              </a:rPr>
              <a:t> </a:t>
            </a:r>
            <a:r>
              <a:rPr sz="2000" b="0" i="0" dirty="0" err="1">
                <a:solidFill>
                  <a:srgbClr val="2B3648"/>
                </a:solidFill>
                <a:latin typeface="Times New Roman"/>
              </a:rPr>
              <a:t>khai</a:t>
            </a:r>
            <a:r>
              <a:rPr sz="2000" b="0" i="0" dirty="0">
                <a:solidFill>
                  <a:srgbClr val="2B3648"/>
                </a:solidFill>
                <a:latin typeface="Times New Roman"/>
              </a:rPr>
              <a:t> </a:t>
            </a:r>
            <a:r>
              <a:rPr sz="2000" b="0" i="0" dirty="0" err="1">
                <a:solidFill>
                  <a:srgbClr val="2B3648"/>
                </a:solidFill>
                <a:latin typeface="Times New Roman"/>
              </a:rPr>
              <a:t>khác</a:t>
            </a:r>
            <a:r>
              <a:rPr sz="2000" b="0" i="0" dirty="0">
                <a:solidFill>
                  <a:srgbClr val="2B3648"/>
                </a:solidFill>
                <a:latin typeface="Times New Roman"/>
              </a:rPr>
              <a:t> </a:t>
            </a:r>
            <a:r>
              <a:rPr sz="2000" b="0" i="0" dirty="0" err="1">
                <a:solidFill>
                  <a:srgbClr val="2B3648"/>
                </a:solidFill>
                <a:latin typeface="Times New Roman"/>
              </a:rPr>
              <a:t>nhau</a:t>
            </a:r>
            <a:r>
              <a:rPr sz="2000" b="0" i="0" dirty="0">
                <a:solidFill>
                  <a:srgbClr val="2B3648"/>
                </a:solidFill>
                <a:latin typeface="Times New Roman"/>
              </a:rPr>
              <a:t> </a:t>
            </a:r>
            <a:r>
              <a:rPr sz="2000" b="0" i="0" dirty="0" err="1">
                <a:solidFill>
                  <a:srgbClr val="2B3648"/>
                </a:solidFill>
                <a:latin typeface="Times New Roman"/>
              </a:rPr>
              <a:t>nếu</a:t>
            </a:r>
            <a:r>
              <a:rPr sz="2000" b="0" i="0" dirty="0">
                <a:solidFill>
                  <a:srgbClr val="2B3648"/>
                </a:solidFill>
                <a:latin typeface="Times New Roman"/>
              </a:rPr>
              <a:t> </a:t>
            </a:r>
            <a:r>
              <a:rPr sz="2000" b="0" i="0" dirty="0" err="1">
                <a:solidFill>
                  <a:srgbClr val="2B3648"/>
                </a:solidFill>
                <a:latin typeface="Times New Roman"/>
              </a:rPr>
              <a:t>thiết</a:t>
            </a:r>
            <a:r>
              <a:rPr sz="2000" b="0" i="0" dirty="0">
                <a:solidFill>
                  <a:srgbClr val="2B3648"/>
                </a:solidFill>
                <a:latin typeface="Times New Roman"/>
              </a:rPr>
              <a:t> </a:t>
            </a:r>
            <a:r>
              <a:rPr sz="2000" b="0" i="0" dirty="0" err="1">
                <a:solidFill>
                  <a:srgbClr val="2B3648"/>
                </a:solidFill>
                <a:latin typeface="Times New Roman"/>
              </a:rPr>
              <a:t>kế</a:t>
            </a:r>
            <a:r>
              <a:rPr sz="2000" b="0" i="0" dirty="0">
                <a:solidFill>
                  <a:srgbClr val="2B3648"/>
                </a:solidFill>
                <a:latin typeface="Times New Roman"/>
              </a:rPr>
              <a:t> qua interface.</a:t>
            </a:r>
          </a:p>
        </p:txBody>
      </p:sp>
      <p:sp>
        <p:nvSpPr>
          <p:cNvPr id="18" name="TextBox 17"/>
          <p:cNvSpPr txBox="1"/>
          <p:nvPr/>
        </p:nvSpPr>
        <p:spPr>
          <a:xfrm>
            <a:off x="822960" y="4434840"/>
            <a:ext cx="3657600" cy="320040"/>
          </a:xfrm>
          <a:prstGeom prst="rect">
            <a:avLst/>
          </a:prstGeom>
          <a:noFill/>
        </p:spPr>
        <p:txBody>
          <a:bodyPr wrap="square" lIns="54864" tIns="54864" rIns="54864" bIns="54864" anchor="t">
            <a:spAutoFit/>
          </a:bodyPr>
          <a:lstStyle/>
          <a:p>
            <a:pPr algn="l">
              <a:spcAft>
                <a:spcPts val="500"/>
              </a:spcAft>
            </a:pPr>
            <a:r>
              <a:rPr sz="1800" b="1" i="0">
                <a:solidFill>
                  <a:srgbClr val="182A4C"/>
                </a:solidFill>
                <a:latin typeface="Times New Roman"/>
              </a:rPr>
              <a:t>Ví dụ tổ chức mã nguồn C#</a:t>
            </a:r>
          </a:p>
        </p:txBody>
      </p:sp>
      <p:sp>
        <p:nvSpPr>
          <p:cNvPr id="19" name="Rounded Rectangle 18"/>
          <p:cNvSpPr/>
          <p:nvPr/>
        </p:nvSpPr>
        <p:spPr>
          <a:xfrm>
            <a:off x="822960" y="4983480"/>
            <a:ext cx="2240280" cy="777240"/>
          </a:xfrm>
          <a:prstGeom prst="roundRect">
            <a:avLst/>
          </a:prstGeom>
          <a:solidFill>
            <a:srgbClr val="FFFFFF"/>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5230368"/>
            <a:ext cx="2103120" cy="256032"/>
          </a:xfrm>
          <a:prstGeom prst="rect">
            <a:avLst/>
          </a:prstGeom>
          <a:noFill/>
        </p:spPr>
        <p:txBody>
          <a:bodyPr wrap="square" lIns="54864" tIns="54864" rIns="54864" bIns="54864" anchor="t">
            <a:spAutoFit/>
          </a:bodyPr>
          <a:lstStyle/>
          <a:p>
            <a:pPr algn="ctr">
              <a:spcAft>
                <a:spcPts val="500"/>
              </a:spcAft>
            </a:pPr>
            <a:r>
              <a:rPr sz="1400" b="1" i="0">
                <a:solidFill>
                  <a:srgbClr val="182A4C"/>
                </a:solidFill>
                <a:latin typeface="Times New Roman"/>
              </a:rPr>
              <a:t>Presentation</a:t>
            </a:r>
          </a:p>
        </p:txBody>
      </p:sp>
      <p:sp>
        <p:nvSpPr>
          <p:cNvPr id="21" name="Rounded Rectangle 20"/>
          <p:cNvSpPr/>
          <p:nvPr/>
        </p:nvSpPr>
        <p:spPr>
          <a:xfrm>
            <a:off x="3611879" y="4983480"/>
            <a:ext cx="2240280" cy="777240"/>
          </a:xfrm>
          <a:prstGeom prst="roundRect">
            <a:avLst/>
          </a:prstGeom>
          <a:solidFill>
            <a:srgbClr val="FFFFFF"/>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85031" y="5230368"/>
            <a:ext cx="2103120" cy="256032"/>
          </a:xfrm>
          <a:prstGeom prst="rect">
            <a:avLst/>
          </a:prstGeom>
          <a:noFill/>
        </p:spPr>
        <p:txBody>
          <a:bodyPr wrap="square" lIns="54864" tIns="54864" rIns="54864" bIns="54864" anchor="t">
            <a:spAutoFit/>
          </a:bodyPr>
          <a:lstStyle/>
          <a:p>
            <a:pPr algn="ctr">
              <a:spcAft>
                <a:spcPts val="500"/>
              </a:spcAft>
            </a:pPr>
            <a:r>
              <a:rPr sz="1400" b="1" i="0">
                <a:solidFill>
                  <a:srgbClr val="182A4C"/>
                </a:solidFill>
                <a:latin typeface="Times New Roman"/>
              </a:rPr>
              <a:t>Business</a:t>
            </a:r>
          </a:p>
        </p:txBody>
      </p:sp>
      <p:sp>
        <p:nvSpPr>
          <p:cNvPr id="23" name="Rounded Rectangle 22"/>
          <p:cNvSpPr/>
          <p:nvPr/>
        </p:nvSpPr>
        <p:spPr>
          <a:xfrm>
            <a:off x="6400800" y="4983480"/>
            <a:ext cx="2240280" cy="777240"/>
          </a:xfrm>
          <a:prstGeom prst="roundRect">
            <a:avLst/>
          </a:prstGeom>
          <a:solidFill>
            <a:srgbClr val="FFFFFF"/>
          </a:solidFill>
          <a:ln>
            <a:solidFill>
              <a:srgbClr val="7E5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73952" y="5230368"/>
            <a:ext cx="2103120" cy="256032"/>
          </a:xfrm>
          <a:prstGeom prst="rect">
            <a:avLst/>
          </a:prstGeom>
          <a:noFill/>
        </p:spPr>
        <p:txBody>
          <a:bodyPr wrap="square" lIns="54864" tIns="54864" rIns="54864" bIns="54864" anchor="t">
            <a:spAutoFit/>
          </a:bodyPr>
          <a:lstStyle/>
          <a:p>
            <a:pPr algn="ctr">
              <a:spcAft>
                <a:spcPts val="500"/>
              </a:spcAft>
            </a:pPr>
            <a:r>
              <a:rPr sz="1400" b="1" i="0">
                <a:solidFill>
                  <a:srgbClr val="182A4C"/>
                </a:solidFill>
                <a:latin typeface="Times New Roman"/>
              </a:rPr>
              <a:t>DataAccess</a:t>
            </a:r>
          </a:p>
        </p:txBody>
      </p:sp>
      <p:sp>
        <p:nvSpPr>
          <p:cNvPr id="25" name="Rounded Rectangle 24"/>
          <p:cNvSpPr/>
          <p:nvPr/>
        </p:nvSpPr>
        <p:spPr>
          <a:xfrm>
            <a:off x="9189719" y="4983480"/>
            <a:ext cx="2240280" cy="777240"/>
          </a:xfrm>
          <a:prstGeom prst="roundRect">
            <a:avLst/>
          </a:prstGeom>
          <a:solidFill>
            <a:srgbClr val="FFFFFF"/>
          </a:solidFill>
          <a:ln>
            <a:solidFill>
              <a:srgbClr val="F2B1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62872" y="5230368"/>
            <a:ext cx="2103120" cy="256032"/>
          </a:xfrm>
          <a:prstGeom prst="rect">
            <a:avLst/>
          </a:prstGeom>
          <a:noFill/>
        </p:spPr>
        <p:txBody>
          <a:bodyPr wrap="square" lIns="54864" tIns="54864" rIns="54864" bIns="54864" anchor="t">
            <a:spAutoFit/>
          </a:bodyPr>
          <a:lstStyle/>
          <a:p>
            <a:pPr algn="ctr">
              <a:spcAft>
                <a:spcPts val="500"/>
              </a:spcAft>
            </a:pPr>
            <a:r>
              <a:rPr sz="1400" b="1" i="0">
                <a:solidFill>
                  <a:srgbClr val="182A4C"/>
                </a:solidFill>
                <a:latin typeface="Times New Roman"/>
              </a:rPr>
              <a:t>Models</a:t>
            </a:r>
          </a:p>
        </p:txBody>
      </p:sp>
      <p:sp>
        <p:nvSpPr>
          <p:cNvPr id="27" name="TextBox 26"/>
          <p:cNvSpPr txBox="1"/>
          <p:nvPr/>
        </p:nvSpPr>
        <p:spPr>
          <a:xfrm>
            <a:off x="914400" y="5989320"/>
            <a:ext cx="10058400" cy="274320"/>
          </a:xfrm>
          <a:prstGeom prst="rect">
            <a:avLst/>
          </a:prstGeom>
          <a:noFill/>
        </p:spPr>
        <p:txBody>
          <a:bodyPr wrap="square" lIns="54864" tIns="54864" rIns="54864" bIns="54864" anchor="t">
            <a:spAutoFit/>
          </a:bodyPr>
          <a:lstStyle/>
          <a:p>
            <a:pPr algn="ctr">
              <a:spcAft>
                <a:spcPts val="500"/>
              </a:spcAft>
            </a:pPr>
            <a:r>
              <a:rPr sz="1300" b="0" i="1">
                <a:solidFill>
                  <a:srgbClr val="667387"/>
                </a:solidFill>
                <a:latin typeface="Times New Roman"/>
              </a:rPr>
              <a:t>Mỗi lớp có thể gồm nhiều class; không đồng nghĩa một layer chỉ có một class.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66928"/>
          </a:xfrm>
          <a:prstGeom prst="rect">
            <a:avLst/>
          </a:prstGeom>
          <a:noFill/>
        </p:spPr>
        <p:txBody>
          <a:bodyPr wrap="square" lIns="54864" tIns="54864" rIns="54864" bIns="54864" anchor="t">
            <a:spAutoFit/>
          </a:bodyPr>
          <a:lstStyle/>
          <a:p>
            <a:pPr algn="l">
              <a:spcAft>
                <a:spcPts val="500"/>
              </a:spcAft>
            </a:pPr>
            <a:r>
              <a:rPr sz="2700" b="1" i="0">
                <a:solidFill>
                  <a:srgbClr val="182A4C"/>
                </a:solidFill>
                <a:latin typeface="Times New Roman"/>
              </a:rPr>
              <a:t>Ưu điểm, hạn chế và nguyên tắc thiết kế</a:t>
            </a:r>
          </a:p>
        </p:txBody>
      </p:sp>
      <p:sp>
        <p:nvSpPr>
          <p:cNvPr id="3" name="Rectangle 2"/>
          <p:cNvSpPr/>
          <p:nvPr/>
        </p:nvSpPr>
        <p:spPr>
          <a:xfrm>
            <a:off x="612648" y="969264"/>
            <a:ext cx="822960" cy="50292"/>
          </a:xfrm>
          <a:prstGeom prst="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78992"/>
            <a:ext cx="10881360" cy="384048"/>
          </a:xfrm>
          <a:prstGeom prst="rect">
            <a:avLst/>
          </a:prstGeom>
          <a:noFill/>
        </p:spPr>
        <p:txBody>
          <a:bodyPr wrap="square" lIns="54864" tIns="54864" rIns="54864" bIns="54864" anchor="t">
            <a:spAutoFit/>
          </a:bodyPr>
          <a:lstStyle/>
          <a:p>
            <a:pPr algn="l">
              <a:spcAft>
                <a:spcPts val="500"/>
              </a:spcAft>
            </a:pPr>
            <a:r>
              <a:rPr sz="1300" b="0" i="0">
                <a:solidFill>
                  <a:srgbClr val="667387"/>
                </a:solidFill>
                <a:latin typeface="Times New Roman"/>
              </a:rPr>
              <a:t>Kiến trúc tốt không chỉ là chia thư mục, mà còn là giữ đúng ranh giới trách nhiệm.</a:t>
            </a:r>
          </a:p>
        </p:txBody>
      </p:sp>
      <p:sp>
        <p:nvSpPr>
          <p:cNvPr id="5" name="TextBox 4"/>
          <p:cNvSpPr txBox="1"/>
          <p:nvPr/>
        </p:nvSpPr>
        <p:spPr>
          <a:xfrm>
            <a:off x="10744200" y="6473952"/>
            <a:ext cx="914400" cy="182880"/>
          </a:xfrm>
          <a:prstGeom prst="rect">
            <a:avLst/>
          </a:prstGeom>
          <a:noFill/>
        </p:spPr>
        <p:txBody>
          <a:bodyPr wrap="square" lIns="54864" tIns="54864" rIns="54864" bIns="54864" anchor="t">
            <a:spAutoFit/>
          </a:bodyPr>
          <a:lstStyle/>
          <a:p>
            <a:pPr algn="r">
              <a:spcAft>
                <a:spcPts val="500"/>
              </a:spcAft>
            </a:pPr>
            <a:r>
              <a:rPr sz="900" b="0" i="0">
                <a:solidFill>
                  <a:srgbClr val="667387"/>
                </a:solidFill>
                <a:latin typeface="Times New Roman"/>
              </a:rPr>
              <a:t>12  /  13</a:t>
            </a:r>
          </a:p>
        </p:txBody>
      </p:sp>
      <p:sp>
        <p:nvSpPr>
          <p:cNvPr id="6" name="Rounded Rectangle 5"/>
          <p:cNvSpPr/>
          <p:nvPr/>
        </p:nvSpPr>
        <p:spPr>
          <a:xfrm>
            <a:off x="685800" y="1691640"/>
            <a:ext cx="5303520" cy="1965960"/>
          </a:xfrm>
          <a:prstGeom prst="roundRect">
            <a:avLst/>
          </a:prstGeom>
          <a:solidFill>
            <a:srgbClr val="E0F5F2"/>
          </a:solidFill>
          <a:ln>
            <a:solidFill>
              <a:srgbClr val="E0F5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691640"/>
            <a:ext cx="82296" cy="1965960"/>
          </a:xfrm>
          <a:prstGeom prst="rect">
            <a:avLst/>
          </a:prstGeom>
          <a:solidFill>
            <a:srgbClr val="359162"/>
          </a:solidFill>
          <a:ln>
            <a:solidFill>
              <a:srgbClr val="3591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837944"/>
            <a:ext cx="4937759" cy="329184"/>
          </a:xfrm>
          <a:prstGeom prst="rect">
            <a:avLst/>
          </a:prstGeom>
          <a:noFill/>
        </p:spPr>
        <p:txBody>
          <a:bodyPr wrap="square" lIns="54864" tIns="54864" rIns="54864" bIns="54864" anchor="t">
            <a:spAutoFit/>
          </a:bodyPr>
          <a:lstStyle/>
          <a:p>
            <a:pPr algn="l">
              <a:spcAft>
                <a:spcPts val="500"/>
              </a:spcAft>
            </a:pPr>
            <a:r>
              <a:rPr sz="1700" b="1" i="0">
                <a:solidFill>
                  <a:srgbClr val="182A4C"/>
                </a:solidFill>
                <a:latin typeface="Times New Roman"/>
              </a:rPr>
              <a:t>Ưu điểm</a:t>
            </a:r>
          </a:p>
        </p:txBody>
      </p:sp>
      <p:sp>
        <p:nvSpPr>
          <p:cNvPr id="9" name="TextBox 8"/>
          <p:cNvSpPr txBox="1"/>
          <p:nvPr/>
        </p:nvSpPr>
        <p:spPr>
          <a:xfrm>
            <a:off x="886968" y="2249424"/>
            <a:ext cx="4937759" cy="1534266"/>
          </a:xfrm>
          <a:prstGeom prst="rect">
            <a:avLst/>
          </a:prstGeom>
          <a:noFill/>
        </p:spPr>
        <p:txBody>
          <a:bodyPr wrap="square" lIns="54864" tIns="54864" rIns="54864" bIns="54864" anchor="t">
            <a:spAutoFit/>
          </a:bodyPr>
          <a:lstStyle/>
          <a:p>
            <a:pPr algn="l">
              <a:spcAft>
                <a:spcPts val="500"/>
              </a:spcAft>
            </a:pPr>
            <a:r>
              <a:rPr sz="1600" b="0" i="0" dirty="0">
                <a:solidFill>
                  <a:srgbClr val="2B3648"/>
                </a:solidFill>
                <a:latin typeface="Times New Roman"/>
              </a:rPr>
              <a:t>✓ </a:t>
            </a:r>
            <a:r>
              <a:rPr sz="1600" b="0" i="0" dirty="0" err="1">
                <a:solidFill>
                  <a:srgbClr val="2B3648"/>
                </a:solidFill>
                <a:latin typeface="Times New Roman"/>
              </a:rPr>
              <a:t>Dễ</a:t>
            </a:r>
            <a:r>
              <a:rPr sz="1600" b="0" i="0" dirty="0">
                <a:solidFill>
                  <a:srgbClr val="2B3648"/>
                </a:solidFill>
                <a:latin typeface="Times New Roman"/>
              </a:rPr>
              <a:t> </a:t>
            </a:r>
            <a:r>
              <a:rPr sz="1600" b="0" i="0" dirty="0" err="1">
                <a:solidFill>
                  <a:srgbClr val="2B3648"/>
                </a:solidFill>
                <a:latin typeface="Times New Roman"/>
              </a:rPr>
              <a:t>bảo</a:t>
            </a:r>
            <a:r>
              <a:rPr sz="1600" b="0" i="0" dirty="0">
                <a:solidFill>
                  <a:srgbClr val="2B3648"/>
                </a:solidFill>
                <a:latin typeface="Times New Roman"/>
              </a:rPr>
              <a:t> </a:t>
            </a:r>
            <a:r>
              <a:rPr sz="1600" b="0" i="0" dirty="0" err="1">
                <a:solidFill>
                  <a:srgbClr val="2B3648"/>
                </a:solidFill>
                <a:latin typeface="Times New Roman"/>
              </a:rPr>
              <a:t>trì</a:t>
            </a:r>
            <a:r>
              <a:rPr sz="1600" b="0" i="0" dirty="0">
                <a:solidFill>
                  <a:srgbClr val="2B3648"/>
                </a:solidFill>
                <a:latin typeface="Times New Roman"/>
              </a:rPr>
              <a:t> </a:t>
            </a:r>
            <a:r>
              <a:rPr sz="1600" b="0" i="0" dirty="0" err="1">
                <a:solidFill>
                  <a:srgbClr val="2B3648"/>
                </a:solidFill>
                <a:latin typeface="Times New Roman"/>
              </a:rPr>
              <a:t>và</a:t>
            </a:r>
            <a:r>
              <a:rPr sz="1600" b="0" i="0" dirty="0">
                <a:solidFill>
                  <a:srgbClr val="2B3648"/>
                </a:solidFill>
                <a:latin typeface="Times New Roman"/>
              </a:rPr>
              <a:t> </a:t>
            </a:r>
            <a:r>
              <a:rPr sz="1600" b="0" i="0" dirty="0" err="1">
                <a:solidFill>
                  <a:srgbClr val="2B3648"/>
                </a:solidFill>
                <a:latin typeface="Times New Roman"/>
              </a:rPr>
              <a:t>kiểm</a:t>
            </a:r>
            <a:r>
              <a:rPr sz="1600" b="0" i="0" dirty="0">
                <a:solidFill>
                  <a:srgbClr val="2B3648"/>
                </a:solidFill>
                <a:latin typeface="Times New Roman"/>
              </a:rPr>
              <a:t> </a:t>
            </a:r>
            <a:r>
              <a:rPr sz="1600" b="0" i="0" dirty="0" err="1">
                <a:solidFill>
                  <a:srgbClr val="2B3648"/>
                </a:solidFill>
                <a:latin typeface="Times New Roman"/>
              </a:rPr>
              <a:t>thử</a:t>
            </a:r>
            <a:endParaRPr sz="1600" b="0" i="0" dirty="0">
              <a:solidFill>
                <a:srgbClr val="2B3648"/>
              </a:solidFill>
              <a:latin typeface="Times New Roman"/>
            </a:endParaRPr>
          </a:p>
          <a:p>
            <a:pPr algn="l">
              <a:spcAft>
                <a:spcPts val="500"/>
              </a:spcAft>
            </a:pPr>
            <a:r>
              <a:rPr sz="1600" b="0" i="0" dirty="0">
                <a:solidFill>
                  <a:srgbClr val="2B3648"/>
                </a:solidFill>
                <a:latin typeface="Times New Roman"/>
              </a:rPr>
              <a:t>✓ </a:t>
            </a:r>
            <a:r>
              <a:rPr sz="1600" b="0" i="0" dirty="0" err="1">
                <a:solidFill>
                  <a:srgbClr val="2B3648"/>
                </a:solidFill>
                <a:latin typeface="Times New Roman"/>
              </a:rPr>
              <a:t>Tái</a:t>
            </a:r>
            <a:r>
              <a:rPr sz="1600" b="0" i="0" dirty="0">
                <a:solidFill>
                  <a:srgbClr val="2B3648"/>
                </a:solidFill>
                <a:latin typeface="Times New Roman"/>
              </a:rPr>
              <a:t> </a:t>
            </a:r>
            <a:r>
              <a:rPr sz="1600" b="0" i="0" dirty="0" err="1">
                <a:solidFill>
                  <a:srgbClr val="2B3648"/>
                </a:solidFill>
                <a:latin typeface="Times New Roman"/>
              </a:rPr>
              <a:t>sử</a:t>
            </a:r>
            <a:r>
              <a:rPr sz="1600" b="0" i="0" dirty="0">
                <a:solidFill>
                  <a:srgbClr val="2B3648"/>
                </a:solidFill>
                <a:latin typeface="Times New Roman"/>
              </a:rPr>
              <a:t> </a:t>
            </a:r>
            <a:r>
              <a:rPr sz="1600" b="0" i="0" dirty="0" err="1">
                <a:solidFill>
                  <a:srgbClr val="2B3648"/>
                </a:solidFill>
                <a:latin typeface="Times New Roman"/>
              </a:rPr>
              <a:t>dụng</a:t>
            </a:r>
            <a:r>
              <a:rPr sz="1600" b="0" i="0" dirty="0">
                <a:solidFill>
                  <a:srgbClr val="2B3648"/>
                </a:solidFill>
                <a:latin typeface="Times New Roman"/>
              </a:rPr>
              <a:t> </a:t>
            </a:r>
            <a:r>
              <a:rPr sz="1600" b="0" i="0" dirty="0" err="1">
                <a:solidFill>
                  <a:srgbClr val="2B3648"/>
                </a:solidFill>
                <a:latin typeface="Times New Roman"/>
              </a:rPr>
              <a:t>nghiệp</a:t>
            </a:r>
            <a:r>
              <a:rPr sz="1600" b="0" i="0" dirty="0">
                <a:solidFill>
                  <a:srgbClr val="2B3648"/>
                </a:solidFill>
                <a:latin typeface="Times New Roman"/>
              </a:rPr>
              <a:t> </a:t>
            </a:r>
            <a:r>
              <a:rPr sz="1600" b="0" i="0" dirty="0" err="1">
                <a:solidFill>
                  <a:srgbClr val="2B3648"/>
                </a:solidFill>
                <a:latin typeface="Times New Roman"/>
              </a:rPr>
              <a:t>vụ</a:t>
            </a:r>
            <a:endParaRPr sz="1600" b="0" i="0" dirty="0">
              <a:solidFill>
                <a:srgbClr val="2B3648"/>
              </a:solidFill>
              <a:latin typeface="Times New Roman"/>
            </a:endParaRPr>
          </a:p>
          <a:p>
            <a:pPr algn="l">
              <a:spcAft>
                <a:spcPts val="500"/>
              </a:spcAft>
            </a:pPr>
            <a:r>
              <a:rPr sz="1600" b="0" i="0" dirty="0">
                <a:solidFill>
                  <a:srgbClr val="2B3648"/>
                </a:solidFill>
                <a:latin typeface="Times New Roman"/>
              </a:rPr>
              <a:t>✓ </a:t>
            </a:r>
            <a:r>
              <a:rPr sz="1600" b="0" i="0" dirty="0" err="1">
                <a:solidFill>
                  <a:srgbClr val="2B3648"/>
                </a:solidFill>
                <a:latin typeface="Times New Roman"/>
              </a:rPr>
              <a:t>Hỗ</a:t>
            </a:r>
            <a:r>
              <a:rPr sz="1600" b="0" i="0" dirty="0">
                <a:solidFill>
                  <a:srgbClr val="2B3648"/>
                </a:solidFill>
                <a:latin typeface="Times New Roman"/>
              </a:rPr>
              <a:t> </a:t>
            </a:r>
            <a:r>
              <a:rPr sz="1600" b="0" i="0" dirty="0" err="1">
                <a:solidFill>
                  <a:srgbClr val="2B3648"/>
                </a:solidFill>
                <a:latin typeface="Times New Roman"/>
              </a:rPr>
              <a:t>trợ</a:t>
            </a:r>
            <a:r>
              <a:rPr sz="1600" b="0" i="0" dirty="0">
                <a:solidFill>
                  <a:srgbClr val="2B3648"/>
                </a:solidFill>
                <a:latin typeface="Times New Roman"/>
              </a:rPr>
              <a:t> </a:t>
            </a:r>
            <a:r>
              <a:rPr sz="1600" b="0" i="0" dirty="0" err="1">
                <a:solidFill>
                  <a:srgbClr val="2B3648"/>
                </a:solidFill>
                <a:latin typeface="Times New Roman"/>
              </a:rPr>
              <a:t>làm</a:t>
            </a:r>
            <a:r>
              <a:rPr sz="1600" b="0" i="0" dirty="0">
                <a:solidFill>
                  <a:srgbClr val="2B3648"/>
                </a:solidFill>
                <a:latin typeface="Times New Roman"/>
              </a:rPr>
              <a:t> </a:t>
            </a:r>
            <a:r>
              <a:rPr sz="1600" b="0" i="0" dirty="0" err="1">
                <a:solidFill>
                  <a:srgbClr val="2B3648"/>
                </a:solidFill>
                <a:latin typeface="Times New Roman"/>
              </a:rPr>
              <a:t>việc</a:t>
            </a:r>
            <a:r>
              <a:rPr sz="1600" b="0" i="0" dirty="0">
                <a:solidFill>
                  <a:srgbClr val="2B3648"/>
                </a:solidFill>
                <a:latin typeface="Times New Roman"/>
              </a:rPr>
              <a:t> </a:t>
            </a:r>
            <a:r>
              <a:rPr sz="1600" b="0" i="0" dirty="0" err="1">
                <a:solidFill>
                  <a:srgbClr val="2B3648"/>
                </a:solidFill>
                <a:latin typeface="Times New Roman"/>
              </a:rPr>
              <a:t>nhóm</a:t>
            </a:r>
            <a:endParaRPr sz="1600" b="0" i="0" dirty="0">
              <a:solidFill>
                <a:srgbClr val="2B3648"/>
              </a:solidFill>
              <a:latin typeface="Times New Roman"/>
            </a:endParaRPr>
          </a:p>
          <a:p>
            <a:pPr algn="l">
              <a:spcAft>
                <a:spcPts val="500"/>
              </a:spcAft>
            </a:pPr>
            <a:r>
              <a:rPr sz="1600" b="0" i="0" dirty="0">
                <a:solidFill>
                  <a:srgbClr val="2B3648"/>
                </a:solidFill>
                <a:latin typeface="Times New Roman"/>
              </a:rPr>
              <a:t>✓ </a:t>
            </a:r>
            <a:r>
              <a:rPr sz="1600" b="0" i="0" dirty="0" err="1">
                <a:solidFill>
                  <a:srgbClr val="2B3648"/>
                </a:solidFill>
                <a:latin typeface="Times New Roman"/>
              </a:rPr>
              <a:t>Có</a:t>
            </a:r>
            <a:r>
              <a:rPr sz="1600" b="0" i="0" dirty="0">
                <a:solidFill>
                  <a:srgbClr val="2B3648"/>
                </a:solidFill>
                <a:latin typeface="Times New Roman"/>
              </a:rPr>
              <a:t> </a:t>
            </a:r>
            <a:r>
              <a:rPr sz="1600" b="0" i="0" dirty="0" err="1">
                <a:solidFill>
                  <a:srgbClr val="2B3648"/>
                </a:solidFill>
                <a:latin typeface="Times New Roman"/>
              </a:rPr>
              <a:t>thể</a:t>
            </a:r>
            <a:r>
              <a:rPr sz="1600" b="0" i="0" dirty="0">
                <a:solidFill>
                  <a:srgbClr val="2B3648"/>
                </a:solidFill>
                <a:latin typeface="Times New Roman"/>
              </a:rPr>
              <a:t> </a:t>
            </a:r>
            <a:r>
              <a:rPr sz="1600" b="0" i="0" dirty="0" err="1">
                <a:solidFill>
                  <a:srgbClr val="2B3648"/>
                </a:solidFill>
                <a:latin typeface="Times New Roman"/>
              </a:rPr>
              <a:t>thay</a:t>
            </a:r>
            <a:r>
              <a:rPr sz="1600" b="0" i="0" dirty="0">
                <a:solidFill>
                  <a:srgbClr val="2B3648"/>
                </a:solidFill>
                <a:latin typeface="Times New Roman"/>
              </a:rPr>
              <a:t> </a:t>
            </a:r>
            <a:r>
              <a:rPr sz="1600" b="0" i="0" dirty="0" err="1">
                <a:solidFill>
                  <a:srgbClr val="2B3648"/>
                </a:solidFill>
                <a:latin typeface="Times New Roman"/>
              </a:rPr>
              <a:t>đổi</a:t>
            </a:r>
            <a:r>
              <a:rPr sz="1600" b="0" i="0" dirty="0">
                <a:solidFill>
                  <a:srgbClr val="2B3648"/>
                </a:solidFill>
                <a:latin typeface="Times New Roman"/>
              </a:rPr>
              <a:t> </a:t>
            </a:r>
            <a:r>
              <a:rPr sz="1600" b="0" i="0" dirty="0" err="1">
                <a:solidFill>
                  <a:srgbClr val="2B3648"/>
                </a:solidFill>
                <a:latin typeface="Times New Roman"/>
              </a:rPr>
              <a:t>giao</a:t>
            </a:r>
            <a:r>
              <a:rPr sz="1600" b="0" i="0" dirty="0">
                <a:solidFill>
                  <a:srgbClr val="2B3648"/>
                </a:solidFill>
                <a:latin typeface="Times New Roman"/>
              </a:rPr>
              <a:t> </a:t>
            </a:r>
            <a:r>
              <a:rPr sz="1600" b="0" i="0" dirty="0" err="1">
                <a:solidFill>
                  <a:srgbClr val="2B3648"/>
                </a:solidFill>
                <a:latin typeface="Times New Roman"/>
              </a:rPr>
              <a:t>diện</a:t>
            </a:r>
            <a:r>
              <a:rPr sz="1600" b="0" i="0" dirty="0">
                <a:solidFill>
                  <a:srgbClr val="2B3648"/>
                </a:solidFill>
                <a:latin typeface="Times New Roman"/>
              </a:rPr>
              <a:t> </a:t>
            </a:r>
            <a:r>
              <a:rPr sz="1600" b="0" i="0" dirty="0" err="1">
                <a:solidFill>
                  <a:srgbClr val="2B3648"/>
                </a:solidFill>
                <a:latin typeface="Times New Roman"/>
              </a:rPr>
              <a:t>hoặc</a:t>
            </a:r>
            <a:r>
              <a:rPr sz="1600" b="0" i="0" dirty="0">
                <a:solidFill>
                  <a:srgbClr val="2B3648"/>
                </a:solidFill>
                <a:latin typeface="Times New Roman"/>
              </a:rPr>
              <a:t> </a:t>
            </a:r>
            <a:r>
              <a:rPr sz="1600" b="0" i="0" dirty="0" err="1">
                <a:solidFill>
                  <a:srgbClr val="2B3648"/>
                </a:solidFill>
                <a:latin typeface="Times New Roman"/>
              </a:rPr>
              <a:t>nguồn</a:t>
            </a:r>
            <a:r>
              <a:rPr sz="1600" b="0" i="0" dirty="0">
                <a:solidFill>
                  <a:srgbClr val="2B3648"/>
                </a:solidFill>
                <a:latin typeface="Times New Roman"/>
              </a:rPr>
              <a:t> </a:t>
            </a:r>
            <a:r>
              <a:rPr sz="1600" b="0" i="0" dirty="0" err="1">
                <a:solidFill>
                  <a:srgbClr val="2B3648"/>
                </a:solidFill>
                <a:latin typeface="Times New Roman"/>
              </a:rPr>
              <a:t>dữ</a:t>
            </a:r>
            <a:r>
              <a:rPr sz="1600" b="0" i="0" dirty="0">
                <a:solidFill>
                  <a:srgbClr val="2B3648"/>
                </a:solidFill>
                <a:latin typeface="Times New Roman"/>
              </a:rPr>
              <a:t> </a:t>
            </a:r>
            <a:r>
              <a:rPr sz="1600" b="0" i="0" dirty="0" err="1">
                <a:solidFill>
                  <a:srgbClr val="2B3648"/>
                </a:solidFill>
                <a:latin typeface="Times New Roman"/>
              </a:rPr>
              <a:t>liệu</a:t>
            </a:r>
            <a:r>
              <a:rPr sz="1600" b="0" i="0" dirty="0">
                <a:solidFill>
                  <a:srgbClr val="2B3648"/>
                </a:solidFill>
                <a:latin typeface="Times New Roman"/>
              </a:rPr>
              <a:t> </a:t>
            </a:r>
            <a:r>
              <a:rPr sz="1600" b="0" i="0" dirty="0" err="1">
                <a:solidFill>
                  <a:srgbClr val="2B3648"/>
                </a:solidFill>
                <a:latin typeface="Times New Roman"/>
              </a:rPr>
              <a:t>độc</a:t>
            </a:r>
            <a:r>
              <a:rPr sz="1600" b="0" i="0" dirty="0">
                <a:solidFill>
                  <a:srgbClr val="2B3648"/>
                </a:solidFill>
                <a:latin typeface="Times New Roman"/>
              </a:rPr>
              <a:t> </a:t>
            </a:r>
            <a:r>
              <a:rPr sz="1600" b="0" i="0" dirty="0" err="1">
                <a:solidFill>
                  <a:srgbClr val="2B3648"/>
                </a:solidFill>
                <a:latin typeface="Times New Roman"/>
              </a:rPr>
              <a:t>lập</a:t>
            </a:r>
            <a:r>
              <a:rPr sz="1600" b="0" i="0" dirty="0">
                <a:solidFill>
                  <a:srgbClr val="2B3648"/>
                </a:solidFill>
                <a:latin typeface="Times New Roman"/>
              </a:rPr>
              <a:t> </a:t>
            </a:r>
            <a:r>
              <a:rPr sz="1600" b="0" i="0" dirty="0" err="1">
                <a:solidFill>
                  <a:srgbClr val="2B3648"/>
                </a:solidFill>
                <a:latin typeface="Times New Roman"/>
              </a:rPr>
              <a:t>hơn</a:t>
            </a:r>
            <a:endParaRPr sz="1600" b="0" i="0" dirty="0">
              <a:solidFill>
                <a:srgbClr val="2B3648"/>
              </a:solidFill>
              <a:latin typeface="Times New Roman"/>
            </a:endParaRPr>
          </a:p>
        </p:txBody>
      </p:sp>
      <p:sp>
        <p:nvSpPr>
          <p:cNvPr id="10" name="Rounded Rectangle 9"/>
          <p:cNvSpPr/>
          <p:nvPr/>
        </p:nvSpPr>
        <p:spPr>
          <a:xfrm>
            <a:off x="6217920" y="1691640"/>
            <a:ext cx="5303520" cy="1965960"/>
          </a:xfrm>
          <a:prstGeom prst="roundRect">
            <a:avLst/>
          </a:prstGeom>
          <a:solidFill>
            <a:srgbClr val="FDEBEB"/>
          </a:solidFill>
          <a:ln>
            <a:solidFill>
              <a:srgbClr val="FD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691640"/>
            <a:ext cx="82296" cy="1965960"/>
          </a:xfrm>
          <a:prstGeom prst="rect">
            <a:avLst/>
          </a:prstGeom>
          <a:solidFill>
            <a:srgbClr val="D45353"/>
          </a:solidFill>
          <a:ln>
            <a:solidFill>
              <a:srgbClr val="D453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9088" y="1837944"/>
            <a:ext cx="4937759" cy="329184"/>
          </a:xfrm>
          <a:prstGeom prst="rect">
            <a:avLst/>
          </a:prstGeom>
          <a:noFill/>
        </p:spPr>
        <p:txBody>
          <a:bodyPr wrap="square" lIns="54864" tIns="54864" rIns="54864" bIns="54864" anchor="t">
            <a:spAutoFit/>
          </a:bodyPr>
          <a:lstStyle/>
          <a:p>
            <a:pPr algn="l">
              <a:spcAft>
                <a:spcPts val="500"/>
              </a:spcAft>
            </a:pPr>
            <a:r>
              <a:rPr sz="1700" b="1" i="0">
                <a:solidFill>
                  <a:srgbClr val="182A4C"/>
                </a:solidFill>
                <a:latin typeface="Times New Roman"/>
              </a:rPr>
              <a:t>Hạn chế</a:t>
            </a:r>
          </a:p>
        </p:txBody>
      </p:sp>
      <p:sp>
        <p:nvSpPr>
          <p:cNvPr id="13" name="TextBox 12"/>
          <p:cNvSpPr txBox="1"/>
          <p:nvPr/>
        </p:nvSpPr>
        <p:spPr>
          <a:xfrm>
            <a:off x="6419088" y="2249424"/>
            <a:ext cx="4937759" cy="1411156"/>
          </a:xfrm>
          <a:prstGeom prst="rect">
            <a:avLst/>
          </a:prstGeom>
          <a:noFill/>
        </p:spPr>
        <p:txBody>
          <a:bodyPr wrap="square" lIns="54864" tIns="54864" rIns="54864" bIns="54864" anchor="t">
            <a:spAutoFit/>
          </a:bodyPr>
          <a:lstStyle/>
          <a:p>
            <a:pPr algn="l">
              <a:spcAft>
                <a:spcPts val="500"/>
              </a:spcAft>
            </a:pPr>
            <a:r>
              <a:rPr b="0" i="0" dirty="0">
                <a:solidFill>
                  <a:srgbClr val="2B3648"/>
                </a:solidFill>
                <a:latin typeface="Times New Roman"/>
              </a:rPr>
              <a:t>! </a:t>
            </a:r>
            <a:r>
              <a:rPr b="0" i="0" dirty="0" err="1">
                <a:solidFill>
                  <a:srgbClr val="2B3648"/>
                </a:solidFill>
                <a:latin typeface="Times New Roman"/>
              </a:rPr>
              <a:t>Tăng</a:t>
            </a:r>
            <a:r>
              <a:rPr b="0" i="0" dirty="0">
                <a:solidFill>
                  <a:srgbClr val="2B3648"/>
                </a:solidFill>
                <a:latin typeface="Times New Roman"/>
              </a:rPr>
              <a:t> </a:t>
            </a:r>
            <a:r>
              <a:rPr b="0" i="0" dirty="0" err="1">
                <a:solidFill>
                  <a:srgbClr val="2B3648"/>
                </a:solidFill>
                <a:latin typeface="Times New Roman"/>
              </a:rPr>
              <a:t>số</a:t>
            </a:r>
            <a:r>
              <a:rPr b="0" i="0" dirty="0">
                <a:solidFill>
                  <a:srgbClr val="2B3648"/>
                </a:solidFill>
                <a:latin typeface="Times New Roman"/>
              </a:rPr>
              <a:t> </a:t>
            </a:r>
            <a:r>
              <a:rPr b="0" i="0" dirty="0" err="1">
                <a:solidFill>
                  <a:srgbClr val="2B3648"/>
                </a:solidFill>
                <a:latin typeface="Times New Roman"/>
              </a:rPr>
              <a:t>lớp</a:t>
            </a:r>
            <a:r>
              <a:rPr b="0" i="0" dirty="0">
                <a:solidFill>
                  <a:srgbClr val="2B3648"/>
                </a:solidFill>
                <a:latin typeface="Times New Roman"/>
              </a:rPr>
              <a:t>, file </a:t>
            </a:r>
            <a:r>
              <a:rPr b="0" i="0" dirty="0" err="1">
                <a:solidFill>
                  <a:srgbClr val="2B3648"/>
                </a:solidFill>
                <a:latin typeface="Times New Roman"/>
              </a:rPr>
              <a:t>và</a:t>
            </a:r>
            <a:r>
              <a:rPr b="0" i="0" dirty="0">
                <a:solidFill>
                  <a:srgbClr val="2B3648"/>
                </a:solidFill>
                <a:latin typeface="Times New Roman"/>
              </a:rPr>
              <a:t> </a:t>
            </a:r>
            <a:r>
              <a:rPr b="0" i="0" dirty="0" err="1">
                <a:solidFill>
                  <a:srgbClr val="2B3648"/>
                </a:solidFill>
                <a:latin typeface="Times New Roman"/>
              </a:rPr>
              <a:t>cấu</a:t>
            </a:r>
            <a:r>
              <a:rPr b="0" i="0" dirty="0">
                <a:solidFill>
                  <a:srgbClr val="2B3648"/>
                </a:solidFill>
                <a:latin typeface="Times New Roman"/>
              </a:rPr>
              <a:t> </a:t>
            </a:r>
            <a:r>
              <a:rPr b="0" i="0" dirty="0" err="1">
                <a:solidFill>
                  <a:srgbClr val="2B3648"/>
                </a:solidFill>
                <a:latin typeface="Times New Roman"/>
              </a:rPr>
              <a:t>hình</a:t>
            </a:r>
            <a:endParaRPr b="0" i="0" dirty="0">
              <a:solidFill>
                <a:srgbClr val="2B3648"/>
              </a:solidFill>
              <a:latin typeface="Times New Roman"/>
            </a:endParaRPr>
          </a:p>
          <a:p>
            <a:pPr algn="l">
              <a:spcAft>
                <a:spcPts val="500"/>
              </a:spcAft>
            </a:pPr>
            <a:r>
              <a:rPr b="0" i="0" dirty="0">
                <a:solidFill>
                  <a:srgbClr val="2B3648"/>
                </a:solidFill>
                <a:latin typeface="Times New Roman"/>
              </a:rPr>
              <a:t>! </a:t>
            </a:r>
            <a:r>
              <a:rPr b="0" i="0" dirty="0" err="1">
                <a:solidFill>
                  <a:srgbClr val="2B3648"/>
                </a:solidFill>
                <a:latin typeface="Times New Roman"/>
              </a:rPr>
              <a:t>Có</a:t>
            </a:r>
            <a:r>
              <a:rPr b="0" i="0" dirty="0">
                <a:solidFill>
                  <a:srgbClr val="2B3648"/>
                </a:solidFill>
                <a:latin typeface="Times New Roman"/>
              </a:rPr>
              <a:t> </a:t>
            </a:r>
            <a:r>
              <a:rPr b="0" i="0" dirty="0" err="1">
                <a:solidFill>
                  <a:srgbClr val="2B3648"/>
                </a:solidFill>
                <a:latin typeface="Times New Roman"/>
              </a:rPr>
              <a:t>thể</a:t>
            </a:r>
            <a:r>
              <a:rPr b="0" i="0" dirty="0">
                <a:solidFill>
                  <a:srgbClr val="2B3648"/>
                </a:solidFill>
                <a:latin typeface="Times New Roman"/>
              </a:rPr>
              <a:t> </a:t>
            </a:r>
            <a:r>
              <a:rPr b="0" i="0" dirty="0" err="1">
                <a:solidFill>
                  <a:srgbClr val="2B3648"/>
                </a:solidFill>
                <a:latin typeface="Times New Roman"/>
              </a:rPr>
              <a:t>làm</a:t>
            </a:r>
            <a:r>
              <a:rPr b="0" i="0" dirty="0">
                <a:solidFill>
                  <a:srgbClr val="2B3648"/>
                </a:solidFill>
                <a:latin typeface="Times New Roman"/>
              </a:rPr>
              <a:t> </a:t>
            </a:r>
            <a:r>
              <a:rPr b="0" i="0" dirty="0" err="1">
                <a:solidFill>
                  <a:srgbClr val="2B3648"/>
                </a:solidFill>
                <a:latin typeface="Times New Roman"/>
              </a:rPr>
              <a:t>ứng</a:t>
            </a:r>
            <a:r>
              <a:rPr b="0" i="0" dirty="0">
                <a:solidFill>
                  <a:srgbClr val="2B3648"/>
                </a:solidFill>
                <a:latin typeface="Times New Roman"/>
              </a:rPr>
              <a:t> </a:t>
            </a:r>
            <a:r>
              <a:rPr b="0" i="0" dirty="0" err="1">
                <a:solidFill>
                  <a:srgbClr val="2B3648"/>
                </a:solidFill>
                <a:latin typeface="Times New Roman"/>
              </a:rPr>
              <a:t>dụng</a:t>
            </a:r>
            <a:r>
              <a:rPr b="0" i="0" dirty="0">
                <a:solidFill>
                  <a:srgbClr val="2B3648"/>
                </a:solidFill>
                <a:latin typeface="Times New Roman"/>
              </a:rPr>
              <a:t> </a:t>
            </a:r>
            <a:r>
              <a:rPr b="0" i="0" dirty="0" err="1">
                <a:solidFill>
                  <a:srgbClr val="2B3648"/>
                </a:solidFill>
                <a:latin typeface="Times New Roman"/>
              </a:rPr>
              <a:t>nhỏ</a:t>
            </a:r>
            <a:r>
              <a:rPr b="0" i="0" dirty="0">
                <a:solidFill>
                  <a:srgbClr val="2B3648"/>
                </a:solidFill>
                <a:latin typeface="Times New Roman"/>
              </a:rPr>
              <a:t> </a:t>
            </a:r>
            <a:r>
              <a:rPr b="0" i="0" dirty="0" err="1">
                <a:solidFill>
                  <a:srgbClr val="2B3648"/>
                </a:solidFill>
                <a:latin typeface="Times New Roman"/>
              </a:rPr>
              <a:t>phức</a:t>
            </a:r>
            <a:r>
              <a:rPr b="0" i="0" dirty="0">
                <a:solidFill>
                  <a:srgbClr val="2B3648"/>
                </a:solidFill>
                <a:latin typeface="Times New Roman"/>
              </a:rPr>
              <a:t> </a:t>
            </a:r>
            <a:r>
              <a:rPr b="0" i="0" dirty="0" err="1">
                <a:solidFill>
                  <a:srgbClr val="2B3648"/>
                </a:solidFill>
                <a:latin typeface="Times New Roman"/>
              </a:rPr>
              <a:t>tạp</a:t>
            </a:r>
            <a:r>
              <a:rPr b="0" i="0" dirty="0">
                <a:solidFill>
                  <a:srgbClr val="2B3648"/>
                </a:solidFill>
                <a:latin typeface="Times New Roman"/>
              </a:rPr>
              <a:t> </a:t>
            </a:r>
            <a:r>
              <a:rPr b="0" i="0" dirty="0" err="1">
                <a:solidFill>
                  <a:srgbClr val="2B3648"/>
                </a:solidFill>
                <a:latin typeface="Times New Roman"/>
              </a:rPr>
              <a:t>quá</a:t>
            </a:r>
            <a:r>
              <a:rPr b="0" i="0" dirty="0">
                <a:solidFill>
                  <a:srgbClr val="2B3648"/>
                </a:solidFill>
                <a:latin typeface="Times New Roman"/>
              </a:rPr>
              <a:t> </a:t>
            </a:r>
            <a:r>
              <a:rPr b="0" i="0" dirty="0" err="1">
                <a:solidFill>
                  <a:srgbClr val="2B3648"/>
                </a:solidFill>
                <a:latin typeface="Times New Roman"/>
              </a:rPr>
              <a:t>mức</a:t>
            </a:r>
            <a:endParaRPr b="0" i="0" dirty="0">
              <a:solidFill>
                <a:srgbClr val="2B3648"/>
              </a:solidFill>
              <a:latin typeface="Times New Roman"/>
            </a:endParaRPr>
          </a:p>
          <a:p>
            <a:pPr algn="l">
              <a:spcAft>
                <a:spcPts val="500"/>
              </a:spcAft>
            </a:pPr>
            <a:r>
              <a:rPr b="0" i="0" dirty="0">
                <a:solidFill>
                  <a:srgbClr val="2B3648"/>
                </a:solidFill>
                <a:latin typeface="Times New Roman"/>
              </a:rPr>
              <a:t>! </a:t>
            </a:r>
            <a:r>
              <a:rPr b="0" i="0" dirty="0" err="1">
                <a:solidFill>
                  <a:srgbClr val="2B3648"/>
                </a:solidFill>
                <a:latin typeface="Times New Roman"/>
              </a:rPr>
              <a:t>Gọi</a:t>
            </a:r>
            <a:r>
              <a:rPr b="0" i="0" dirty="0">
                <a:solidFill>
                  <a:srgbClr val="2B3648"/>
                </a:solidFill>
                <a:latin typeface="Times New Roman"/>
              </a:rPr>
              <a:t> qua </a:t>
            </a:r>
            <a:r>
              <a:rPr b="0" i="0" dirty="0" err="1">
                <a:solidFill>
                  <a:srgbClr val="2B3648"/>
                </a:solidFill>
                <a:latin typeface="Times New Roman"/>
              </a:rPr>
              <a:t>nhiều</a:t>
            </a:r>
            <a:r>
              <a:rPr b="0" i="0" dirty="0">
                <a:solidFill>
                  <a:srgbClr val="2B3648"/>
                </a:solidFill>
                <a:latin typeface="Times New Roman"/>
              </a:rPr>
              <a:t> </a:t>
            </a:r>
            <a:r>
              <a:rPr b="0" i="0" dirty="0" err="1">
                <a:solidFill>
                  <a:srgbClr val="2B3648"/>
                </a:solidFill>
                <a:latin typeface="Times New Roman"/>
              </a:rPr>
              <a:t>lớp</a:t>
            </a:r>
            <a:r>
              <a:rPr b="0" i="0" dirty="0">
                <a:solidFill>
                  <a:srgbClr val="2B3648"/>
                </a:solidFill>
                <a:latin typeface="Times New Roman"/>
              </a:rPr>
              <a:t> </a:t>
            </a:r>
            <a:r>
              <a:rPr b="0" i="0" dirty="0" err="1">
                <a:solidFill>
                  <a:srgbClr val="2B3648"/>
                </a:solidFill>
                <a:latin typeface="Times New Roman"/>
              </a:rPr>
              <a:t>có</a:t>
            </a:r>
            <a:r>
              <a:rPr b="0" i="0" dirty="0">
                <a:solidFill>
                  <a:srgbClr val="2B3648"/>
                </a:solidFill>
                <a:latin typeface="Times New Roman"/>
              </a:rPr>
              <a:t> </a:t>
            </a:r>
            <a:r>
              <a:rPr b="0" i="0" dirty="0" err="1">
                <a:solidFill>
                  <a:srgbClr val="2B3648"/>
                </a:solidFill>
                <a:latin typeface="Times New Roman"/>
              </a:rPr>
              <a:t>thể</a:t>
            </a:r>
            <a:r>
              <a:rPr b="0" i="0" dirty="0">
                <a:solidFill>
                  <a:srgbClr val="2B3648"/>
                </a:solidFill>
                <a:latin typeface="Times New Roman"/>
              </a:rPr>
              <a:t> </a:t>
            </a:r>
            <a:r>
              <a:rPr b="0" i="0" dirty="0" err="1">
                <a:solidFill>
                  <a:srgbClr val="2B3648"/>
                </a:solidFill>
                <a:latin typeface="Times New Roman"/>
              </a:rPr>
              <a:t>tăng</a:t>
            </a:r>
            <a:r>
              <a:rPr b="0" i="0" dirty="0">
                <a:solidFill>
                  <a:srgbClr val="2B3648"/>
                </a:solidFill>
                <a:latin typeface="Times New Roman"/>
              </a:rPr>
              <a:t> </a:t>
            </a:r>
            <a:r>
              <a:rPr b="0" i="0" dirty="0" err="1">
                <a:solidFill>
                  <a:srgbClr val="2B3648"/>
                </a:solidFill>
                <a:latin typeface="Times New Roman"/>
              </a:rPr>
              <a:t>độ</a:t>
            </a:r>
            <a:r>
              <a:rPr b="0" i="0" dirty="0">
                <a:solidFill>
                  <a:srgbClr val="2B3648"/>
                </a:solidFill>
                <a:latin typeface="Times New Roman"/>
              </a:rPr>
              <a:t> </a:t>
            </a:r>
            <a:r>
              <a:rPr b="0" i="0" dirty="0" err="1">
                <a:solidFill>
                  <a:srgbClr val="2B3648"/>
                </a:solidFill>
                <a:latin typeface="Times New Roman"/>
              </a:rPr>
              <a:t>trễ</a:t>
            </a:r>
            <a:endParaRPr b="0" i="0" dirty="0">
              <a:solidFill>
                <a:srgbClr val="2B3648"/>
              </a:solidFill>
              <a:latin typeface="Times New Roman"/>
            </a:endParaRPr>
          </a:p>
          <a:p>
            <a:pPr algn="l">
              <a:spcAft>
                <a:spcPts val="500"/>
              </a:spcAft>
            </a:pPr>
            <a:r>
              <a:rPr b="0" i="0" dirty="0">
                <a:solidFill>
                  <a:srgbClr val="2B3648"/>
                </a:solidFill>
                <a:latin typeface="Times New Roman"/>
              </a:rPr>
              <a:t>! </a:t>
            </a:r>
            <a:r>
              <a:rPr b="0" i="0" dirty="0" err="1">
                <a:solidFill>
                  <a:srgbClr val="2B3648"/>
                </a:solidFill>
                <a:latin typeface="Times New Roman"/>
              </a:rPr>
              <a:t>Thiết</a:t>
            </a:r>
            <a:r>
              <a:rPr b="0" i="0" dirty="0">
                <a:solidFill>
                  <a:srgbClr val="2B3648"/>
                </a:solidFill>
                <a:latin typeface="Times New Roman"/>
              </a:rPr>
              <a:t> </a:t>
            </a:r>
            <a:r>
              <a:rPr b="0" i="0" dirty="0" err="1">
                <a:solidFill>
                  <a:srgbClr val="2B3648"/>
                </a:solidFill>
                <a:latin typeface="Times New Roman"/>
              </a:rPr>
              <a:t>kế</a:t>
            </a:r>
            <a:r>
              <a:rPr b="0" i="0" dirty="0">
                <a:solidFill>
                  <a:srgbClr val="2B3648"/>
                </a:solidFill>
                <a:latin typeface="Times New Roman"/>
              </a:rPr>
              <a:t> </a:t>
            </a:r>
            <a:r>
              <a:rPr b="0" i="0" dirty="0" err="1">
                <a:solidFill>
                  <a:srgbClr val="2B3648"/>
                </a:solidFill>
                <a:latin typeface="Times New Roman"/>
              </a:rPr>
              <a:t>sai</a:t>
            </a:r>
            <a:r>
              <a:rPr b="0" i="0" dirty="0">
                <a:solidFill>
                  <a:srgbClr val="2B3648"/>
                </a:solidFill>
                <a:latin typeface="Times New Roman"/>
              </a:rPr>
              <a:t> </a:t>
            </a:r>
            <a:r>
              <a:rPr b="0" i="0" dirty="0" err="1">
                <a:solidFill>
                  <a:srgbClr val="2B3648"/>
                </a:solidFill>
                <a:latin typeface="Times New Roman"/>
              </a:rPr>
              <a:t>vẫn</a:t>
            </a:r>
            <a:r>
              <a:rPr b="0" i="0" dirty="0">
                <a:solidFill>
                  <a:srgbClr val="2B3648"/>
                </a:solidFill>
                <a:latin typeface="Times New Roman"/>
              </a:rPr>
              <a:t> </a:t>
            </a:r>
            <a:r>
              <a:rPr b="0" i="0" dirty="0" err="1">
                <a:solidFill>
                  <a:srgbClr val="2B3648"/>
                </a:solidFill>
                <a:latin typeface="Times New Roman"/>
              </a:rPr>
              <a:t>tạo</a:t>
            </a:r>
            <a:r>
              <a:rPr b="0" i="0" dirty="0">
                <a:solidFill>
                  <a:srgbClr val="2B3648"/>
                </a:solidFill>
                <a:latin typeface="Times New Roman"/>
              </a:rPr>
              <a:t> </a:t>
            </a:r>
            <a:r>
              <a:rPr b="0" i="0" dirty="0" err="1">
                <a:solidFill>
                  <a:srgbClr val="2B3648"/>
                </a:solidFill>
                <a:latin typeface="Times New Roman"/>
              </a:rPr>
              <a:t>phụ</a:t>
            </a:r>
            <a:r>
              <a:rPr b="0" i="0" dirty="0">
                <a:solidFill>
                  <a:srgbClr val="2B3648"/>
                </a:solidFill>
                <a:latin typeface="Times New Roman"/>
              </a:rPr>
              <a:t> </a:t>
            </a:r>
            <a:r>
              <a:rPr b="0" i="0" dirty="0" err="1">
                <a:solidFill>
                  <a:srgbClr val="2B3648"/>
                </a:solidFill>
                <a:latin typeface="Times New Roman"/>
              </a:rPr>
              <a:t>thuộc</a:t>
            </a:r>
            <a:r>
              <a:rPr b="0" i="0" dirty="0">
                <a:solidFill>
                  <a:srgbClr val="2B3648"/>
                </a:solidFill>
                <a:latin typeface="Times New Roman"/>
              </a:rPr>
              <a:t> </a:t>
            </a:r>
            <a:r>
              <a:rPr b="0" i="0" dirty="0" err="1">
                <a:solidFill>
                  <a:srgbClr val="2B3648"/>
                </a:solidFill>
                <a:latin typeface="Times New Roman"/>
              </a:rPr>
              <a:t>chặt</a:t>
            </a:r>
            <a:r>
              <a:rPr b="0" i="0" dirty="0">
                <a:solidFill>
                  <a:srgbClr val="2B3648"/>
                </a:solidFill>
                <a:latin typeface="Times New Roman"/>
              </a:rPr>
              <a:t> </a:t>
            </a:r>
            <a:r>
              <a:rPr b="0" i="0" dirty="0" err="1">
                <a:solidFill>
                  <a:srgbClr val="2B3648"/>
                </a:solidFill>
                <a:latin typeface="Times New Roman"/>
              </a:rPr>
              <a:t>chẽ</a:t>
            </a:r>
            <a:endParaRPr b="0" i="0" dirty="0">
              <a:solidFill>
                <a:srgbClr val="2B3648"/>
              </a:solidFill>
              <a:latin typeface="Times New Roman"/>
            </a:endParaRPr>
          </a:p>
        </p:txBody>
      </p:sp>
      <p:sp>
        <p:nvSpPr>
          <p:cNvPr id="14" name="TextBox 13"/>
          <p:cNvSpPr txBox="1"/>
          <p:nvPr/>
        </p:nvSpPr>
        <p:spPr>
          <a:xfrm>
            <a:off x="822960" y="4160520"/>
            <a:ext cx="2743200" cy="320040"/>
          </a:xfrm>
          <a:prstGeom prst="rect">
            <a:avLst/>
          </a:prstGeom>
          <a:noFill/>
        </p:spPr>
        <p:txBody>
          <a:bodyPr wrap="square" lIns="54864" tIns="54864" rIns="54864" bIns="54864" anchor="t">
            <a:spAutoFit/>
          </a:bodyPr>
          <a:lstStyle/>
          <a:p>
            <a:pPr algn="l">
              <a:spcAft>
                <a:spcPts val="500"/>
              </a:spcAft>
            </a:pPr>
            <a:r>
              <a:rPr sz="1800" b="1" i="0">
                <a:solidFill>
                  <a:srgbClr val="182A4C"/>
                </a:solidFill>
                <a:latin typeface="Times New Roman"/>
              </a:rPr>
              <a:t>Nguyên tắc nên nhớ</a:t>
            </a:r>
          </a:p>
        </p:txBody>
      </p:sp>
      <p:sp>
        <p:nvSpPr>
          <p:cNvPr id="15" name="Oval 14"/>
          <p:cNvSpPr/>
          <p:nvPr/>
        </p:nvSpPr>
        <p:spPr>
          <a:xfrm>
            <a:off x="822960" y="4617720"/>
            <a:ext cx="384048" cy="384048"/>
          </a:xfrm>
          <a:prstGeom prst="ellipse">
            <a:avLst/>
          </a:prstGeom>
          <a:solidFill>
            <a:srgbClr val="3669C9"/>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4690872"/>
            <a:ext cx="384048" cy="182880"/>
          </a:xfrm>
          <a:prstGeom prst="rect">
            <a:avLst/>
          </a:prstGeom>
          <a:noFill/>
        </p:spPr>
        <p:txBody>
          <a:bodyPr wrap="square" lIns="54864" tIns="54864" rIns="54864" bIns="54864" anchor="t">
            <a:spAutoFit/>
          </a:bodyPr>
          <a:lstStyle/>
          <a:p>
            <a:pPr algn="ctr">
              <a:spcAft>
                <a:spcPts val="500"/>
              </a:spcAft>
            </a:pPr>
            <a:r>
              <a:rPr sz="1000" b="1" i="0">
                <a:solidFill>
                  <a:srgbClr val="FFFFFF"/>
                </a:solidFill>
                <a:latin typeface="Times New Roman"/>
              </a:rPr>
              <a:t>01</a:t>
            </a:r>
          </a:p>
        </p:txBody>
      </p:sp>
      <p:sp>
        <p:nvSpPr>
          <p:cNvPr id="17" name="TextBox 16"/>
          <p:cNvSpPr txBox="1"/>
          <p:nvPr/>
        </p:nvSpPr>
        <p:spPr>
          <a:xfrm>
            <a:off x="1353312" y="4645152"/>
            <a:ext cx="4754880" cy="320040"/>
          </a:xfrm>
          <a:prstGeom prst="rect">
            <a:avLst/>
          </a:prstGeom>
          <a:noFill/>
        </p:spPr>
        <p:txBody>
          <a:bodyPr wrap="square" lIns="54864" tIns="54864" rIns="54864" bIns="54864" anchor="t">
            <a:spAutoFit/>
          </a:bodyPr>
          <a:lstStyle/>
          <a:p>
            <a:pPr algn="l">
              <a:spcAft>
                <a:spcPts val="500"/>
              </a:spcAft>
            </a:pPr>
            <a:r>
              <a:rPr sz="1400" b="1" i="0">
                <a:solidFill>
                  <a:srgbClr val="2B3648"/>
                </a:solidFill>
                <a:latin typeface="Times New Roman"/>
              </a:rPr>
              <a:t>Một lớp — một trách nhiệm chính</a:t>
            </a:r>
          </a:p>
        </p:txBody>
      </p:sp>
      <p:sp>
        <p:nvSpPr>
          <p:cNvPr id="18" name="Oval 17"/>
          <p:cNvSpPr/>
          <p:nvPr/>
        </p:nvSpPr>
        <p:spPr>
          <a:xfrm>
            <a:off x="6400800" y="4617720"/>
            <a:ext cx="384048" cy="384048"/>
          </a:xfrm>
          <a:prstGeom prst="ellipse">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4690872"/>
            <a:ext cx="384048" cy="182880"/>
          </a:xfrm>
          <a:prstGeom prst="rect">
            <a:avLst/>
          </a:prstGeom>
          <a:noFill/>
        </p:spPr>
        <p:txBody>
          <a:bodyPr wrap="square" lIns="54864" tIns="54864" rIns="54864" bIns="54864" anchor="t">
            <a:spAutoFit/>
          </a:bodyPr>
          <a:lstStyle/>
          <a:p>
            <a:pPr algn="ctr">
              <a:spcAft>
                <a:spcPts val="500"/>
              </a:spcAft>
            </a:pPr>
            <a:r>
              <a:rPr sz="1000" b="1" i="0">
                <a:solidFill>
                  <a:srgbClr val="FFFFFF"/>
                </a:solidFill>
                <a:latin typeface="Times New Roman"/>
              </a:rPr>
              <a:t>02</a:t>
            </a:r>
          </a:p>
        </p:txBody>
      </p:sp>
      <p:sp>
        <p:nvSpPr>
          <p:cNvPr id="20" name="TextBox 19"/>
          <p:cNvSpPr txBox="1"/>
          <p:nvPr/>
        </p:nvSpPr>
        <p:spPr>
          <a:xfrm>
            <a:off x="6931152" y="4645152"/>
            <a:ext cx="4754880" cy="320040"/>
          </a:xfrm>
          <a:prstGeom prst="rect">
            <a:avLst/>
          </a:prstGeom>
          <a:noFill/>
        </p:spPr>
        <p:txBody>
          <a:bodyPr wrap="square" lIns="54864" tIns="54864" rIns="54864" bIns="54864" anchor="t">
            <a:spAutoFit/>
          </a:bodyPr>
          <a:lstStyle/>
          <a:p>
            <a:pPr algn="l">
              <a:spcAft>
                <a:spcPts val="500"/>
              </a:spcAft>
            </a:pPr>
            <a:r>
              <a:rPr sz="1400" b="1" i="0">
                <a:solidFill>
                  <a:srgbClr val="2B3648"/>
                </a:solidFill>
                <a:latin typeface="Times New Roman"/>
              </a:rPr>
              <a:t>Presentation không truy cập DB trực tiếp</a:t>
            </a:r>
          </a:p>
        </p:txBody>
      </p:sp>
      <p:sp>
        <p:nvSpPr>
          <p:cNvPr id="21" name="Oval 20"/>
          <p:cNvSpPr/>
          <p:nvPr/>
        </p:nvSpPr>
        <p:spPr>
          <a:xfrm>
            <a:off x="822960" y="5303520"/>
            <a:ext cx="384048" cy="384048"/>
          </a:xfrm>
          <a:prstGeom prst="ellipse">
            <a:avLst/>
          </a:prstGeom>
          <a:solidFill>
            <a:srgbClr val="3669C9"/>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5376672"/>
            <a:ext cx="384048" cy="182880"/>
          </a:xfrm>
          <a:prstGeom prst="rect">
            <a:avLst/>
          </a:prstGeom>
          <a:noFill/>
        </p:spPr>
        <p:txBody>
          <a:bodyPr wrap="square" lIns="54864" tIns="54864" rIns="54864" bIns="54864" anchor="t">
            <a:spAutoFit/>
          </a:bodyPr>
          <a:lstStyle/>
          <a:p>
            <a:pPr algn="ctr">
              <a:spcAft>
                <a:spcPts val="500"/>
              </a:spcAft>
            </a:pPr>
            <a:r>
              <a:rPr sz="1000" b="1" i="0">
                <a:solidFill>
                  <a:srgbClr val="FFFFFF"/>
                </a:solidFill>
                <a:latin typeface="Times New Roman"/>
              </a:rPr>
              <a:t>03</a:t>
            </a:r>
          </a:p>
        </p:txBody>
      </p:sp>
      <p:sp>
        <p:nvSpPr>
          <p:cNvPr id="23" name="TextBox 22"/>
          <p:cNvSpPr txBox="1"/>
          <p:nvPr/>
        </p:nvSpPr>
        <p:spPr>
          <a:xfrm>
            <a:off x="1353312" y="5330952"/>
            <a:ext cx="4754880" cy="320040"/>
          </a:xfrm>
          <a:prstGeom prst="rect">
            <a:avLst/>
          </a:prstGeom>
          <a:noFill/>
        </p:spPr>
        <p:txBody>
          <a:bodyPr wrap="square" lIns="54864" tIns="54864" rIns="54864" bIns="54864" anchor="t">
            <a:spAutoFit/>
          </a:bodyPr>
          <a:lstStyle/>
          <a:p>
            <a:pPr algn="l">
              <a:spcAft>
                <a:spcPts val="500"/>
              </a:spcAft>
            </a:pPr>
            <a:r>
              <a:rPr sz="1400" b="1" i="0">
                <a:solidFill>
                  <a:srgbClr val="2B3648"/>
                </a:solidFill>
                <a:latin typeface="Times New Roman"/>
              </a:rPr>
              <a:t>Business Logic không phụ thuộc giao diện cụ thể</a:t>
            </a:r>
          </a:p>
        </p:txBody>
      </p:sp>
      <p:sp>
        <p:nvSpPr>
          <p:cNvPr id="24" name="Oval 23"/>
          <p:cNvSpPr/>
          <p:nvPr/>
        </p:nvSpPr>
        <p:spPr>
          <a:xfrm>
            <a:off x="6400800" y="5303520"/>
            <a:ext cx="384048" cy="384048"/>
          </a:xfrm>
          <a:prstGeom prst="ellipse">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0" y="5376672"/>
            <a:ext cx="384048" cy="182880"/>
          </a:xfrm>
          <a:prstGeom prst="rect">
            <a:avLst/>
          </a:prstGeom>
          <a:noFill/>
        </p:spPr>
        <p:txBody>
          <a:bodyPr wrap="square" lIns="54864" tIns="54864" rIns="54864" bIns="54864" anchor="t">
            <a:spAutoFit/>
          </a:bodyPr>
          <a:lstStyle/>
          <a:p>
            <a:pPr algn="ctr">
              <a:spcAft>
                <a:spcPts val="500"/>
              </a:spcAft>
            </a:pPr>
            <a:r>
              <a:rPr sz="1000" b="1" i="0">
                <a:solidFill>
                  <a:srgbClr val="FFFFFF"/>
                </a:solidFill>
                <a:latin typeface="Times New Roman"/>
              </a:rPr>
              <a:t>04</a:t>
            </a:r>
          </a:p>
        </p:txBody>
      </p:sp>
      <p:sp>
        <p:nvSpPr>
          <p:cNvPr id="26" name="TextBox 25"/>
          <p:cNvSpPr txBox="1"/>
          <p:nvPr/>
        </p:nvSpPr>
        <p:spPr>
          <a:xfrm>
            <a:off x="6931152" y="5330952"/>
            <a:ext cx="4754880" cy="320040"/>
          </a:xfrm>
          <a:prstGeom prst="rect">
            <a:avLst/>
          </a:prstGeom>
          <a:noFill/>
        </p:spPr>
        <p:txBody>
          <a:bodyPr wrap="square" lIns="54864" tIns="54864" rIns="54864" bIns="54864" anchor="t">
            <a:spAutoFit/>
          </a:bodyPr>
          <a:lstStyle/>
          <a:p>
            <a:pPr algn="l">
              <a:spcAft>
                <a:spcPts val="500"/>
              </a:spcAft>
            </a:pPr>
            <a:r>
              <a:rPr sz="1400" b="1" i="0">
                <a:solidFill>
                  <a:srgbClr val="2B3648"/>
                </a:solidFill>
                <a:latin typeface="Times New Roman"/>
              </a:rPr>
              <a:t>DAL tập trung thao tác dữ liệu; xử lý lỗi rõ ràng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82A4C"/>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2743200" cy="418576"/>
          </a:xfrm>
          <a:prstGeom prst="rect">
            <a:avLst/>
          </a:prstGeom>
          <a:noFill/>
        </p:spPr>
        <p:txBody>
          <a:bodyPr wrap="square" lIns="54864" tIns="54864" rIns="54864" bIns="54864" anchor="t">
            <a:spAutoFit/>
          </a:bodyPr>
          <a:lstStyle/>
          <a:p>
            <a:pPr algn="l">
              <a:spcAft>
                <a:spcPts val="500"/>
              </a:spcAft>
            </a:pPr>
            <a:r>
              <a:rPr sz="2000" b="1" i="0" dirty="0">
                <a:solidFill>
                  <a:srgbClr val="F2B134"/>
                </a:solidFill>
                <a:latin typeface="Times New Roman"/>
              </a:rPr>
              <a:t>TỔNG KẾT</a:t>
            </a:r>
          </a:p>
        </p:txBody>
      </p:sp>
      <p:sp>
        <p:nvSpPr>
          <p:cNvPr id="3" name="TextBox 2"/>
          <p:cNvSpPr txBox="1"/>
          <p:nvPr/>
        </p:nvSpPr>
        <p:spPr>
          <a:xfrm>
            <a:off x="731520" y="1051560"/>
            <a:ext cx="7315200" cy="557076"/>
          </a:xfrm>
          <a:prstGeom prst="rect">
            <a:avLst/>
          </a:prstGeom>
          <a:noFill/>
        </p:spPr>
        <p:txBody>
          <a:bodyPr wrap="square" lIns="54864" tIns="54864" rIns="54864" bIns="54864" anchor="t">
            <a:spAutoFit/>
          </a:bodyPr>
          <a:lstStyle/>
          <a:p>
            <a:pPr algn="l">
              <a:spcAft>
                <a:spcPts val="500"/>
              </a:spcAft>
            </a:pPr>
            <a:r>
              <a:rPr sz="2900" b="1" i="0" dirty="0">
                <a:solidFill>
                  <a:srgbClr val="FFFFFF"/>
                </a:solidFill>
                <a:latin typeface="Times New Roman"/>
              </a:rPr>
              <a:t>3 </a:t>
            </a:r>
            <a:r>
              <a:rPr sz="2900" b="1" i="0" dirty="0" err="1">
                <a:solidFill>
                  <a:srgbClr val="FFFFFF"/>
                </a:solidFill>
                <a:latin typeface="Times New Roman"/>
              </a:rPr>
              <a:t>lớp</a:t>
            </a:r>
            <a:r>
              <a:rPr sz="2900" b="1" i="0" dirty="0">
                <a:solidFill>
                  <a:srgbClr val="FFFFFF"/>
                </a:solidFill>
                <a:latin typeface="Times New Roman"/>
              </a:rPr>
              <a:t> — 3 </a:t>
            </a:r>
            <a:r>
              <a:rPr sz="2900" b="1" i="0" dirty="0" err="1">
                <a:solidFill>
                  <a:srgbClr val="FFFFFF"/>
                </a:solidFill>
                <a:latin typeface="Times New Roman"/>
              </a:rPr>
              <a:t>trách</a:t>
            </a:r>
            <a:r>
              <a:rPr sz="2900" b="1" i="0" dirty="0">
                <a:solidFill>
                  <a:srgbClr val="FFFFFF"/>
                </a:solidFill>
                <a:latin typeface="Times New Roman"/>
              </a:rPr>
              <a:t> </a:t>
            </a:r>
            <a:r>
              <a:rPr sz="2900" b="1" i="0" dirty="0" err="1">
                <a:solidFill>
                  <a:srgbClr val="FFFFFF"/>
                </a:solidFill>
                <a:latin typeface="Times New Roman"/>
              </a:rPr>
              <a:t>nhiệm</a:t>
            </a:r>
            <a:endParaRPr sz="2900" b="1" i="0" dirty="0">
              <a:solidFill>
                <a:srgbClr val="FFFFFF"/>
              </a:solidFill>
              <a:latin typeface="Times New Roman"/>
            </a:endParaRPr>
          </a:p>
        </p:txBody>
      </p:sp>
      <p:sp>
        <p:nvSpPr>
          <p:cNvPr id="4" name="Rounded Rectangle 3"/>
          <p:cNvSpPr/>
          <p:nvPr/>
        </p:nvSpPr>
        <p:spPr>
          <a:xfrm>
            <a:off x="822960" y="2011680"/>
            <a:ext cx="5303520" cy="658368"/>
          </a:xfrm>
          <a:prstGeom prst="roundRect">
            <a:avLst/>
          </a:prstGeom>
          <a:solidFill>
            <a:srgbClr val="273A5B"/>
          </a:solidFill>
          <a:ln>
            <a:solidFill>
              <a:srgbClr val="4055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24128" y="2157984"/>
            <a:ext cx="347472" cy="347472"/>
          </a:xfrm>
          <a:prstGeom prst="ellipse">
            <a:avLst/>
          </a:prstGeom>
          <a:solidFill>
            <a:srgbClr val="3669C9"/>
          </a:solidFill>
          <a:ln>
            <a:solidFill>
              <a:srgbClr val="3669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54480" y="2103120"/>
            <a:ext cx="1828800" cy="256032"/>
          </a:xfrm>
          <a:prstGeom prst="rect">
            <a:avLst/>
          </a:prstGeom>
          <a:noFill/>
        </p:spPr>
        <p:txBody>
          <a:bodyPr wrap="square" lIns="54864" tIns="54864" rIns="54864" bIns="54864" anchor="t">
            <a:spAutoFit/>
          </a:bodyPr>
          <a:lstStyle/>
          <a:p>
            <a:pPr algn="l">
              <a:spcAft>
                <a:spcPts val="500"/>
              </a:spcAft>
            </a:pPr>
            <a:r>
              <a:rPr sz="1500" b="1" i="0">
                <a:solidFill>
                  <a:srgbClr val="FFFFFF"/>
                </a:solidFill>
                <a:latin typeface="Times New Roman"/>
              </a:rPr>
              <a:t>Presentation</a:t>
            </a:r>
          </a:p>
        </p:txBody>
      </p:sp>
      <p:sp>
        <p:nvSpPr>
          <p:cNvPr id="7" name="TextBox 6"/>
          <p:cNvSpPr txBox="1"/>
          <p:nvPr/>
        </p:nvSpPr>
        <p:spPr>
          <a:xfrm>
            <a:off x="3246120" y="2121408"/>
            <a:ext cx="2560320" cy="387798"/>
          </a:xfrm>
          <a:prstGeom prst="rect">
            <a:avLst/>
          </a:prstGeom>
          <a:noFill/>
        </p:spPr>
        <p:txBody>
          <a:bodyPr wrap="square" lIns="54864" tIns="54864" rIns="54864" bIns="54864" anchor="t">
            <a:spAutoFit/>
          </a:bodyPr>
          <a:lstStyle/>
          <a:p>
            <a:pPr algn="l">
              <a:spcAft>
                <a:spcPts val="500"/>
              </a:spcAft>
            </a:pPr>
            <a:r>
              <a:rPr b="0" i="0" dirty="0">
                <a:solidFill>
                  <a:srgbClr val="D8E2F2"/>
                </a:solidFill>
                <a:latin typeface="Times New Roman"/>
              </a:rPr>
              <a:t>Giao </a:t>
            </a:r>
            <a:r>
              <a:rPr b="0" i="0" dirty="0" err="1">
                <a:solidFill>
                  <a:srgbClr val="D8E2F2"/>
                </a:solidFill>
                <a:latin typeface="Times New Roman"/>
              </a:rPr>
              <a:t>tiếp</a:t>
            </a:r>
            <a:r>
              <a:rPr b="0" i="0" dirty="0">
                <a:solidFill>
                  <a:srgbClr val="D8E2F2"/>
                </a:solidFill>
                <a:latin typeface="Times New Roman"/>
              </a:rPr>
              <a:t> </a:t>
            </a:r>
            <a:r>
              <a:rPr b="0" i="0" dirty="0" err="1">
                <a:solidFill>
                  <a:srgbClr val="D8E2F2"/>
                </a:solidFill>
                <a:latin typeface="Times New Roman"/>
              </a:rPr>
              <a:t>với</a:t>
            </a:r>
            <a:r>
              <a:rPr b="0" i="0" dirty="0">
                <a:solidFill>
                  <a:srgbClr val="D8E2F2"/>
                </a:solidFill>
                <a:latin typeface="Times New Roman"/>
              </a:rPr>
              <a:t> </a:t>
            </a:r>
            <a:r>
              <a:rPr b="0" i="0" dirty="0" err="1">
                <a:solidFill>
                  <a:srgbClr val="D8E2F2"/>
                </a:solidFill>
                <a:latin typeface="Times New Roman"/>
              </a:rPr>
              <a:t>người</a:t>
            </a:r>
            <a:r>
              <a:rPr b="0" i="0" dirty="0">
                <a:solidFill>
                  <a:srgbClr val="D8E2F2"/>
                </a:solidFill>
                <a:latin typeface="Times New Roman"/>
              </a:rPr>
              <a:t> </a:t>
            </a:r>
            <a:r>
              <a:rPr b="0" i="0" dirty="0" err="1">
                <a:solidFill>
                  <a:srgbClr val="D8E2F2"/>
                </a:solidFill>
                <a:latin typeface="Times New Roman"/>
              </a:rPr>
              <a:t>dùng</a:t>
            </a:r>
            <a:endParaRPr b="0" i="0" dirty="0">
              <a:solidFill>
                <a:srgbClr val="D8E2F2"/>
              </a:solidFill>
              <a:latin typeface="Times New Roman"/>
            </a:endParaRPr>
          </a:p>
        </p:txBody>
      </p:sp>
      <p:sp>
        <p:nvSpPr>
          <p:cNvPr id="8" name="Rounded Rectangle 7"/>
          <p:cNvSpPr/>
          <p:nvPr/>
        </p:nvSpPr>
        <p:spPr>
          <a:xfrm>
            <a:off x="822960" y="2880360"/>
            <a:ext cx="5303520" cy="658368"/>
          </a:xfrm>
          <a:prstGeom prst="roundRect">
            <a:avLst/>
          </a:prstGeom>
          <a:solidFill>
            <a:srgbClr val="273A5B"/>
          </a:solidFill>
          <a:ln>
            <a:solidFill>
              <a:srgbClr val="4055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24128" y="3026664"/>
            <a:ext cx="347472" cy="347472"/>
          </a:xfrm>
          <a:prstGeom prst="ellipse">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54480" y="2971800"/>
            <a:ext cx="1828800" cy="256032"/>
          </a:xfrm>
          <a:prstGeom prst="rect">
            <a:avLst/>
          </a:prstGeom>
          <a:noFill/>
        </p:spPr>
        <p:txBody>
          <a:bodyPr wrap="square" lIns="54864" tIns="54864" rIns="54864" bIns="54864" anchor="t">
            <a:spAutoFit/>
          </a:bodyPr>
          <a:lstStyle/>
          <a:p>
            <a:pPr algn="l">
              <a:spcAft>
                <a:spcPts val="500"/>
              </a:spcAft>
            </a:pPr>
            <a:r>
              <a:rPr sz="1500" b="1" i="0">
                <a:solidFill>
                  <a:srgbClr val="FFFFFF"/>
                </a:solidFill>
                <a:latin typeface="Times New Roman"/>
              </a:rPr>
              <a:t>Business Logic</a:t>
            </a:r>
          </a:p>
        </p:txBody>
      </p:sp>
      <p:sp>
        <p:nvSpPr>
          <p:cNvPr id="11" name="TextBox 10"/>
          <p:cNvSpPr txBox="1"/>
          <p:nvPr/>
        </p:nvSpPr>
        <p:spPr>
          <a:xfrm>
            <a:off x="3246120" y="2990088"/>
            <a:ext cx="2560320" cy="357021"/>
          </a:xfrm>
          <a:prstGeom prst="rect">
            <a:avLst/>
          </a:prstGeom>
          <a:noFill/>
        </p:spPr>
        <p:txBody>
          <a:bodyPr wrap="square" lIns="54864" tIns="54864" rIns="54864" bIns="54864" anchor="t">
            <a:spAutoFit/>
          </a:bodyPr>
          <a:lstStyle/>
          <a:p>
            <a:pPr algn="l">
              <a:spcAft>
                <a:spcPts val="500"/>
              </a:spcAft>
            </a:pPr>
            <a:r>
              <a:rPr sz="1600" b="0" i="0" dirty="0" err="1">
                <a:solidFill>
                  <a:srgbClr val="D8E2F2"/>
                </a:solidFill>
                <a:latin typeface="Times New Roman"/>
              </a:rPr>
              <a:t>Xử</a:t>
            </a:r>
            <a:r>
              <a:rPr sz="1600" b="0" i="0" dirty="0">
                <a:solidFill>
                  <a:srgbClr val="D8E2F2"/>
                </a:solidFill>
                <a:latin typeface="Times New Roman"/>
              </a:rPr>
              <a:t> </a:t>
            </a:r>
            <a:r>
              <a:rPr sz="1600" b="0" i="0" dirty="0" err="1">
                <a:solidFill>
                  <a:srgbClr val="D8E2F2"/>
                </a:solidFill>
                <a:latin typeface="Times New Roman"/>
              </a:rPr>
              <a:t>lý</a:t>
            </a:r>
            <a:r>
              <a:rPr sz="1600" b="0" i="0" dirty="0">
                <a:solidFill>
                  <a:srgbClr val="D8E2F2"/>
                </a:solidFill>
                <a:latin typeface="Times New Roman"/>
              </a:rPr>
              <a:t> </a:t>
            </a:r>
            <a:r>
              <a:rPr sz="1600" b="0" i="0" dirty="0" err="1">
                <a:solidFill>
                  <a:srgbClr val="D8E2F2"/>
                </a:solidFill>
                <a:latin typeface="Times New Roman"/>
              </a:rPr>
              <a:t>quy</a:t>
            </a:r>
            <a:r>
              <a:rPr sz="1600" b="0" i="0" dirty="0">
                <a:solidFill>
                  <a:srgbClr val="D8E2F2"/>
                </a:solidFill>
                <a:latin typeface="Times New Roman"/>
              </a:rPr>
              <a:t> </a:t>
            </a:r>
            <a:r>
              <a:rPr sz="1600" b="0" i="0" dirty="0" err="1">
                <a:solidFill>
                  <a:srgbClr val="D8E2F2"/>
                </a:solidFill>
                <a:latin typeface="Times New Roman"/>
              </a:rPr>
              <a:t>tắc</a:t>
            </a:r>
            <a:r>
              <a:rPr sz="1600" b="0" i="0" dirty="0">
                <a:solidFill>
                  <a:srgbClr val="D8E2F2"/>
                </a:solidFill>
                <a:latin typeface="Times New Roman"/>
              </a:rPr>
              <a:t> </a:t>
            </a:r>
            <a:r>
              <a:rPr sz="1600" b="0" i="0" dirty="0" err="1">
                <a:solidFill>
                  <a:srgbClr val="D8E2F2"/>
                </a:solidFill>
                <a:latin typeface="Times New Roman"/>
              </a:rPr>
              <a:t>nghiệp</a:t>
            </a:r>
            <a:r>
              <a:rPr sz="1600" b="0" i="0" dirty="0">
                <a:solidFill>
                  <a:srgbClr val="D8E2F2"/>
                </a:solidFill>
                <a:latin typeface="Times New Roman"/>
              </a:rPr>
              <a:t> </a:t>
            </a:r>
            <a:r>
              <a:rPr sz="1600" b="0" i="0" dirty="0" err="1">
                <a:solidFill>
                  <a:srgbClr val="D8E2F2"/>
                </a:solidFill>
                <a:latin typeface="Times New Roman"/>
              </a:rPr>
              <a:t>vụ</a:t>
            </a:r>
            <a:endParaRPr sz="1600" b="0" i="0" dirty="0">
              <a:solidFill>
                <a:srgbClr val="D8E2F2"/>
              </a:solidFill>
              <a:latin typeface="Times New Roman"/>
            </a:endParaRPr>
          </a:p>
        </p:txBody>
      </p:sp>
      <p:sp>
        <p:nvSpPr>
          <p:cNvPr id="12" name="Rounded Rectangle 11"/>
          <p:cNvSpPr/>
          <p:nvPr/>
        </p:nvSpPr>
        <p:spPr>
          <a:xfrm>
            <a:off x="822960" y="3749039"/>
            <a:ext cx="5303520" cy="658368"/>
          </a:xfrm>
          <a:prstGeom prst="roundRect">
            <a:avLst/>
          </a:prstGeom>
          <a:solidFill>
            <a:srgbClr val="273A5B"/>
          </a:solidFill>
          <a:ln>
            <a:solidFill>
              <a:srgbClr val="4055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24128" y="3895344"/>
            <a:ext cx="347472" cy="347472"/>
          </a:xfrm>
          <a:prstGeom prst="ellipse">
            <a:avLst/>
          </a:prstGeom>
          <a:solidFill>
            <a:srgbClr val="7E5BBE"/>
          </a:solidFill>
          <a:ln>
            <a:solidFill>
              <a:srgbClr val="7E5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554480" y="3840479"/>
            <a:ext cx="1828800" cy="256032"/>
          </a:xfrm>
          <a:prstGeom prst="rect">
            <a:avLst/>
          </a:prstGeom>
          <a:noFill/>
        </p:spPr>
        <p:txBody>
          <a:bodyPr wrap="square" lIns="54864" tIns="54864" rIns="54864" bIns="54864" anchor="t">
            <a:spAutoFit/>
          </a:bodyPr>
          <a:lstStyle/>
          <a:p>
            <a:pPr algn="l">
              <a:spcAft>
                <a:spcPts val="500"/>
              </a:spcAft>
            </a:pPr>
            <a:r>
              <a:rPr sz="1500" b="1" i="0">
                <a:solidFill>
                  <a:srgbClr val="FFFFFF"/>
                </a:solidFill>
                <a:latin typeface="Times New Roman"/>
              </a:rPr>
              <a:t>Data Access</a:t>
            </a:r>
          </a:p>
        </p:txBody>
      </p:sp>
      <p:sp>
        <p:nvSpPr>
          <p:cNvPr id="15" name="TextBox 14"/>
          <p:cNvSpPr txBox="1"/>
          <p:nvPr/>
        </p:nvSpPr>
        <p:spPr>
          <a:xfrm>
            <a:off x="3246120" y="3858768"/>
            <a:ext cx="2560320" cy="357021"/>
          </a:xfrm>
          <a:prstGeom prst="rect">
            <a:avLst/>
          </a:prstGeom>
          <a:noFill/>
        </p:spPr>
        <p:txBody>
          <a:bodyPr wrap="square" lIns="54864" tIns="54864" rIns="54864" bIns="54864" anchor="t">
            <a:spAutoFit/>
          </a:bodyPr>
          <a:lstStyle/>
          <a:p>
            <a:pPr algn="l">
              <a:spcAft>
                <a:spcPts val="500"/>
              </a:spcAft>
            </a:pPr>
            <a:r>
              <a:rPr sz="1600" b="0" i="0" dirty="0" err="1">
                <a:solidFill>
                  <a:srgbClr val="D8E2F2"/>
                </a:solidFill>
                <a:latin typeface="Times New Roman"/>
              </a:rPr>
              <a:t>Làm</a:t>
            </a:r>
            <a:r>
              <a:rPr sz="1600" b="0" i="0" dirty="0">
                <a:solidFill>
                  <a:srgbClr val="D8E2F2"/>
                </a:solidFill>
                <a:latin typeface="Times New Roman"/>
              </a:rPr>
              <a:t> </a:t>
            </a:r>
            <a:r>
              <a:rPr sz="1600" b="0" i="0" dirty="0" err="1">
                <a:solidFill>
                  <a:srgbClr val="D8E2F2"/>
                </a:solidFill>
                <a:latin typeface="Times New Roman"/>
              </a:rPr>
              <a:t>việc</a:t>
            </a:r>
            <a:r>
              <a:rPr sz="1600" b="0" i="0" dirty="0">
                <a:solidFill>
                  <a:srgbClr val="D8E2F2"/>
                </a:solidFill>
                <a:latin typeface="Times New Roman"/>
              </a:rPr>
              <a:t> </a:t>
            </a:r>
            <a:r>
              <a:rPr sz="1600" b="0" i="0" dirty="0" err="1">
                <a:solidFill>
                  <a:srgbClr val="D8E2F2"/>
                </a:solidFill>
                <a:latin typeface="Times New Roman"/>
              </a:rPr>
              <a:t>với</a:t>
            </a:r>
            <a:r>
              <a:rPr sz="1600" b="0" i="0" dirty="0">
                <a:solidFill>
                  <a:srgbClr val="D8E2F2"/>
                </a:solidFill>
                <a:latin typeface="Times New Roman"/>
              </a:rPr>
              <a:t> </a:t>
            </a:r>
            <a:r>
              <a:rPr sz="1600" b="0" i="0" dirty="0" err="1">
                <a:solidFill>
                  <a:srgbClr val="D8E2F2"/>
                </a:solidFill>
                <a:latin typeface="Times New Roman"/>
              </a:rPr>
              <a:t>dữ</a:t>
            </a:r>
            <a:r>
              <a:rPr sz="1600" b="0" i="0" dirty="0">
                <a:solidFill>
                  <a:srgbClr val="D8E2F2"/>
                </a:solidFill>
                <a:latin typeface="Times New Roman"/>
              </a:rPr>
              <a:t> </a:t>
            </a:r>
            <a:r>
              <a:rPr sz="1600" b="0" i="0" dirty="0" err="1">
                <a:solidFill>
                  <a:srgbClr val="D8E2F2"/>
                </a:solidFill>
                <a:latin typeface="Times New Roman"/>
              </a:rPr>
              <a:t>liệu</a:t>
            </a:r>
            <a:endParaRPr sz="1600" b="0" i="0" dirty="0">
              <a:solidFill>
                <a:srgbClr val="D8E2F2"/>
              </a:solidFill>
              <a:latin typeface="Times New Roman"/>
            </a:endParaRPr>
          </a:p>
        </p:txBody>
      </p:sp>
      <p:sp>
        <p:nvSpPr>
          <p:cNvPr id="16" name="TextBox 15"/>
          <p:cNvSpPr txBox="1"/>
          <p:nvPr/>
        </p:nvSpPr>
        <p:spPr>
          <a:xfrm>
            <a:off x="6766560" y="2011680"/>
            <a:ext cx="4114800" cy="480131"/>
          </a:xfrm>
          <a:prstGeom prst="rect">
            <a:avLst/>
          </a:prstGeom>
          <a:noFill/>
        </p:spPr>
        <p:txBody>
          <a:bodyPr wrap="square" lIns="54864" tIns="54864" rIns="54864" bIns="54864" anchor="t">
            <a:spAutoFit/>
          </a:bodyPr>
          <a:lstStyle/>
          <a:p>
            <a:pPr algn="l">
              <a:spcAft>
                <a:spcPts val="500"/>
              </a:spcAft>
            </a:pPr>
            <a:r>
              <a:rPr sz="2400" b="1" i="0" dirty="0" err="1">
                <a:solidFill>
                  <a:srgbClr val="F2B134"/>
                </a:solidFill>
                <a:latin typeface="Times New Roman"/>
              </a:rPr>
              <a:t>Tài</a:t>
            </a:r>
            <a:r>
              <a:rPr sz="2400" b="1" i="0" dirty="0">
                <a:solidFill>
                  <a:srgbClr val="F2B134"/>
                </a:solidFill>
                <a:latin typeface="Times New Roman"/>
              </a:rPr>
              <a:t> </a:t>
            </a:r>
            <a:r>
              <a:rPr sz="2400" b="1" i="0" dirty="0" err="1">
                <a:solidFill>
                  <a:srgbClr val="F2B134"/>
                </a:solidFill>
                <a:latin typeface="Times New Roman"/>
              </a:rPr>
              <a:t>liệu</a:t>
            </a:r>
            <a:r>
              <a:rPr sz="2400" b="1" i="0" dirty="0">
                <a:solidFill>
                  <a:srgbClr val="F2B134"/>
                </a:solidFill>
                <a:latin typeface="Times New Roman"/>
              </a:rPr>
              <a:t> </a:t>
            </a:r>
            <a:r>
              <a:rPr sz="2400" b="1" i="0" dirty="0" err="1">
                <a:solidFill>
                  <a:srgbClr val="F2B134"/>
                </a:solidFill>
                <a:latin typeface="Times New Roman"/>
              </a:rPr>
              <a:t>tham</a:t>
            </a:r>
            <a:r>
              <a:rPr sz="2400" b="1" i="0" dirty="0">
                <a:solidFill>
                  <a:srgbClr val="F2B134"/>
                </a:solidFill>
                <a:latin typeface="Times New Roman"/>
              </a:rPr>
              <a:t> </a:t>
            </a:r>
            <a:r>
              <a:rPr sz="2400" b="1" i="0" dirty="0" err="1">
                <a:solidFill>
                  <a:srgbClr val="F2B134"/>
                </a:solidFill>
                <a:latin typeface="Times New Roman"/>
              </a:rPr>
              <a:t>khảo</a:t>
            </a:r>
            <a:endParaRPr sz="2400" b="1" i="0" dirty="0">
              <a:solidFill>
                <a:srgbClr val="F2B134"/>
              </a:solidFill>
              <a:latin typeface="Times New Roman"/>
            </a:endParaRPr>
          </a:p>
        </p:txBody>
      </p:sp>
      <p:sp>
        <p:nvSpPr>
          <p:cNvPr id="17" name="TextBox 16"/>
          <p:cNvSpPr txBox="1"/>
          <p:nvPr/>
        </p:nvSpPr>
        <p:spPr>
          <a:xfrm>
            <a:off x="6766560" y="2514600"/>
            <a:ext cx="4754880" cy="1417320"/>
          </a:xfrm>
          <a:prstGeom prst="rect">
            <a:avLst/>
          </a:prstGeom>
          <a:noFill/>
        </p:spPr>
        <p:txBody>
          <a:bodyPr wrap="square" lIns="54864" tIns="54864" rIns="54864" bIns="54864" anchor="t">
            <a:spAutoFit/>
          </a:bodyPr>
          <a:lstStyle/>
          <a:p>
            <a:pPr algn="l">
              <a:spcAft>
                <a:spcPts val="500"/>
              </a:spcAft>
            </a:pPr>
            <a:r>
              <a:rPr sz="1300" b="0" i="0" dirty="0">
                <a:solidFill>
                  <a:srgbClr val="E1E9F7"/>
                </a:solidFill>
                <a:latin typeface="Times New Roman"/>
              </a:rPr>
              <a:t>• Microsoft Learn — .NET application architecture</a:t>
            </a:r>
          </a:p>
          <a:p>
            <a:pPr algn="l">
              <a:spcAft>
                <a:spcPts val="500"/>
              </a:spcAft>
            </a:pPr>
            <a:r>
              <a:rPr sz="1300" b="0" i="0" dirty="0">
                <a:solidFill>
                  <a:srgbClr val="E1E9F7"/>
                </a:solidFill>
                <a:latin typeface="Times New Roman"/>
              </a:rPr>
              <a:t>• Martin Fowler — Patterns of Enterprise Application Architecture</a:t>
            </a:r>
          </a:p>
          <a:p>
            <a:pPr algn="l">
              <a:spcAft>
                <a:spcPts val="500"/>
              </a:spcAft>
            </a:pPr>
            <a:r>
              <a:rPr sz="1300" b="0" i="0" dirty="0">
                <a:solidFill>
                  <a:srgbClr val="E1E9F7"/>
                </a:solidFill>
                <a:latin typeface="Times New Roman"/>
              </a:rPr>
              <a:t>• Robert C. Martin — Clean Architecture</a:t>
            </a:r>
          </a:p>
        </p:txBody>
      </p:sp>
      <p:sp>
        <p:nvSpPr>
          <p:cNvPr id="18" name="Rectangle 17"/>
          <p:cNvSpPr/>
          <p:nvPr/>
        </p:nvSpPr>
        <p:spPr>
          <a:xfrm>
            <a:off x="6766560" y="4251960"/>
            <a:ext cx="685800" cy="54864"/>
          </a:xfrm>
          <a:prstGeom prst="rect">
            <a:avLst/>
          </a:prstGeom>
          <a:solidFill>
            <a:srgbClr val="229691"/>
          </a:solidFill>
          <a:ln>
            <a:solidFill>
              <a:srgbClr val="2296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66560" y="4572000"/>
            <a:ext cx="4297680" cy="941796"/>
          </a:xfrm>
          <a:prstGeom prst="rect">
            <a:avLst/>
          </a:prstGeom>
          <a:noFill/>
        </p:spPr>
        <p:txBody>
          <a:bodyPr wrap="square" lIns="54864" tIns="54864" rIns="54864" bIns="54864" anchor="t">
            <a:spAutoFit/>
          </a:bodyPr>
          <a:lstStyle/>
          <a:p>
            <a:pPr algn="l">
              <a:spcAft>
                <a:spcPts val="500"/>
              </a:spcAft>
            </a:pPr>
            <a:r>
              <a:rPr lang="en-US" sz="2700" b="1" i="0" dirty="0">
                <a:solidFill>
                  <a:srgbClr val="FFFFFF"/>
                </a:solidFill>
                <a:latin typeface="Times New Roman"/>
              </a:rPr>
              <a:t>Xin </a:t>
            </a:r>
            <a:r>
              <a:rPr lang="en-US" sz="2700" b="1" i="0" dirty="0" err="1">
                <a:solidFill>
                  <a:srgbClr val="FFFFFF"/>
                </a:solidFill>
                <a:latin typeface="Times New Roman"/>
              </a:rPr>
              <a:t>Cảm</a:t>
            </a:r>
            <a:r>
              <a:rPr lang="en-US" sz="2700" b="1" i="0" dirty="0">
                <a:solidFill>
                  <a:srgbClr val="FFFFFF"/>
                </a:solidFill>
                <a:latin typeface="Times New Roman"/>
              </a:rPr>
              <a:t> </a:t>
            </a:r>
            <a:r>
              <a:rPr lang="en-US" sz="2700" b="1" i="0" dirty="0" err="1">
                <a:solidFill>
                  <a:srgbClr val="FFFFFF"/>
                </a:solidFill>
                <a:latin typeface="Times New Roman"/>
              </a:rPr>
              <a:t>Ơn</a:t>
            </a:r>
            <a:r>
              <a:rPr lang="en-US" sz="2700" b="1" i="0" dirty="0">
                <a:solidFill>
                  <a:srgbClr val="FFFFFF"/>
                </a:solidFill>
                <a:latin typeface="Times New Roman"/>
              </a:rPr>
              <a:t> </a:t>
            </a:r>
            <a:r>
              <a:rPr lang="en-US" sz="2700" b="1" i="0" dirty="0" err="1">
                <a:solidFill>
                  <a:srgbClr val="FFFFFF"/>
                </a:solidFill>
                <a:latin typeface="Times New Roman"/>
              </a:rPr>
              <a:t>Thầy</a:t>
            </a:r>
            <a:r>
              <a:rPr lang="en-US" sz="2700" b="1" i="0" dirty="0">
                <a:solidFill>
                  <a:srgbClr val="FFFFFF"/>
                </a:solidFill>
                <a:latin typeface="Times New Roman"/>
              </a:rPr>
              <a:t> Và </a:t>
            </a:r>
            <a:r>
              <a:rPr lang="en-US" sz="2700" b="1" i="0" dirty="0" err="1">
                <a:solidFill>
                  <a:srgbClr val="FFFFFF"/>
                </a:solidFill>
                <a:latin typeface="Times New Roman"/>
              </a:rPr>
              <a:t>Các</a:t>
            </a:r>
            <a:r>
              <a:rPr lang="en-US" sz="2700" b="1" i="0" dirty="0">
                <a:solidFill>
                  <a:srgbClr val="FFFFFF"/>
                </a:solidFill>
                <a:latin typeface="Times New Roman"/>
              </a:rPr>
              <a:t> </a:t>
            </a:r>
            <a:r>
              <a:rPr lang="en-US" sz="2700" b="1" i="0" dirty="0" err="1">
                <a:solidFill>
                  <a:srgbClr val="FFFFFF"/>
                </a:solidFill>
                <a:latin typeface="Times New Roman"/>
              </a:rPr>
              <a:t>Bạn</a:t>
            </a:r>
            <a:r>
              <a:rPr lang="en-US" sz="2700" b="1" i="0" dirty="0">
                <a:solidFill>
                  <a:srgbClr val="FFFFFF"/>
                </a:solidFill>
                <a:latin typeface="Times New Roman"/>
              </a:rPr>
              <a:t> </a:t>
            </a:r>
            <a:r>
              <a:rPr lang="en-US" sz="2700" b="1" i="0" dirty="0" err="1">
                <a:solidFill>
                  <a:srgbClr val="FFFFFF"/>
                </a:solidFill>
                <a:latin typeface="Times New Roman"/>
              </a:rPr>
              <a:t>Lắng</a:t>
            </a:r>
            <a:r>
              <a:rPr lang="en-US" sz="2700" b="1" i="0" dirty="0">
                <a:solidFill>
                  <a:srgbClr val="FFFFFF"/>
                </a:solidFill>
                <a:latin typeface="Times New Roman"/>
              </a:rPr>
              <a:t> Nghe</a:t>
            </a:r>
            <a:endParaRPr sz="2700" b="1" i="0" dirty="0">
              <a:solidFill>
                <a:srgbClr val="FFFFFF"/>
              </a:solidFill>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2388</Words>
  <Application>Microsoft Office PowerPoint</Application>
  <PresentationFormat>Widescreen</PresentationFormat>
  <Paragraphs>191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Hoai Anh</cp:lastModifiedBy>
  <cp:revision>2</cp:revision>
  <dcterms:created xsi:type="dcterms:W3CDTF">2013-01-27T09:14:16Z</dcterms:created>
  <dcterms:modified xsi:type="dcterms:W3CDTF">2026-10-29T08:45:05Z</dcterms:modified>
  <cp:category/>
</cp:coreProperties>
</file>